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Noto Sans CJK KR"/>
              </a:defRPr>
            </a:pPr>
            <a:r>
              <a:rPr sz="1100" b="0" i="0" u="none" strike="noStrike">
                <a:solidFill>
                  <a:srgbClr val="5B6B82"/>
                </a:solidFill>
                <a:latin typeface="Noto Sans CJK KR"/>
              </a:rPr>
              <a:t>전두엽극 6mm 지점 뇌경색 면적 (TTC 염색, 근사치)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뇌경색 면적 (%)</c:v>
                </c:pt>
              </c:strCache>
            </c:strRef>
          </c:tx>
          <c:spPr>
            <a:solidFill>
              <a:srgbClr val="8695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695A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A9A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Vehicle control</c:v>
                  </c:pt>
                  <c:pt idx="1">
                    <c:v>BF-7 투여군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3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33B"/>
                </a:solidFill>
                <a:latin typeface="Noto Sans CJK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695AC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8695AC"/>
                    </a:solidFill>
                    <a:latin typeface="Arial"/>
                  </a:rPr>
                  <a:t>면적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695AC"/>
                </a:solidFill>
                <a:latin typeface="Noto Sans CJK K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Noto Sans CJK KR"/>
              </a:defRPr>
            </a:pPr>
            <a:r>
              <a:rPr sz="1100" b="0" i="0" u="none" strike="noStrike">
                <a:solidFill>
                  <a:srgbClr val="5B6B82"/>
                </a:solidFill>
                <a:latin typeface="Noto Sans CJK KR"/>
              </a:rPr>
              <a:t>미로 오류 횟수 추이 (BF-7 투여 후 1~5일, Fig.4 기반 근사치)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Sham control</c:v>
                </c:pt>
              </c:strCache>
            </c:strRef>
          </c:tx>
          <c:spPr>
            <a:solidFill>
              <a:srgbClr val="8695AC"/>
            </a:solidFill>
            <a:ln w="31750" cap="flat">
              <a:solidFill>
                <a:srgbClr val="8695A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695AC"/>
              </a:solidFill>
              <a:ln w="9525" cap="flat">
                <a:solidFill>
                  <a:srgbClr val="8695A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1일</c:v>
                  </c:pt>
                  <c:pt idx="1">
                    <c:v>2일</c:v>
                  </c:pt>
                  <c:pt idx="2">
                    <c:v>3일</c:v>
                  </c:pt>
                  <c:pt idx="3">
                    <c:v>4일</c:v>
                  </c:pt>
                  <c:pt idx="4">
                    <c:v>5일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2.7</c:v>
                </c:pt>
                <c:pt idx="1">
                  <c:v>0.5</c:v>
                </c:pt>
                <c:pt idx="2">
                  <c:v>0.3</c:v>
                </c:pt>
                <c:pt idx="3">
                  <c:v>0.8</c:v>
                </c:pt>
                <c:pt idx="4">
                  <c:v>0.8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Vehicle control</c:v>
                </c:pt>
              </c:strCache>
            </c:strRef>
          </c:tx>
          <c:spPr>
            <a:solidFill>
              <a:srgbClr val="B7C4D6"/>
            </a:solidFill>
            <a:ln w="31750" cap="flat">
              <a:solidFill>
                <a:srgbClr val="B7C4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7C4D6"/>
              </a:solidFill>
              <a:ln w="9525" cap="flat">
                <a:solidFill>
                  <a:srgbClr val="B7C4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1일</c:v>
                  </c:pt>
                  <c:pt idx="1">
                    <c:v>2일</c:v>
                  </c:pt>
                  <c:pt idx="2">
                    <c:v>3일</c:v>
                  </c:pt>
                  <c:pt idx="3">
                    <c:v>4일</c:v>
                  </c:pt>
                  <c:pt idx="4">
                    <c:v>5일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8.8</c:v>
                </c:pt>
                <c:pt idx="1">
                  <c:v>7</c:v>
                </c:pt>
                <c:pt idx="2">
                  <c:v>5.1</c:v>
                </c:pt>
                <c:pt idx="3">
                  <c:v>4.3</c:v>
                </c:pt>
                <c:pt idx="4">
                  <c:v>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BF-7 투여군</c:v>
                </c:pt>
              </c:strCache>
            </c:strRef>
          </c:tx>
          <c:spPr>
            <a:solidFill>
              <a:srgbClr val="2AA9A5"/>
            </a:solidFill>
            <a:ln w="31750" cap="flat">
              <a:solidFill>
                <a:srgbClr val="2AA9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A9A5"/>
              </a:solidFill>
              <a:ln w="9525" cap="flat">
                <a:solidFill>
                  <a:srgbClr val="2AA9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1일</c:v>
                  </c:pt>
                  <c:pt idx="1">
                    <c:v>2일</c:v>
                  </c:pt>
                  <c:pt idx="2">
                    <c:v>3일</c:v>
                  </c:pt>
                  <c:pt idx="3">
                    <c:v>4일</c:v>
                  </c:pt>
                  <c:pt idx="4">
                    <c:v>5일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6.8</c:v>
                </c:pt>
                <c:pt idx="1">
                  <c:v>4.3</c:v>
                </c:pt>
                <c:pt idx="2">
                  <c:v>3</c:v>
                </c:pt>
                <c:pt idx="3">
                  <c:v>1.5</c:v>
                </c:pt>
                <c:pt idx="4">
                  <c:v>1.3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33B"/>
                </a:solidFill>
                <a:latin typeface="Noto Sans CJK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695AC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8695AC"/>
                    </a:solidFill>
                    <a:latin typeface="Arial"/>
                  </a:rPr>
                  <a:t>오류 횟수 (회)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695AC"/>
                </a:solidFill>
                <a:latin typeface="Noto Sans CJK K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6233B"/>
              </a:solidFill>
              <a:latin typeface="Noto Sans CJK KR"/>
              <a:cs typeface="Noto Sans CJK K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Noto Sans CJK KR"/>
              </a:defRPr>
            </a:pPr>
            <a:r>
              <a:rPr sz="1200" b="0" i="0" u="none" strike="noStrike">
                <a:solidFill>
                  <a:srgbClr val="5B6B82"/>
                </a:solidFill>
                <a:latin typeface="Noto Sans CJK KR"/>
              </a:rPr>
              <a:t>RCFT 점수 변화 (섭취 전 → 후,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섭취 전</c:v>
                </c:pt>
              </c:strCache>
            </c:strRef>
          </c:tx>
          <c:spPr>
            <a:solidFill>
              <a:srgbClr val="8695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623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위약군</c:v>
                  </c:pt>
                  <c:pt idx="1">
                    <c:v>200mg군</c:v>
                  </c:pt>
                  <c:pt idx="2">
                    <c:v>400mg군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36.8</c:v>
                </c:pt>
                <c:pt idx="2">
                  <c:v>24.7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섭취 후</c:v>
                </c:pt>
              </c:strCache>
            </c:strRef>
          </c:tx>
          <c:spPr>
            <a:solidFill>
              <a:srgbClr val="2AA9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623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위약군</c:v>
                  </c:pt>
                  <c:pt idx="1">
                    <c:v>200mg군</c:v>
                  </c:pt>
                  <c:pt idx="2">
                    <c:v>400mg군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56.5</c:v>
                </c:pt>
                <c:pt idx="2">
                  <c:v>65.2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623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33B"/>
                </a:solidFill>
                <a:latin typeface="Noto Sans CJK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695AC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8695AC"/>
                    </a:solidFill>
                    <a:latin typeface="Arial"/>
                  </a:rPr>
                  <a:t>RCFT 점수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695AC"/>
                </a:solidFill>
                <a:latin typeface="Noto Sans CJK K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33B"/>
              </a:solidFill>
              <a:latin typeface="Noto Sans CJK KR"/>
              <a:cs typeface="Noto Sans CJK K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914400" cy="-45720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663440"/>
            <a:ext cx="548640" cy="82296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0" y="5486400"/>
            <a:ext cx="-822960" cy="45720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0" y="5943600"/>
            <a:ext cx="-914400" cy="9144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6035040"/>
            <a:ext cx="1554480" cy="-192024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0" y="4114800"/>
            <a:ext cx="-2194560" cy="146304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5577840"/>
            <a:ext cx="914400" cy="-45720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12096" y="5065776"/>
            <a:ext cx="109728" cy="109728"/>
          </a:xfrm>
          <a:prstGeom prst="ellipse">
            <a:avLst/>
          </a:prstGeom>
          <a:solidFill>
            <a:srgbClr val="3FC1C9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826496" y="4608576"/>
            <a:ext cx="109728" cy="109728"/>
          </a:xfrm>
          <a:prstGeom prst="ellipse">
            <a:avLst/>
          </a:prstGeom>
          <a:solidFill>
            <a:srgbClr val="3FC1C9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375136" y="5431536"/>
            <a:ext cx="109728" cy="109728"/>
          </a:xfrm>
          <a:prstGeom prst="ellipse">
            <a:avLst/>
          </a:prstGeom>
          <a:solidFill>
            <a:srgbClr val="3FC1C9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552176" y="5888736"/>
            <a:ext cx="109728" cy="109728"/>
          </a:xfrm>
          <a:prstGeom prst="ellipse">
            <a:avLst/>
          </a:prstGeom>
          <a:solidFill>
            <a:srgbClr val="3FC1C9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37776" y="5980176"/>
            <a:ext cx="109728" cy="109728"/>
          </a:xfrm>
          <a:prstGeom prst="ellipse">
            <a:avLst/>
          </a:prstGeom>
          <a:solidFill>
            <a:srgbClr val="3FC1C9">
              <a:alpha val="8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92256" y="4059936"/>
            <a:ext cx="109728" cy="109728"/>
          </a:xfrm>
          <a:prstGeom prst="ellipse">
            <a:avLst/>
          </a:prstGeom>
          <a:solidFill>
            <a:srgbClr val="3FC1C9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997696" y="5522976"/>
            <a:ext cx="109728" cy="109728"/>
          </a:xfrm>
          <a:prstGeom prst="ellipse">
            <a:avLst/>
          </a:prstGeom>
          <a:solidFill>
            <a:srgbClr val="3FC1C9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640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3FC1C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대한해부학회지 · The Korean Journal of Anatomy  |  제38권 제2호, 2005 (pp.181–188)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01168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BF-7의 뇌보호작용 및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학습과 기억력 개선 효과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일시적 국소뇌허혈(MCAO) 동물모델 및 인체 임상시험을 통한 검증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8368" y="443484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617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이준영 · 이상형¹ · 성정준² · 김의태² · 조혜진³ · 김경환³ · 강용구³ · 김성수³ · 권오상⁴ · 이원복³,*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B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서울대학교 의과대학 정신과학교실 · ¹신경외과학교실 · ²신경과학교실   |   중앙대학교 의과대학 ³해부학교실 · ⁴신경과학교실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989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요약 슬라이드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연구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허혈과 같이 뇌에 비정상적인 혈액 공급이 발생하면 신경세포 손상이 일어나며, 이는 다양한 신경보호물질에 의해 저해될 수 있다.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 연구는 누에(가잠, Bombyx mori) 추출물인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C72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BF-7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 뇌보호 효과를 동물실험과 인체 임상시험 두 축으로 확인하였다.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동물실험에서는 중간대뇌동맥(MCA) 일시적 결찰로 뇌허혈을 유도한 흰쥐에 BF-7을 경구 투여하여 경색 크기·해마 신경세포 손상·공간기억력을 평가하였고, 임상시험에서는 Rey Complex Figure Test(RCFT)로 기억·인지기능 개선 여부를 검증하였다.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40880" y="1600200"/>
            <a:ext cx="44805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69480" y="17099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7일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269480" y="22219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BF-7 경구 투여 기간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(10 mg/kg, 1일 1회)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040880" y="3017520"/>
            <a:ext cx="44805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69480" y="31272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99명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69480" y="36393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임상시험 최종 참여자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(전체 참여율 83%)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040880" y="4434840"/>
            <a:ext cx="44805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69480" y="45445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36.8→65.2%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69480" y="50566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RCFT 기억력 점수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(위약 대비 용량 의존적 향상)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BF-7의 뇌보호작용 및 학습과 기억력 개선 효과 · 대한해부학회지 38(2), 2005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연구 배경 — 뇌허혈, 여전히 해결되지 않은 과제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6420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 세계적으로 연간 약 4,500만 명이 뇌졸중으로 발병하고 있음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258568"/>
            <a:ext cx="10607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560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53288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서구화된 생활습관·식생활과 인구 고령화로 국내 뇌경색 등 뇌혈관질환 증가 추세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3127248"/>
            <a:ext cx="10607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3429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40156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허혈 손상은 재관류 이후에도 지속되어 회복 지연 및 후유증의 원인이 됨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3995928"/>
            <a:ext cx="10607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4297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27024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뇌혈류 저하는 다발뇌경색성 치매·혈관성 치매·알츠하이머병 등 인지기능 장애로 이어질 위험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0607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5166360"/>
            <a:ext cx="457200" cy="457200"/>
          </a:xfrm>
          <a:prstGeom prst="ellipse">
            <a:avLst/>
          </a:prstGeom>
          <a:solidFill>
            <a:srgbClr val="3FC1C9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513892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치료제(항혈전제, 자유라디칼 소거제, Ca²⁺ 채널 길항제 등)는 효과가 일시적이며 부작용·독성 우려로 사용에 한계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BF-7의 뇌보호작용 및 학습과 기억력 개선 효과 · 대한해부학회지 38(2), 2005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연구 목적 및 BF-7 소개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FC1C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BF-7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누에(가잠, Bombyx mori) 고치에서 추출·정제한 견 피브로인 효소 가수분해물. 최근 연구에서 학습·기억 증진 등 뇌보호 기능이 보고됨(Chae et al., 2004)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2578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3832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83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1</a:t>
            </a:r>
            <a:endParaRPr lang="en-US" sz="1612" dirty="0"/>
          </a:p>
        </p:txBody>
      </p:sp>
      <p:sp>
        <p:nvSpPr>
          <p:cNvPr id="9" name="Text 7"/>
          <p:cNvSpPr/>
          <p:nvPr/>
        </p:nvSpPr>
        <p:spPr>
          <a:xfrm>
            <a:off x="1691640" y="33832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동물실험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41605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일시적 국소뇌허혈(MCAO) 동물모델에서 BF-7이 신경세포·조직 손상을 방어하고 학습·기억 능력 감퇴를 억제하는지 검증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80760" y="3063240"/>
            <a:ext cx="52578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33832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3383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2</a:t>
            </a:r>
            <a:endParaRPr lang="en-US" sz="1612" dirty="0"/>
          </a:p>
        </p:txBody>
      </p:sp>
      <p:sp>
        <p:nvSpPr>
          <p:cNvPr id="14" name="Text 12"/>
          <p:cNvSpPr/>
          <p:nvPr/>
        </p:nvSpPr>
        <p:spPr>
          <a:xfrm>
            <a:off x="7223760" y="33832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임상시험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46520" y="41605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건강한 성인을 대상으로 Rey Complex Figure Test(RCFT)를 이용해 BF-7이 실제 인지기능(기억력·구성능력)을 개선하는지 검증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BF-7의 뇌보호작용 및 학습과 기억력 개선 효과 · 대한해부학회지 38(2), 2005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METHODS · ANIMAL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연구방법 — 동물실험 설계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실험동물 : </a:t>
            </a:r>
            <a:pPr indent="0" marL="0">
              <a:buNone/>
            </a:pPr>
            <a:r>
              <a:rPr lang="en-US" sz="14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SD계(Sprague-Dawley) 수컷 흰쥐, 200~250 g, 8주령 · 군당 10마리 × 4군 = 총 40마리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투여 조건 : </a:t>
            </a:r>
            <a:pPr indent="0" marL="0">
              <a:buNone/>
            </a:pPr>
            <a:r>
              <a:rPr lang="en-US" sz="14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BF-7 10 mg/kg 경구 투여, 1일 1회, 7일간 연속 투여 (재관류 직후 시작)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A9A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326440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마취 및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경부 절개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377647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온목동맥·속목동맥·바깥목동맥 노출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14600" y="2880360"/>
            <a:ext cx="1554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70048" y="288036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79776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A9A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79776" y="326440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MCA 결찰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(허혈 유도)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779776" y="377647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Nylon suture 16~18mm 삽입, 1시간 폐쇄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2880360"/>
            <a:ext cx="1554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91456" y="288036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01184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A9A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01184" y="326440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재관류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01184" y="377647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봉합사 제거 후 혈류 재개통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57416" y="2880360"/>
            <a:ext cx="1554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12864" y="288036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1C729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22592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22592" y="326440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BF-7 투여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022592" y="377647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3F6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 mg/kg, 1일 1회 × 7일간 경구 투여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878824" y="2880360"/>
            <a:ext cx="1554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034272" y="288036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A9A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0" y="326440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행동·조직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평가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144000" y="377647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8방미로시험 및 조직병리검사(2주 후)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7091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484632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Sham control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77240" y="523036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혈관 결찰 없이 동일 수술 절차만 시행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75760" y="4846320"/>
            <a:ext cx="0" cy="11430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04360" y="484632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Vehicle control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404360" y="523036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MCAO 유도 후 용매(PBS)만 투여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802880" y="4846320"/>
            <a:ext cx="0" cy="11430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31480" y="484632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BF-7 투여군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031480" y="523036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MCAO 유도 후 BF-7 10 mg/kg 경구 투여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BF-7의 뇌보호작용 및 학습과 기억력 개선 효과 · 대한해부학회지 38(2), 2005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METHODS · 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연구방법 — 평가지표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02152" cy="42062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777240" cy="777240"/>
          </a:xfrm>
          <a:prstGeom prst="roundRect">
            <a:avLst>
              <a:gd name="adj" fmla="val 58824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C1C9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41248" y="2926080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조직병리검사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41248" y="34747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Histopathology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3886200"/>
            <a:ext cx="29169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TTC 염색으로 뇌경색(infarct) 면적 측정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H&amp;E 염색으로 해마 신경세포(pyramidal neuron) 손상 확인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손상 신경세포(red/eosinophilic neuron) 수 정량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06824" y="1645920"/>
            <a:ext cx="3502152" cy="42062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6864" y="1965960"/>
            <a:ext cx="777240" cy="777240"/>
          </a:xfrm>
          <a:prstGeom prst="roundRect">
            <a:avLst>
              <a:gd name="adj" fmla="val 58824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4626864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C1C9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99432" y="2926080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방사형 8방미로시험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99432" y="34747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8-arm Radial Maze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99432" y="3886200"/>
            <a:ext cx="29169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8개 arm 구조에서 공간 학습·기억능력 평가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재방문(오류) 횟수 및 latency time 측정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투여 후 1~5일간 대조군과 비교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65008" y="1645920"/>
            <a:ext cx="3502152" cy="42062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85048" y="1965960"/>
            <a:ext cx="777240" cy="777240"/>
          </a:xfrm>
          <a:prstGeom prst="roundRect">
            <a:avLst>
              <a:gd name="adj" fmla="val 58824"/>
            </a:avLst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8385048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C1C9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357616" y="2926080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Rey Complex Figure Test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357616" y="34747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RCFT (임상)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57616" y="3886200"/>
            <a:ext cx="29169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국내·국제적으로 공인된 신경심리 검사법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단기·장기 기억력, 구성능력 평가 (총 36점)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섭취 전·후 점수 변화를 그룹 간 비교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BF-7의 뇌보호작용 및 학습과 기억력 개선 효과 · 대한해부학회지 38(2), 2005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METHODS · CLINICAL TRIAL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연구방법 — 임상시험 설계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대상 :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19~65세 건강한 한국인 성인 남녀, 다양한 직업·학력·거주지에서 무작위 모집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: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무작위 배정, 위약대조, 이중맹검 시험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평가 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RCFT로 섭취 전·후 점수 비교 (paired t-test), 그룹 간 비교 (one-way ANOVA, Tukey)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350215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36499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배정 (Randomized)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119명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위약 39 · 200mg 40 · 400mg 40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06824" y="3200400"/>
            <a:ext cx="3502152" cy="1920240"/>
          </a:xfrm>
          <a:prstGeom prst="roundRect">
            <a:avLst>
              <a:gd name="adj" fmla="val 3810"/>
            </a:avLst>
          </a:prstGeom>
          <a:solidFill>
            <a:srgbClr val="1C729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81144" y="336499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F5F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시험 완료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81144" y="370332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99명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81144" y="4434840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F6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위약 32 · 200mg 33 · 400mg 34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65008" y="3200400"/>
            <a:ext cx="350215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39328" y="336499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참여율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39328" y="370332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83%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339328" y="4434840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그룹별 82~85% 참여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제외 기준 : 치료 중인 질환 보유, 최근 4주 이내 인지기능에 영향을 줄 수 있는 약물·건강기능식품 복용, 의사소통·시력·필기 장애 등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BF-7의 뇌보호작용 및 학습과 기억력 개선 효과 · 대한해부학회지 38(2), 2005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RESULTS · HISTOPATHOLOGY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결과 ① — 조직병리학적 뇌보호 효과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* p &lt; 0.05  BF-7군 vs. Vehicle control군 (통계적으로 유의한 감소)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943600" y="1691640"/>
            <a:ext cx="566928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44768" y="17647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TTC 염색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144768" y="205740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BF-7 투여군에서 전체적으로 경색부위 감소 경향, 손상이 가장 큰 6mm 지점에서 유의한 감소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43600" y="2788920"/>
            <a:ext cx="566928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44768" y="28620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H&amp;E 염색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144768" y="31546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해마(hippocampus) 부위 손상 신경세포(red/eosinophilic neuron) 수가 BF-7군에서 현저히 감소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43600" y="3886200"/>
            <a:ext cx="566928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44768" y="39593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세포형태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144768" y="425196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허혈 손상 시 나타나는 pyknosis(핵농축) 세포가 BF-7 투여군에서는 거의 관찰되지 않음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43600" y="5029200"/>
            <a:ext cx="5669280" cy="685800"/>
          </a:xfrm>
          <a:prstGeom prst="roundRect">
            <a:avLst>
              <a:gd name="adj" fmla="val 9333"/>
            </a:avLst>
          </a:prstGeom>
          <a:solidFill>
            <a:srgbClr val="0B2545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200" y="50292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 : BF-7 경구 투여가 허혈에 의한 신경세포·조직 손상을 효과적으로 방어함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BF-7의 뇌보호작용 및 학습과 기억력 개선 효과 · 대한해부학회지 38(2), 2005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RESULTS · 8-ARM RADIAL MAZE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결과 ② — 공간 학습·기억능력 회복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3093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691640"/>
            <a:ext cx="45262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296912" y="1783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뇌허혈 유발 직후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296912" y="209397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그룹 모두 오류횟수 급증 → 공간기억력 손상 확인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086600" y="2926080"/>
            <a:ext cx="45262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96912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Vehicle control군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96912" y="332841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5일간 오류횟수가 뚜렷이 회복되지 않음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086600" y="4160520"/>
            <a:ext cx="45262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296912" y="4251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BF-7 투여군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296912" y="456285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3일째부터 유의하게 감소, 5일째 Sham 수준까지 회복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BF-7의 뇌보호작용 및 학습과 기억력 개선 효과 · 대한해부학회지 38(2), 2005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RESULTS · CLINICAL RCFT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결과 ③ — 임상시험 인지기능 개선 (RCFT)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6751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7373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3"/>
          <p:cNvSpPr/>
          <p:nvPr/>
        </p:nvSpPr>
        <p:spPr>
          <a:xfrm>
            <a:off x="7543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1</a:t>
            </a:r>
            <a:endParaRPr lang="en-US" sz="1092" dirty="0"/>
          </a:p>
        </p:txBody>
      </p:sp>
      <p:sp>
        <p:nvSpPr>
          <p:cNvPr id="7" name="Text 4"/>
          <p:cNvSpPr/>
          <p:nvPr/>
        </p:nvSpPr>
        <p:spPr>
          <a:xfrm>
            <a:off x="8092440" y="171907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위약군 : 섭취 전·후 유의한 차이 없음 (P&gt;0.05)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43800" y="2606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754380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2</a:t>
            </a:r>
            <a:endParaRPr lang="en-US" sz="1092" dirty="0"/>
          </a:p>
        </p:txBody>
      </p:sp>
      <p:sp>
        <p:nvSpPr>
          <p:cNvPr id="10" name="Text 7"/>
          <p:cNvSpPr/>
          <p:nvPr/>
        </p:nvSpPr>
        <p:spPr>
          <a:xfrm>
            <a:off x="8092440" y="258775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 mg군 : 36.8% → 56.5%로 유의하게 증가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43800" y="34747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75438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3</a:t>
            </a:r>
            <a:endParaRPr lang="en-US" sz="1092" dirty="0"/>
          </a:p>
        </p:txBody>
      </p:sp>
      <p:sp>
        <p:nvSpPr>
          <p:cNvPr id="13" name="Text 10"/>
          <p:cNvSpPr/>
          <p:nvPr/>
        </p:nvSpPr>
        <p:spPr>
          <a:xfrm>
            <a:off x="8092440" y="345643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400 mg군 : 24.7% → 65.2%로 유의하게 증가 (효과 최대)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543800" y="4343400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2"/>
          <p:cNvSpPr/>
          <p:nvPr/>
        </p:nvSpPr>
        <p:spPr>
          <a:xfrm>
            <a:off x="754380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4</a:t>
            </a:r>
            <a:endParaRPr lang="en-US" sz="1092" dirty="0"/>
          </a:p>
        </p:txBody>
      </p:sp>
      <p:sp>
        <p:nvSpPr>
          <p:cNvPr id="16" name="Text 13"/>
          <p:cNvSpPr/>
          <p:nvPr/>
        </p:nvSpPr>
        <p:spPr>
          <a:xfrm>
            <a:off x="8092440" y="432511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용량이 높을수록 향상폭이 커지는 용량 의존적 경향 확인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BF-7의 뇌보호작용 및 학습과 기억력 개선 효과 · 대한해부학회지 38(2), 2005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고찰 및 시사점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동물–임상 결과의 일관성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동물모델에서 확인된 경색크기 감소·해마 신경세포 보호·공간기억력 회복 효과가 임상시험의 기억력 향상 결과와 방향이 일치함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9476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삼중 보호 효과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조직 손상 방어, 신경세포 보호, 인지기능 회복이라는 세 층위에서 동시에 효과가 확인된 것이 본 연구의 특징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297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2793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낮은 부작용 우려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68680" y="493776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천연물(가잠) 유래 소재로, 기존 항혈전제·자유라디칼 소거제 대비 부작용·독성 이슈에서 자유로울 가능성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297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42793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향후 과제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92240" y="493776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정확한 작용기전 규명 및 대규모·장기 임상시험을 통한 치료제 개발 가능성 확인이 필요함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BF-7의 뇌보호작용 및 학습과 기억력 개선 효과 · 대한해부학회지 38(2), 2005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502920"/>
            <a:ext cx="731520" cy="-4572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0" y="457200"/>
            <a:ext cx="457200" cy="59436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12880" y="1051560"/>
            <a:ext cx="-731520" cy="45720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1508760"/>
            <a:ext cx="-685800" cy="-27432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95560" y="1234440"/>
            <a:ext cx="228600" cy="-73152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69296" y="448056"/>
            <a:ext cx="109728" cy="109728"/>
          </a:xfrm>
          <a:prstGeom prst="ellipse">
            <a:avLst/>
          </a:prstGeom>
          <a:solidFill>
            <a:srgbClr val="3FC1C9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100816" y="402336"/>
            <a:ext cx="109728" cy="109728"/>
          </a:xfrm>
          <a:prstGeom prst="ellipse">
            <a:avLst/>
          </a:prstGeom>
          <a:solidFill>
            <a:srgbClr val="3FC1C9">
              <a:alpha val="8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996696"/>
            <a:ext cx="109728" cy="109728"/>
          </a:xfrm>
          <a:prstGeom prst="ellipse">
            <a:avLst/>
          </a:prstGeom>
          <a:solidFill>
            <a:srgbClr val="3FC1C9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826496" y="1453896"/>
            <a:ext cx="109728" cy="109728"/>
          </a:xfrm>
          <a:prstGeom prst="ellipse">
            <a:avLst/>
          </a:prstGeom>
          <a:solidFill>
            <a:srgbClr val="3FC1C9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140696" y="1179576"/>
            <a:ext cx="109728" cy="109728"/>
          </a:xfrm>
          <a:prstGeom prst="ellipse">
            <a:avLst/>
          </a:prstGeom>
          <a:solidFill>
            <a:srgbClr val="3FC1C9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C1C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11887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결론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080" y="21945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BF-7은 뇌허혈에 의한 신경세포 손상·괴사를 방어하고,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기억력·집중력 등 인지기능 개선에 유효한 천연소재임을 확인하였다.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58368" y="342900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5760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향후 정확한 작용기전 연구를 통해, 신규 뇌허혈성 인지기능 손상 치료제로 개발할 가치가 충분한 것으로 사료된다.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05840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29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3FC1C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 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이준영, 이상형, 성정준, 김의태, 조혜진, 김경환, 강용구, 김성수, 권오상, 이원복. "BF-7의 뇌보호작용 및 학습과 기억력 개선 효과." 대한해부학회지 38(2): 181-188, 2005.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B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BF-7의 뇌보호작용 및 학습과 기억력 개선 효과 · 대한해부학회지 38(2), 2005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2026-08-15T07:52:04Z</dcterms:created>
  <dcterms:modified xsi:type="dcterms:W3CDTF">2026-08-15T07:52:04Z</dcterms:modified>
</cp:coreProperties>
</file>