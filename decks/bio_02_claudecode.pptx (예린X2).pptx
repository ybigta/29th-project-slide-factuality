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ln w="19050">
            <a:solidFill>
              <a:srgbClr val="21C7B7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640080"/>
            <a:ext cx="2377440" cy="2377440"/>
          </a:xfrm>
          <a:prstGeom prst="ellipse">
            <a:avLst/>
          </a:prstGeom>
          <a:ln w="19050">
            <a:solidFill>
              <a:srgbClr val="21C7B7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0" y="-228600"/>
            <a:ext cx="1554480" cy="1554480"/>
          </a:xfrm>
          <a:prstGeom prst="ellipse">
            <a:avLst/>
          </a:prstGeom>
          <a:ln w="19050">
            <a:solidFill>
              <a:srgbClr val="21C7B7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182880"/>
            <a:ext cx="731520" cy="731520"/>
          </a:xfrm>
          <a:prstGeom prst="ellipse">
            <a:avLst/>
          </a:prstGeom>
          <a:solidFill>
            <a:srgbClr val="21C7B7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594360"/>
            <a:ext cx="868680" cy="868680"/>
          </a:xfrm>
          <a:prstGeom prst="ellipse">
            <a:avLst/>
          </a:prstGeom>
          <a:solidFill>
            <a:srgbClr val="163A50"/>
          </a:solidFill>
          <a:ln/>
        </p:spPr>
      </p:sp>
      <p:pic>
        <p:nvPicPr>
          <p:cNvPr id="7" name="Image 0" descr="/home/claude/work/icons/lu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253" y="789813"/>
            <a:ext cx="477774" cy="4777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24028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흉부 X선에서 폐 결절,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정확히 찾아내려면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58368" y="37947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차분 영상 × 3가지 검출 필터가 주는 인사이트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58368" y="5806440"/>
            <a:ext cx="8503920" cy="0"/>
          </a:xfrm>
          <a:prstGeom prst="line">
            <a:avLst/>
          </a:prstGeom>
          <a:noFill/>
          <a:ln w="12700">
            <a:solidFill>
              <a:srgbClr val="2C4A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59436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논문: 김응규 · 이도겸, 「흉부 X선 영상에서 폐 종류 음영 검출필터」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2007 한국컴퓨터종합학술대회 논문집 Vol.34, No.1(C)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465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4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컨소시엄 발표 · 비전공자를 위한 5분 요약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연구인가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폐암은 조기 발견이 생존을 가릅니다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960120" cy="9601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5" name="Image 0" descr="/home/claude/work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4629" y="733349"/>
            <a:ext cx="499262" cy="4992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512064" cy="512064"/>
          </a:xfrm>
          <a:prstGeom prst="ellipse">
            <a:avLst/>
          </a:prstGeom>
          <a:solidFill>
            <a:srgbClr val="163A50"/>
          </a:solidFill>
          <a:ln/>
        </p:spPr>
      </p:sp>
      <p:pic>
        <p:nvPicPr>
          <p:cNvPr id="7" name="Image 1" descr="/home/claude/work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9397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9385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저렴하고 빠른 1차 검진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29514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흉부 X선 촬영은 건강검진 현장에서 가장 널리 쓰이는 폐 검사 수단입니다.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337560"/>
            <a:ext cx="512064" cy="512064"/>
          </a:xfrm>
          <a:prstGeom prst="ellipse">
            <a:avLst/>
          </a:prstGeom>
          <a:solidFill>
            <a:srgbClr val="163A50"/>
          </a:solidFill>
          <a:ln/>
        </p:spPr>
      </p:sp>
      <p:pic>
        <p:nvPicPr>
          <p:cNvPr id="11" name="Image 2" descr="/home/claude/work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46557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3101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그런데, 결절이 잘 숨습니다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371600" y="366674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폐결절(종양 의심 병변)이 갈비뼈·혈관 그림자에 겹쳐 육안으로 놓치기 쉽습니다.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4709160"/>
            <a:ext cx="512064" cy="512064"/>
          </a:xfrm>
          <a:prstGeom prst="ellipse">
            <a:avLst/>
          </a:prstGeom>
          <a:solidFill>
            <a:srgbClr val="21C7B7"/>
          </a:solidFill>
          <a:ln/>
        </p:spPr>
      </p:sp>
      <p:pic>
        <p:nvPicPr>
          <p:cNvPr id="15" name="Image 3" descr="/home/claude/work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83717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6817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필요한 것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371600" y="503834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눈을 보조해 결절을 자동으로 찾아주는 컴퓨터 검출 기술이 요구됩니다.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818120" y="182880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19" name="Image 4" descr="/home/claude/work/imgs/p2_0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27848" y="1938528"/>
            <a:ext cx="3483864" cy="35570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27848" y="5550408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흉부 X선 영상 (화살표 = 결절 위치, 원 논문 그림2)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난제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컴퓨터도 헷갈립니다: 가짜 결절 문제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960120" cy="9601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5" name="Image 0" descr="/home/claude/work/icons/triangle-ex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4629" y="7333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폐결절은 영상에서 '둥근 하얀 그림자'로 보입니다. 문제는 갈비뼈와 혈관이 교차하는 지점도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둥글게 보인다는 점입니다. 그 결과 컴퓨터가 진짜와 가짜를 잘 구분하지 못합니다.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5074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674620" y="3200400"/>
            <a:ext cx="1005840" cy="1005840"/>
          </a:xfrm>
          <a:prstGeom prst="ellipse">
            <a:avLst/>
          </a:prstGeom>
          <a:solidFill>
            <a:srgbClr val="21C7B7"/>
          </a:solidFill>
          <a:ln/>
        </p:spPr>
      </p:sp>
      <p:pic>
        <p:nvPicPr>
          <p:cNvPr id="9" name="Image 1" descr="/home/claude/work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4518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43891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결절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005840" y="484632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방향에서 고르게 둥근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독립적인 하얀 음영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2834640"/>
            <a:ext cx="5074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35340" y="3200400"/>
            <a:ext cx="1005840" cy="100584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14" name="Image 2" descr="/home/claude/work/icons/circle-x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4518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43891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 결절 (오탐)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766560" y="484632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갈비뼈·혈관이 교차하며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우연히 둥글게 겹쳐 보이는 부분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오탐(False Positive)이 많을수록 실제 진단 보조 도구로 쓰기 어려워집니다.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아이디어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 그림자를 아예 지워버리자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960120" cy="9601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5" name="Image 0" descr="/home/claude/work/icons/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4629" y="7333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373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세기(에너지)가 다른 X선 두 장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촬영합니다.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뼈와 연부조직(폐)은 X선을 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비율로 흡수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성질이 있어, 이 차이를 계산으로 빼면 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갈비뼈만 사라진 영상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만들어집니다.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10881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pic>
        <p:nvPicPr>
          <p:cNvPr id="8" name="Image 1" descr="/home/claude/work/imgs/p2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71600" y="2880360"/>
            <a:ext cx="7863840" cy="1508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81160" y="3063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저에너지·고에너지 X선의 흡수량 차이 → 계산으로 뼈 성분만 상쇄 (원 논문 그림1)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0080" y="480060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11" name="Image 2" descr="/home/claude/work/imgs/p2_0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" y="4910328"/>
            <a:ext cx="2615184" cy="11795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61447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X선 영상 (뼈 포함)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703320" y="5372100"/>
            <a:ext cx="640080" cy="640080"/>
          </a:xfrm>
          <a:prstGeom prst="ellipse">
            <a:avLst/>
          </a:prstGeom>
          <a:solidFill>
            <a:srgbClr val="21C7B7"/>
          </a:solidFill>
          <a:ln/>
        </p:spPr>
      </p:sp>
      <p:pic>
        <p:nvPicPr>
          <p:cNvPr id="14" name="Image 3" descr="/home/claude/work/icons/arrow-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338" y="5516118"/>
            <a:ext cx="352044" cy="3520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572000" y="480060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8575">
            <a:solidFill>
              <a:srgbClr val="21C7B7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16" name="Image 4" descr="/home/claude/work/imgs/p2_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81728" y="4910328"/>
            <a:ext cx="2615184" cy="11795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81728" y="61447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차분 영상 (뼈 제거 후)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6537960" y="465429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1C7B7"/>
          </a:solidFill>
          <a:ln/>
        </p:spPr>
      </p:sp>
      <p:sp>
        <p:nvSpPr>
          <p:cNvPr id="19" name="Text 12"/>
          <p:cNvSpPr/>
          <p:nvPr/>
        </p:nvSpPr>
        <p:spPr>
          <a:xfrm>
            <a:off x="6537960" y="465429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개선된 영상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7680960" y="5440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결절이 더 선명해지고, 갈비뼈로 인한 혼동 요소가 줄어듭니다.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아이디어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'탐지 렌즈'가 결절을 가장 잘 찾을까?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960120" cy="9601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5" name="Image 0" descr="/home/claude/work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4629" y="733349"/>
            <a:ext cx="499262" cy="4992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7" name="Image 1" descr="/home/claude/work/icons/bullseye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53312" y="1764792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기본 필터 </a:t>
            </a:r>
            <a:pPr indent="0" marL="0">
              <a:buNone/>
            </a:pPr>
            <a:r>
              <a:rPr lang="en-US" sz="11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(∇²G)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0080" y="240487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형태에 민감하지만,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혈관·교차점도 함께 걸려 오탐이 많음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" y="3154680"/>
            <a:ext cx="3429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11" name="Image 2" descr="/home/claude/work/imgs/p5_0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" y="3264408"/>
            <a:ext cx="3209544" cy="23682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5687568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오탐(작은 점) 다수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361688" y="1783080"/>
            <a:ext cx="566928" cy="566928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14" name="Image 3" descr="/home/claude/work/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247" y="1910639"/>
            <a:ext cx="311810" cy="3118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1764792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방향억제 필터 </a:t>
            </a:r>
            <a:pPr indent="0" marL="0">
              <a:buNone/>
            </a:pPr>
            <a:r>
              <a:rPr lang="en-US" sz="11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(Min-DD)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361688" y="240487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갈비뼈·혈관 같은 선(線) 구조를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 오탐을 줄임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361688" y="3154680"/>
            <a:ext cx="3429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18" name="Image 4" descr="/home/claude/work/imgs/p5_2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71416" y="3264408"/>
            <a:ext cx="3209544" cy="23682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71416" y="5687568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구조 억제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8083296" y="1783080"/>
            <a:ext cx="566928" cy="566928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21" name="Image 5" descr="/home/claude/work/icons/stai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0855" y="1910639"/>
            <a:ext cx="311810" cy="31181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796528" y="1764792"/>
            <a:ext cx="271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다중크기 필터 </a:t>
            </a:r>
            <a:pPr indent="0" marL="0">
              <a:buNone/>
            </a:pPr>
            <a:r>
              <a:rPr lang="en-US" sz="11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(다중해상도)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8083296" y="240487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결절 크기가 저마다 달라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크기의 잣대로 동시에 탐색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8083296" y="3154680"/>
            <a:ext cx="3429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28575">
            <a:solidFill>
              <a:srgbClr val="21C7B7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25" name="Image 6" descr="/home/claude/work/imgs/p5_5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93024" y="3264408"/>
            <a:ext cx="3209544" cy="23682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193024" y="5687568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크기 대응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10643616" y="300837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1C7B7"/>
          </a:solidFill>
          <a:ln/>
        </p:spPr>
      </p:sp>
      <p:sp>
        <p:nvSpPr>
          <p:cNvPr id="28" name="Text 19"/>
          <p:cNvSpPr/>
          <p:nvPr/>
        </p:nvSpPr>
        <p:spPr>
          <a:xfrm>
            <a:off x="10643616" y="30083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성능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방법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성능을 검증했나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960120" cy="9601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5" name="Image 0" descr="/home/claude/work/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4629" y="733349"/>
            <a:ext cx="499262" cy="4992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176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13명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 환자 데이터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5848" y="192024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55848" y="2176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28개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3493008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폐결절 총 개수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71616" y="192024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71616" y="2176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8~36mm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6208776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결절 크기 범위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87384" y="192024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0F2A3D"/>
          </a:solidFill>
          <a:ln/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787384" y="21762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6가지 조합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8924544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2종 영상 × 3종 필터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97764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60120" y="41879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관점에서 평가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60120" y="4709160"/>
            <a:ext cx="502920" cy="502920"/>
          </a:xfrm>
          <a:prstGeom prst="ellipse">
            <a:avLst/>
          </a:prstGeom>
          <a:solidFill>
            <a:srgbClr val="163A50"/>
          </a:solidFill>
          <a:ln/>
        </p:spPr>
      </p:sp>
      <p:pic>
        <p:nvPicPr>
          <p:cNvPr id="21" name="Image 1" descr="/home/claude/work/icons/magnifi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4834890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00200" y="470916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검출개수 평가  </a:t>
            </a:r>
            <a:pPr indent="0" marL="0">
              <a:buNone/>
            </a:pPr>
            <a:r>
              <a:rPr lang="en-US" sz="12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몇 개의 진짜 결절을 맞혔고, 몇 개를 헛짚었는가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60120" y="5349240"/>
            <a:ext cx="502920" cy="502920"/>
          </a:xfrm>
          <a:prstGeom prst="ellipse">
            <a:avLst/>
          </a:prstGeom>
          <a:solidFill>
            <a:srgbClr val="163A50"/>
          </a:solidFill>
          <a:ln/>
        </p:spPr>
      </p:sp>
      <p:pic>
        <p:nvPicPr>
          <p:cNvPr id="24" name="Image 2" descr="/home/claude/work/icons/ru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5474970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53492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면적률 평가  </a:t>
            </a:r>
            <a:pPr indent="0" marL="0">
              <a:buNone/>
            </a:pPr>
            <a:r>
              <a:rPr lang="en-US" sz="12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찾아낸 위치·크기가 실제 결절과 얼마나 겹치는가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'에너지 차분 + 다중크기 필터' 조합이 최고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960120" cy="9601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5" name="Image 0" descr="/home/claude/wor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4629" y="7333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에너지 차분 영상에 세 필터를 각각 적용한 결과입니다. 흰 얼룩이 실제 결절과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겹칠수록, 그리고 잡음(오탐)이 적을수록 좋은 결과입니다.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14400" y="26060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8" name="Image 1" descr="/home/claude/work/imgs/p6_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4128" y="2715768"/>
            <a:ext cx="3072384" cy="2231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00176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기본 필터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26280" y="26060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11" name="Image 2" descr="/home/claude/work/imgs/p6_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36008" y="2715768"/>
            <a:ext cx="3072384" cy="22311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36008" y="500176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방향억제 필터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138160" y="26060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8575">
            <a:solidFill>
              <a:srgbClr val="21C7B7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8000"/>
              </a:srgbClr>
            </a:outerShdw>
          </a:effectLst>
        </p:spPr>
      </p:sp>
      <p:pic>
        <p:nvPicPr>
          <p:cNvPr id="14" name="Image 3" descr="/home/claude/work/imgs/p6_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47888" y="2715768"/>
            <a:ext cx="3072384" cy="22311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47888" y="500176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다중크기 필터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10561320" y="245973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1C7B7"/>
          </a:solidFill>
          <a:ln/>
        </p:spPr>
      </p:sp>
      <p:sp>
        <p:nvSpPr>
          <p:cNvPr id="17" name="Text 11"/>
          <p:cNvSpPr/>
          <p:nvPr/>
        </p:nvSpPr>
        <p:spPr>
          <a:xfrm>
            <a:off x="10561320" y="245973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성능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2A3D"/>
          </a:solidFill>
          <a:ln/>
        </p:spPr>
      </p:sp>
      <p:sp>
        <p:nvSpPr>
          <p:cNvPr id="19" name="Text 13"/>
          <p:cNvSpPr/>
          <p:nvPr/>
        </p:nvSpPr>
        <p:spPr>
          <a:xfrm>
            <a:off x="914400" y="57150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세 필터 모두, 보통 X선보다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차분 영상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검출 성능이 더 좋았습니다.   ②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다중크기 필터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검출개수·정확도 모두 가장 우수했습니다.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컨소시엄 관점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연구가 실무에 남기는 것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960120" cy="9601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5" name="Image 0" descr="/home/claude/work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4629" y="733349"/>
            <a:ext cx="499262" cy="4992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658368" cy="658368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7" name="Image 1" descr="/home/claude/work/icons/circle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856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 가능성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508760" y="225856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필름·장비 교체 없이 촬영 조건(이중 에너지)만 조정해 결절 발견율을 높일 수 있는 실질적 접근입니다.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291840"/>
            <a:ext cx="658368" cy="658368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11" name="Image 2" descr="/home/claude/work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5643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27355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설계 기준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1508760" y="367588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진단보조(CAD) 시스템을 만들 때 '영상 전처리(에너지 차분) + 필터 선택' 기준을 제시합니다.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709160"/>
            <a:ext cx="658368" cy="658368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15" name="Image 3" descr="/home/claude/work/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873752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69087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과제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1508760" y="509320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작은 결절은 여전히 놓치기 쉬워, 필터를 더 정교화하는 후속 연구가 필요합니다.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4663440"/>
            <a:ext cx="2926080" cy="2926080"/>
          </a:xfrm>
          <a:prstGeom prst="ellipse">
            <a:avLst/>
          </a:prstGeom>
          <a:ln w="19050">
            <a:solidFill>
              <a:srgbClr val="21C7B7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" y="5074920"/>
            <a:ext cx="2103120" cy="2103120"/>
          </a:xfrm>
          <a:prstGeom prst="ellipse">
            <a:avLst/>
          </a:prstGeom>
          <a:ln w="19050">
            <a:solidFill>
              <a:srgbClr val="21C7B7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440680"/>
            <a:ext cx="1371600" cy="1371600"/>
          </a:xfrm>
          <a:prstGeom prst="ellipse">
            <a:avLst/>
          </a:prstGeom>
          <a:ln w="19050">
            <a:solidFill>
              <a:srgbClr val="21C7B7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13248" y="2103120"/>
            <a:ext cx="1371600" cy="1371600"/>
          </a:xfrm>
          <a:prstGeom prst="ellipse">
            <a:avLst/>
          </a:prstGeom>
          <a:solidFill>
            <a:srgbClr val="163A50"/>
          </a:solidFill>
          <a:ln/>
        </p:spPr>
      </p:sp>
      <p:pic>
        <p:nvPicPr>
          <p:cNvPr id="6" name="Image 0" descr="/home/claude/work/icons/lu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1858" y="2411730"/>
            <a:ext cx="754380" cy="7543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03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21C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논문: 김응규 · 이도겸, 「흉부 X선 영상에서 폐 종류 음영 검출필터」, 2007 한국컴퓨터종합학술대회 논문집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2026-08-15T07:04:37Z</dcterms:created>
  <dcterms:modified xsi:type="dcterms:W3CDTF">2026-08-15T07:04:37Z</dcterms:modified>
</cp:coreProperties>
</file>