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한국세무회계학회 학술논문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233172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코스닥 상장기업의 R&amp;D 투자와 타인자본비용 관련성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9966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E4D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Impact of R&amp;D Investment on the Cost in KOSDAQ-listed Firms — 안홍복(계명대학교 경영대학 회계세무학과 교수). 본 연구는 2018년부터 2022년까지 코스닥 상장기업의 패널자료를 구성하여 R&amp;D와 타인자본비용(CoD)의 관련성을 패널회귀분석으로 검증한다.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서론: 왜 R&amp;D와 타인자본비용인가?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혁신과 R&amp;D의 중요성   ·   선행연구의 공백   ·   본 연구의 출발점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1517904"/>
          </a:xfrm>
          <a:prstGeom prst="roundRect">
            <a:avLst>
              <a:gd name="adj" fmla="val 3614"/>
            </a:avLst>
          </a:prstGeom>
          <a:solidFill>
            <a:srgbClr val="F6F4FA"/>
          </a:solidFill>
          <a:ln w="12700">
            <a:solidFill>
              <a:srgbClr val="E4DE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395728"/>
            <a:ext cx="103327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R&amp;D는 혁신의 잠재력을 유지하기 위해 반드시 선행되어야 하며, 기업은 이를 통해 새로운 제품 개발과 경영 능력을 증대시킬 수 있다(Cohen and Levinthal, 1990). R&amp;D에 대한 결정요인을 분석하는 연구는 다수 존재하지만, R&amp;D와 타인자본비용 간 관련성을 분석한 연구는 거의 전무하다.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4032504"/>
            <a:ext cx="10881360" cy="1133856"/>
          </a:xfrm>
          <a:prstGeom prst="roundRect">
            <a:avLst>
              <a:gd name="adj" fmla="val 4839"/>
            </a:avLst>
          </a:prstGeom>
          <a:solidFill>
            <a:srgbClr val="F6F4FA"/>
          </a:solidFill>
          <a:ln w="12700">
            <a:solidFill>
              <a:srgbClr val="E4DE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4142232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기업은 혁신투자를 위한 대규모 자본이 필요하고 내부자본만으로는 한계가 있어 외부자본 조달이 요구되는데, 이 과정에서 외부채권자는 기업의 R&amp;D 투자 추세에 관심을 갖고 그 평가결과가 자본비용 변동성으로 이어질 가능성이 높다.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539496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6F4FA"/>
          </a:solidFill>
          <a:ln w="12700">
            <a:solidFill>
              <a:srgbClr val="E4DE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5504688"/>
            <a:ext cx="103327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연구는 국내 최초로 코스닥 전 종목의 R&amp;D 지출 원본 회계장부를 직접 실사하여 분석하였다.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코스닥 상장기업의 특성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133856"/>
          </a:xfrm>
          <a:prstGeom prst="roundRect">
            <a:avLst>
              <a:gd name="adj" fmla="val 4839"/>
            </a:avLst>
          </a:prstGeom>
          <a:solidFill>
            <a:srgbClr val="F6F4FA"/>
          </a:solidFill>
          <a:ln w="12700">
            <a:solidFill>
              <a:srgbClr val="E4D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92808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코스닥 시장은 기술특례상장 제도를 통해 재무성과가 부족하더라도 기술력과 성장 잠재력만으로 상장 기회를 제공하며, 최대주주가 대표이사인 경우가 대부분이고 소유집중도가 매우 높은 기업지배구조 특성을 지닌다.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3145536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6F4FA"/>
          </a:solidFill>
          <a:ln w="12700">
            <a:solidFill>
              <a:srgbClr val="E4D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55264"/>
            <a:ext cx="103327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강길환(2015)은 코스닥 상장기업 중 고기술첨단기업 집단에서 연구개발지출이 기업가치에 더 크게 영향을 미침을 밝혀냈다.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연구가설: R&amp;D는 타인자본비용을 낮춘다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133856"/>
          </a:xfrm>
          <a:prstGeom prst="roundRect">
            <a:avLst>
              <a:gd name="adj" fmla="val 4839"/>
            </a:avLst>
          </a:prstGeom>
          <a:solidFill>
            <a:srgbClr val="F6F4FA"/>
          </a:solidFill>
          <a:ln w="12700">
            <a:solidFill>
              <a:srgbClr val="E4D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92808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연구가설: 다른 조건이 동일하면, R&amp;D와 CoD(타인자본비용)는 음(-)의 관련성을 보유한다. 보조가설로 R&amp;D와 차입이자율, 이자율스프레드, 신용등급 각각에 대해 동일한 음(-)의 관련성을 설정하였다.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분석모형: 패널회귀분석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517904"/>
          </a:xfrm>
          <a:prstGeom prst="roundRect">
            <a:avLst>
              <a:gd name="adj" fmla="val 3614"/>
            </a:avLst>
          </a:prstGeom>
          <a:solidFill>
            <a:srgbClr val="F6F4FA"/>
          </a:solidFill>
          <a:ln w="12700">
            <a:solidFill>
              <a:srgbClr val="E4D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92808"/>
            <a:ext cx="103327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종속변수 CoD(타인자본비용)는 차입이자율(CoD1), 이자율스프레드(CoD2), 신용등급(CoD3)의 세 가지로 측정하였으며, 관심변수는 R&amp;D(=R&amp;D투자/매출액)이다. 통제변수로 기관투자자지분율, 기업생존연수, 지배주주지분율, 기업규모, 부채비율, 매출액증가율, 기술집약 여부, 산업더미를 포함하였다.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표본: 2018~2022년 코스닥 상장기업 375개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산업1(식료품·섬유제품 등) 35개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산업2(화학·의약품 등) 115개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산업3(전자·통신장비 등) 110개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산업4(기계·자동차 등) 115개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표본 합계 375개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526280"/>
            <a:ext cx="10881360" cy="1517904"/>
          </a:xfrm>
          <a:prstGeom prst="roundRect">
            <a:avLst>
              <a:gd name="adj" fmla="val 3614"/>
            </a:avLst>
          </a:prstGeom>
          <a:solidFill>
            <a:srgbClr val="F6F4FA"/>
          </a:solidFill>
          <a:ln w="12700">
            <a:solidFill>
              <a:srgbClr val="E4DE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636008"/>
            <a:ext cx="103327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표본기업은 코스닥 상장기업 중 2018년부터 2022년까지 전자공시시스템(DART) 및 KIS-VALUE에서 필요 재무자료를 완전하게 입수할 수 있고 분석기간 동안 계속 존속한 기업으로 구성하였으며, 극단치 제거를 위해 Studentized Residual이 ±3을 초과하는 기업을 제거하였다.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변수 기초통계량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CoD1(차입이자율) 평균 0.0546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CoD2(이자율스프레드) 평균 0.0202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CoD3(신용등급) 평균 3.345 (표본 N=75)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R&amp;D(매출액 대비) 평균 0.0542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4069080"/>
            <a:ext cx="10881360" cy="1133856"/>
          </a:xfrm>
          <a:prstGeom prst="roundRect">
            <a:avLst>
              <a:gd name="adj" fmla="val 4839"/>
            </a:avLst>
          </a:prstGeom>
          <a:solidFill>
            <a:srgbClr val="F6F4FA"/>
          </a:solidFill>
          <a:ln w="12700">
            <a:solidFill>
              <a:srgbClr val="E4DE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178808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타인자본비용을 의미하는 CoD1과 CoD2의 평균값(중위수)은 각각 0.0546(0.0404)와 0.0202(0.0160)로 나타났고, 전체 표본 375개 중 신용평가등급이 존재하는 표본은 75개로 다소 축소되었다.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최상위·최하위 그룹 간 타인자본비용 차이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CoD1: 최상위그룹(R&amp;D&gt;75%) 0.0411 vs 최하위그룹(R&amp;D&lt;25%) 0.0638 — 차이 있음(Yes)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CoD2: 최상위그룹 0.0272 vs 최하위그룹 0.0491 — 차이 있음(Yes)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CoD3: 최상위그룹 0.0400 vs 최하위그룹 0.0500 — 차이 없음(No)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10881360" cy="1133856"/>
          </a:xfrm>
          <a:prstGeom prst="roundRect">
            <a:avLst>
              <a:gd name="adj" fmla="val 4839"/>
            </a:avLst>
          </a:prstGeom>
          <a:solidFill>
            <a:srgbClr val="F6F4FA"/>
          </a:solidFill>
          <a:ln w="12700">
            <a:solidFill>
              <a:srgbClr val="E4DE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721608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수준이 가장 높은 그룹과 가장 낮은 그룹 사이에 CoD1(차입이자율)과 CoD2(이자율스프레드)는 통계적으로 유의한 차이가 존재하였으나, 신용등급(CoD3)에서는 유의미한 차이를 확인할 수 없었다.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상관관계 분석: 다중공선성 우려는 낮음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133856"/>
          </a:xfrm>
          <a:prstGeom prst="roundRect">
            <a:avLst>
              <a:gd name="adj" fmla="val 4839"/>
            </a:avLst>
          </a:prstGeom>
          <a:solidFill>
            <a:srgbClr val="F6F4FA"/>
          </a:solidFill>
          <a:ln w="12700">
            <a:solidFill>
              <a:srgbClr val="E4D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92808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R&amp;D는 CoD1, CoD2와 각각 -0.0558, -0.0595의 유의한 음(-)의 상관관계를 보였다. 통제변수 중 Owner와 Debt 간 상관계수가 -0.1541로 가장 컸으나, 다중공선성의 가능성은 심각하지 않은 것으로 추론되었다.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모형 검증: 고정효과모형 채택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133856"/>
          </a:xfrm>
          <a:prstGeom prst="roundRect">
            <a:avLst>
              <a:gd name="adj" fmla="val 4839"/>
            </a:avLst>
          </a:prstGeom>
          <a:solidFill>
            <a:srgbClr val="F6F4FA"/>
          </a:solidFill>
          <a:ln w="12700">
            <a:solidFill>
              <a:srgbClr val="E4D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92808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Hausman 검정 결과 고정효과모형이 확률효과모형보다 타당한 것으로 확인되었으며(χ²=30.16, p&lt;0.001), Wooldridge 검정 결과 오차항의 자기상관은 5% 유의수준에서 존재하지 않는 것으로 나타났다(F=1.89, p=0.2843).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결과: R&amp;D는 차입이자율·이자율스프레드를 유의하게 낮춘다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→ CoD1(차입이자율): -0.0136*** (t=-4.94)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→ CoD2(이자율스프레드): -0.0172*** (t=-6.07)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→ CoD3(신용등급): -0.0021 (비유의, t=-0.45)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3611880"/>
            <a:ext cx="10881360" cy="1517904"/>
          </a:xfrm>
          <a:prstGeom prst="roundRect">
            <a:avLst>
              <a:gd name="adj" fmla="val 3614"/>
            </a:avLst>
          </a:prstGeom>
          <a:solidFill>
            <a:srgbClr val="F6F4FA"/>
          </a:solidFill>
          <a:ln w="12700">
            <a:solidFill>
              <a:srgbClr val="E4DE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3721608"/>
            <a:ext cx="103327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R&amp;D의 회귀계수는 CoD1과 CoD2에 대해 각각 -0.0136과 -0.0172로 유의수준 1%에서 음(-)의 관련성을 보였다. 그러나 CoD3에 대한 R&amp;D 변수의 관련성은 유의하지 않았으며, 이는 신용등급을 받는 기업 대부분이 중견규모 이상이어서 벤처기술형 중소기업 상당수가 표본에서 배제된 결과로 해석된다.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5358384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6F4FA"/>
          </a:solidFill>
          <a:ln w="12700">
            <a:solidFill>
              <a:srgbClr val="E4DE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468112"/>
            <a:ext cx="103327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결과는 R&amp;D 투자가 1단위 증가할 때마다 기업의 신용등급이 평균 2계단 상승한다는 것을 명확히 입증한다.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결론: R&amp;D는 채권시장에서 혁신 신호로 작동한다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133856"/>
          </a:xfrm>
          <a:prstGeom prst="roundRect">
            <a:avLst>
              <a:gd name="adj" fmla="val 4839"/>
            </a:avLst>
          </a:prstGeom>
          <a:solidFill>
            <a:srgbClr val="F6F4FA"/>
          </a:solidFill>
          <a:ln w="12700">
            <a:solidFill>
              <a:srgbClr val="E4D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92808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수준의 최상위와 최하위 그룹 간 채권시장에서 차별적인 이자율을 적용받을 가능성이 확인되었으며, 이는 코스닥 상장기업의 R&amp;D 정보가 갖는 전통적인 경제적 시각을 확장시켜 후속 연구에 새로운 시각을 제공한다.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3145536"/>
            <a:ext cx="10881360" cy="1133856"/>
          </a:xfrm>
          <a:prstGeom prst="roundRect">
            <a:avLst>
              <a:gd name="adj" fmla="val 4839"/>
            </a:avLst>
          </a:prstGeom>
          <a:solidFill>
            <a:srgbClr val="F6F4FA"/>
          </a:solidFill>
          <a:ln w="12700">
            <a:solidFill>
              <a:srgbClr val="E4D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55264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R&amp;D 성과 연계형 금리 인하 및 타인자본비용을 실질적으로 낮추기 위해 정부나 정책금융기관이 R&amp;D 성공 기업에 대해 대출 금리를 감면하거나 이차보전 프로그램을 도입할 필요가 있다.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A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 및 향후 연구 방향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517904"/>
          </a:xfrm>
          <a:prstGeom prst="roundRect">
            <a:avLst>
              <a:gd name="adj" fmla="val 3614"/>
            </a:avLst>
          </a:prstGeom>
          <a:solidFill>
            <a:srgbClr val="F6F4FA"/>
          </a:solidFill>
          <a:ln w="12700">
            <a:solidFill>
              <a:srgbClr val="E4DE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892808"/>
            <a:ext cx="10332720" cy="12984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 연구는 타인자본비용이 낮은 우수한 기업이 더욱 R&amp;D에 적극적일 수 있는 내생성 문제에 대한 민감도 분석을 수행하지 않았으며, 균형패널자료 형성을 위해 표본을 제한하여 외적 타당성에 한계가 존재한다. 향후 연구는 코스닥 시장과 코스피 시장을 모두 포함하는 표본으로 분석 범위를 확대할 필요가 있다.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3529584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6F4FA"/>
          </a:solidFill>
          <a:ln w="12700">
            <a:solidFill>
              <a:srgbClr val="E4DE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639312"/>
            <a:ext cx="10332720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F1B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이러한 한계에도 불구하고 본 연구의 표본은 국내 코스닥 상장기업 전수(100%)를 포함하여 통계적 일반화에 아무런 문제가 없다.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5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7432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37490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B886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2026-08-19T12:00:39Z</dcterms:created>
  <dcterms:modified xsi:type="dcterms:W3CDTF">2026-08-19T12:00:39Z</dcterms:modified>
</cp:coreProperties>
</file>