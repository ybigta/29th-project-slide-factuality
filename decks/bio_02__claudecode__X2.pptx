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67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670"/>
                </a:solidFill>
                <a:latin typeface="Calibri"/>
              </a:rPr>
              <a:t>뇌경색 면적 비교 (가장 손상이 컸던 6mm 단면 기준)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뇌경색 면적 (%)</c:v>
                </c:pt>
              </c:strCache>
            </c:strRef>
          </c:tx>
          <c:spPr>
            <a:solidFill>
              <a:srgbClr val="7483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483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62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대조군
(Vehicle)</c:v>
                  </c:pt>
                  <c:pt idx="1">
                    <c:v>BF-7 투여군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22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5B6670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5B6670"/>
                </a:solidFill>
                <a:latin typeface="Calibri"/>
              </a:rPr>
              <a:t>8방 방사형 미로시험 — 오류 횟수 변화 (일자별 경향, 논문 Fig.4 재구성)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정상군(Sham)</c:v>
                </c:pt>
              </c:strCache>
            </c:strRef>
          </c:tx>
          <c:spPr>
            <a:solidFill>
              <a:srgbClr val="1E5C8C"/>
            </a:solidFill>
            <a:ln w="31750" cap="flat">
              <a:solidFill>
                <a:srgbClr val="1E5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5C8C"/>
              </a:solidFill>
              <a:ln w="9525" cap="flat">
                <a:solidFill>
                  <a:srgbClr val="1E5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손상 전</c:v>
                  </c:pt>
                  <c:pt idx="1">
                    <c:v>1일</c:v>
                  </c:pt>
                  <c:pt idx="2">
                    <c:v>2일</c:v>
                  </c:pt>
                  <c:pt idx="3">
                    <c:v>3일</c:v>
                  </c:pt>
                  <c:pt idx="4">
                    <c:v>4일</c:v>
                  </c:pt>
                  <c:pt idx="5">
                    <c:v>5일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2.5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대조군(Vehicle)</c:v>
                </c:pt>
              </c:strCache>
            </c:strRef>
          </c:tx>
          <c:spPr>
            <a:solidFill>
              <a:srgbClr val="748393"/>
            </a:solidFill>
            <a:ln w="31750" cap="flat">
              <a:solidFill>
                <a:srgbClr val="7483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48393"/>
              </a:solidFill>
              <a:ln w="9525" cap="flat">
                <a:solidFill>
                  <a:srgbClr val="7483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손상 전</c:v>
                  </c:pt>
                  <c:pt idx="1">
                    <c:v>1일</c:v>
                  </c:pt>
                  <c:pt idx="2">
                    <c:v>2일</c:v>
                  </c:pt>
                  <c:pt idx="3">
                    <c:v>3일</c:v>
                  </c:pt>
                  <c:pt idx="4">
                    <c:v>4일</c:v>
                  </c:pt>
                  <c:pt idx="5">
                    <c:v>5일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8.5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BF-7 투여군</c:v>
                </c:pt>
              </c:strCache>
            </c:strRef>
          </c:tx>
          <c:spPr>
            <a:solidFill>
              <a:srgbClr val="D9622E"/>
            </a:solidFill>
            <a:ln w="31750" cap="flat">
              <a:solidFill>
                <a:srgbClr val="D962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622E"/>
              </a:solidFill>
              <a:ln w="9525" cap="flat">
                <a:solidFill>
                  <a:srgbClr val="D962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손상 전</c:v>
                  </c:pt>
                  <c:pt idx="1">
                    <c:v>1일</c:v>
                  </c:pt>
                  <c:pt idx="2">
                    <c:v>2일</c:v>
                  </c:pt>
                  <c:pt idx="3">
                    <c:v>3일</c:v>
                  </c:pt>
                  <c:pt idx="4">
                    <c:v>4일</c:v>
                  </c:pt>
                  <c:pt idx="5">
                    <c:v>5일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6.5</c:v>
                </c:pt>
                <c:pt idx="2">
                  <c:v>5</c:v>
                </c:pt>
                <c:pt idx="3">
                  <c:v>3.5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3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D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670"/>
                    </a:solidFill>
                    <a:latin typeface="Arial"/>
                  </a:rPr>
                  <a:t>오류 횟수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67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670"/>
                </a:solidFill>
                <a:latin typeface="Calibri"/>
              </a:rPr>
              <a:t>Rey 복합도형검사(RCFT) 점수 변화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섭취 전</c:v>
                </c:pt>
              </c:strCache>
            </c:strRef>
          </c:tx>
          <c:spPr>
            <a:solidFill>
              <a:srgbClr val="7483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위약군</c:v>
                  </c:pt>
                  <c:pt idx="1">
                    <c:v>BF-7 200mg</c:v>
                  </c:pt>
                  <c:pt idx="2">
                    <c:v>BF-7 400mg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37.6</c:v>
                </c:pt>
                <c:pt idx="1">
                  <c:v>36.8</c:v>
                </c:pt>
                <c:pt idx="2">
                  <c:v>24.7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섭취 후</c:v>
                </c:pt>
              </c:strCache>
            </c:strRef>
          </c:tx>
          <c:spPr>
            <a:solidFill>
              <a:srgbClr val="D962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위약군</c:v>
                  </c:pt>
                  <c:pt idx="1">
                    <c:v>BF-7 200mg</c:v>
                  </c:pt>
                  <c:pt idx="2">
                    <c:v>BF-7 400mg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39.6</c:v>
                </c:pt>
                <c:pt idx="1">
                  <c:v>56.5</c:v>
                </c:pt>
                <c:pt idx="2">
                  <c:v>65.2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5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안녕하십니까. 오늘은 2005년 대한해부학회지에 게재된 논문, 'BF-7의 뇌보호작용 및 학습과 기억력 개선 효과'를 업계 관계자분들께 쉽게 풀어서 소개드리겠습니다. 5분간 핵심만 짚어드리겠습니다.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고령화 사회에서 뇌졸중 등으로 인한 뇌허혈은 학습과 기억력 저하, 나아가 혈관성 치매로 이어질 수 있는 심각한 문제입니다. 그런데 기존 치료제들은 효과가 일시적이거나 부작용 우려가 있어, 안전하고 효과적인 새로운 소재가 필요한 상황이었습니다.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BF-7은 누에에서 추출한 천연 성분으로, 이전 연구에서 이미 학습과 기억 증진, 뇌보호 효과가 보고된 바 있습니다. 이번 연구는 그 효과를 뇌허혈 손상 모델과 실제 사람을 대상으로 한 임상시험까지 확장해 검증했다는 점이 특징입니다.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 목적은 크게 두 가지입니다. 첫째, 뇌허혈을 유도한 쥐 모델에서 BF-7이 뇌손상을 줄이고 학습·기억력을 지켜주는지 확인하는 것. 둘째, 실제 사람을 대상으로 한 임상시험에서 기억력이 개선되는지 검증하는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쥐를 이용한 동물실험에서는 뇌허혈을 유도한 뒤 BF-7을 7일간 투여하고, 뇌경색 크기와 해마 신경세포 손상, 미로 학습능력을 평가했습니다. 이어서 건강한 성인 99명을 대상으로 위약대조, 이중맹검 방식의 임상시험을 진행해 Rey 복합도형검사로 기억력 변화를 측정했습니다.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뇌허혈을 유도한 쥐에게 BF-7을 투여하자, 손상이 가장 심했던 부위에서 뇌경색 면적이 대조군 대비 약 37% 줄었습니다. 또한 기억을 담당하는 해마 부위의 신경세포 손상도 함께 유의하게 감소해, BF-7이 뇌 조직을 실제로 보호한다는 것을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공간 학습·기억력을 보는 8방 미로 시험에서도, 뇌허혈을 유도한 대조군은 계속 길을 헤맨 반면 BF-7을 투여한 쥐는 이틀째부터 오류 횟수가 유의하게 줄어 닷새째에는 정상군 수준까지 회복했습니다.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건강한 성인 99명을 대상으로 한 임상시험에서도 결과는 뚜렷했습니다. 위약군은 유의한 변화가 없었지만, BF-7 200mg군은 36.8에서 56.5로, 400mg군은 24.7에서 65.2로 복합도형 기억력 점수가 용량에 비례해 크게 향상됐습니다.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정리하면, BF-7은 동물실험과 임상시험 모두에서 뇌 보호와 기억력 개선 효과가 일관되게 확인된 천연 소재입니다. 누에 유래로 안전성이 높다는 점에서, 고령화로 커지고 있는 인지건강 시장의 건강기능식품이나 향후 치료제로 확장할 잠재력이 크다고 생각합니다.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발표를 마치겠습니다. 궁금하신 점 있으시면 질문 부탁드립니다.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1B3B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822960"/>
            <a:ext cx="3840480" cy="3840480"/>
          </a:xfrm>
          <a:prstGeom prst="ellipse">
            <a:avLst/>
          </a:prstGeom>
          <a:solidFill>
            <a:srgbClr val="234B66"/>
          </a:solidFill>
          <a:ln/>
        </p:spPr>
      </p:sp>
      <p:sp>
        <p:nvSpPr>
          <p:cNvPr id="4" name="Shape 2"/>
          <p:cNvSpPr/>
          <p:nvPr/>
        </p:nvSpPr>
        <p:spPr>
          <a:xfrm>
            <a:off x="9921240" y="2331720"/>
            <a:ext cx="1828800" cy="1828800"/>
          </a:xfrm>
          <a:prstGeom prst="ellipse">
            <a:avLst/>
          </a:prstGeom>
          <a:solidFill>
            <a:srgbClr val="1B3B52"/>
          </a:solidFill>
          <a:ln/>
        </p:spPr>
      </p:sp>
      <p:pic>
        <p:nvPicPr>
          <p:cNvPr id="5" name="Image 0" descr="/tmp/bf7_ppt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2770632"/>
            <a:ext cx="950976" cy="950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대한해부학회지 38(2), 181-188, 2005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BF-7, 허혈성 뇌손상을 막고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기억력을 살리다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85800" y="4160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누에(Bombyx mori)에서 찾은 천연 뇌보호 물질 BF-7의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학습·기억력 개선 효과 — 동물실험 및 임상시험 결과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5806440"/>
            <a:ext cx="7863840" cy="0"/>
          </a:xfrm>
          <a:prstGeom prst="line">
            <a:avLst/>
          </a:prstGeom>
          <a:noFill/>
          <a:ln w="12700">
            <a:solidFill>
              <a:srgbClr val="2E4E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원저 · 이준영 외 (서울대학교·중앙대학교)   |   발표: 예린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지금, 뇌 건강인가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4160520"/>
          </a:xfrm>
          <a:prstGeom prst="roundRect">
            <a:avLst>
              <a:gd name="adj" fmla="val 2637"/>
            </a:avLst>
          </a:prstGeom>
          <a:solidFill>
            <a:srgbClr val="F7F8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822960" cy="822960"/>
          </a:xfrm>
          <a:prstGeom prst="ellipse">
            <a:avLst/>
          </a:prstGeom>
          <a:solidFill>
            <a:srgbClr val="E3EAEF"/>
          </a:solidFill>
          <a:ln/>
        </p:spPr>
      </p:sp>
      <p:pic>
        <p:nvPicPr>
          <p:cNvPr id="6" name="Image 0" descr="/tmp/bf7_ppt/icon_brai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23463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뇌허혈, 인지기능 저하의 시작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48143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뇌졸중·지주막하출혈 등 혈관성 질환으로 뇌에 혈액 공급이 끊기면(뇌허혈) 신경세포가 손상됩니다. 그 결과 학습·기억력이 떨어지고, 심하면 혈관성 치매로 이어질 수 있습니다.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271516" cy="4160520"/>
          </a:xfrm>
          <a:prstGeom prst="roundRect">
            <a:avLst>
              <a:gd name="adj" fmla="val 2637"/>
            </a:avLst>
          </a:prstGeom>
          <a:solidFill>
            <a:srgbClr val="F7F8F9"/>
          </a:solidFill>
          <a:ln/>
        </p:spPr>
      </p:sp>
      <p:sp>
        <p:nvSpPr>
          <p:cNvPr id="10" name="Shape 7"/>
          <p:cNvSpPr/>
          <p:nvPr/>
        </p:nvSpPr>
        <p:spPr>
          <a:xfrm>
            <a:off x="6597396" y="2148840"/>
            <a:ext cx="822960" cy="822960"/>
          </a:xfrm>
          <a:prstGeom prst="ellipse">
            <a:avLst/>
          </a:prstGeom>
          <a:solidFill>
            <a:srgbClr val="D9622E"/>
          </a:solidFill>
          <a:ln/>
        </p:spPr>
      </p:sp>
      <p:pic>
        <p:nvPicPr>
          <p:cNvPr id="11" name="Image 1" descr="/tmp/bf7_ppt/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906" y="23463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05956" y="315468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치료제의 한계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05956" y="3657600"/>
            <a:ext cx="48143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항혈전제, 자유라디칼 제거제 등이 쓰이고 있지만 효과가 일시적이고 부작용 우려도 있습니다. 부작용은 적고 효능은 확실한 새로운 뇌기능 개선 소재 개발이 시급한 상황입니다.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BF-7란 무엇인가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371600" cy="1371600"/>
          </a:xfrm>
          <a:prstGeom prst="ellipse">
            <a:avLst/>
          </a:prstGeom>
          <a:solidFill>
            <a:srgbClr val="132A3A"/>
          </a:solidFill>
          <a:ln/>
        </p:spPr>
      </p:sp>
      <p:pic>
        <p:nvPicPr>
          <p:cNvPr id="5" name="Image 0" descr="/tmp/bf7_ppt/icon_w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9514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3172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누에에서 찾은 천연 펩타이드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331720" y="26060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BF-7은 누에(Bombyx mori) 고치에서 추출·정제한 천연 유래 성분입니다. 식품·화장품 원료로도 익숙한 누에 소재가 뇌기능과 만난 사례입니다.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794760"/>
            <a:ext cx="10908792" cy="1965960"/>
          </a:xfrm>
          <a:prstGeom prst="roundRect">
            <a:avLst>
              <a:gd name="adj" fmla="val 5581"/>
            </a:avLst>
          </a:prstGeom>
          <a:solidFill>
            <a:srgbClr val="132A3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06908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선행연구(Chae et al., 2004)에서 학습·기억 증진 및 뇌보호 기능이 보고된 소재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4553712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연구는 한 걸음 더 나아가, BF-7이 실제 '뇌허혈 손상'을 줄이고 학습·기억력을 지켜주는지를 동물실험과 사람을 대상으로 한 임상시험으로 직접 검증했다는 점에서 의미가 있습니다.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목적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965960"/>
          </a:xfrm>
          <a:prstGeom prst="roundRect">
            <a:avLst>
              <a:gd name="adj" fmla="val 5581"/>
            </a:avLst>
          </a:prstGeom>
          <a:solidFill>
            <a:srgbClr val="F7F8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12848"/>
            <a:ext cx="1188720" cy="1188720"/>
          </a:xfrm>
          <a:prstGeom prst="ellipse">
            <a:avLst/>
          </a:prstGeom>
          <a:solidFill>
            <a:srgbClr val="D9622E"/>
          </a:solidFill>
          <a:ln/>
        </p:spPr>
      </p:sp>
      <p:pic>
        <p:nvPicPr>
          <p:cNvPr id="6" name="Image 0" descr="/tmp/bf7_ppt/icon_micr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413" y="2498141"/>
            <a:ext cx="618134" cy="618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331720" y="239572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동물실험으로 뇌보호 효과 검증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31720" y="2852928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중대뇌동맥(MCA)을 일시적으로 막아 뇌허혈을 유도한 쥐 모델에서, BF-7이 뇌손상을 줄이고 학습·기억력을 보호하는지 확인한다.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10908792" cy="1965960"/>
          </a:xfrm>
          <a:prstGeom prst="roundRect">
            <a:avLst>
              <a:gd name="adj" fmla="val 5581"/>
            </a:avLst>
          </a:prstGeom>
          <a:solidFill>
            <a:srgbClr val="F7F8F9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4498848"/>
            <a:ext cx="1188720" cy="1188720"/>
          </a:xfrm>
          <a:prstGeom prst="ellipse">
            <a:avLst/>
          </a:prstGeom>
          <a:solidFill>
            <a:srgbClr val="D9622E"/>
          </a:solidFill>
          <a:ln/>
        </p:spPr>
      </p:sp>
      <p:pic>
        <p:nvPicPr>
          <p:cNvPr id="12" name="Image 1" descr="/tmp/bf7_ppt/icon_prescri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13" y="4784141"/>
            <a:ext cx="618134" cy="6181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3172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331720" y="468172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임상시험으로 사람에서의 효과 검증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331720" y="5138928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건강한 성인을 대상으로 BF-7을 실제로 섭취시켜, 기억력 검사 점수가 유의하게 개선되는지 확인한다.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설계 — 두 갈래로 검증하다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4251960"/>
          </a:xfrm>
          <a:prstGeom prst="roundRect">
            <a:avLst>
              <a:gd name="adj" fmla="val 2581"/>
            </a:avLst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777240" cy="777240"/>
          </a:xfrm>
          <a:prstGeom prst="ellipse">
            <a:avLst/>
          </a:prstGeom>
          <a:solidFill>
            <a:srgbClr val="1B3B52"/>
          </a:solidFill>
          <a:ln/>
        </p:spPr>
      </p:sp>
      <p:pic>
        <p:nvPicPr>
          <p:cNvPr id="6" name="Image 0" descr="/tmp/bf7_ppt/icon_micr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2896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67128"/>
            <a:ext cx="39913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동물실험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200400"/>
            <a:ext cx="463143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SD계 흰쥐, 중대뇌동맥(MCA) 일시 폐쇄로 뇌허혈 유도</a:t>
            </a:r>
            <a:endParaRPr lang="en-US" sz="1350" dirty="0"/>
          </a:p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BF-7 10mg/kg을 1일 1회, 7일간 경구 투여</a:t>
            </a:r>
            <a:endParaRPr lang="en-US" sz="1350" dirty="0"/>
          </a:p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뇌경색 크기 측정 (TTC 염색)</a:t>
            </a:r>
            <a:endParaRPr lang="en-US" sz="1350" dirty="0"/>
          </a:p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해마 신경세포 손상 확인 (H&amp;E 염색)</a:t>
            </a:r>
            <a:endParaRPr lang="en-US" sz="1350" dirty="0"/>
          </a:p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8방 방사형 미로시험으로 학습·기억력 평가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271516" cy="4251960"/>
          </a:xfrm>
          <a:prstGeom prst="roundRect">
            <a:avLst>
              <a:gd name="adj" fmla="val 2581"/>
            </a:avLst>
          </a:prstGeom>
          <a:solidFill>
            <a:srgbClr val="F7F8F9"/>
          </a:solidFill>
          <a:ln/>
        </p:spPr>
      </p:sp>
      <p:sp>
        <p:nvSpPr>
          <p:cNvPr id="10" name="Shape 7"/>
          <p:cNvSpPr/>
          <p:nvPr/>
        </p:nvSpPr>
        <p:spPr>
          <a:xfrm>
            <a:off x="6597396" y="2103120"/>
            <a:ext cx="777240" cy="777240"/>
          </a:xfrm>
          <a:prstGeom prst="ellipse">
            <a:avLst/>
          </a:prstGeom>
          <a:solidFill>
            <a:srgbClr val="D9622E"/>
          </a:solidFill>
          <a:ln/>
        </p:spPr>
      </p:sp>
      <p:pic>
        <p:nvPicPr>
          <p:cNvPr id="11" name="Image 1" descr="/tmp/bf7_ppt/icon_prescri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934" y="22896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1796" y="2167128"/>
            <a:ext cx="39913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임상시험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97396" y="3200400"/>
            <a:ext cx="463143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건강한 성인 99명 (19~65세) 참여</a:t>
            </a:r>
            <a:endParaRPr lang="en-US" sz="1350" dirty="0"/>
          </a:p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배정 · 이중맹검 (double-blind) 설계</a:t>
            </a:r>
            <a:endParaRPr lang="en-US" sz="1350" dirty="0"/>
          </a:p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위약군 32명 / BF-7 200mg군 33명 / BF-7 400mg군 34명</a:t>
            </a:r>
            <a:endParaRPr lang="en-US" sz="1350" dirty="0"/>
          </a:p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7일간 섭취 후 효과 평가</a:t>
            </a:r>
            <a:endParaRPr lang="en-US" sz="1350" dirty="0"/>
          </a:p>
          <a:p>
            <a:pPr marL="177800" indent="-177800">
              <a:lnSpc>
                <a:spcPts val="21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 복합도형검사(RCFT)로 섭취 전·후 기억력 변화 측정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동물실험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뇌손상 부위가 확연히 줄었다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5943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4599432" cy="1371600"/>
          </a:xfrm>
          <a:prstGeom prst="roundRect">
            <a:avLst>
              <a:gd name="adj" fmla="val 6667"/>
            </a:avLst>
          </a:prstGeom>
          <a:solidFill>
            <a:srgbClr val="F7F8F9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37%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961120" y="19933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뇌경색 면적 감소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0.05)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49440" y="3337560"/>
            <a:ext cx="4599432" cy="2697480"/>
          </a:xfrm>
          <a:prstGeom prst="roundRect">
            <a:avLst>
              <a:gd name="adj" fmla="val 3390"/>
            </a:avLst>
          </a:prstGeom>
          <a:solidFill>
            <a:srgbClr val="F7F8F9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356616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해마(hippocampus)도 함께 보호됨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223760" y="4069080"/>
            <a:ext cx="4050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기억을 담당하는 뇌 부위인 해마의 CA1~CA3 영역에서, 허혈로 죽어가는 신경세포(적색 신경세포) 수가 BF-7 투여군에서 유의하게 감소했습니다. 뇌경색뿐 아니라 기억 중추 자체가 보호된 것입니다.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동물실험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미로 학습, 대조군보다 빠르게 회복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74066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73552" cy="4251960"/>
          </a:xfrm>
          <a:prstGeom prst="roundRect">
            <a:avLst>
              <a:gd name="adj" fmla="val 2793"/>
            </a:avLst>
          </a:prstGeom>
          <a:solidFill>
            <a:srgbClr val="132A3A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201168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49640" y="2423160"/>
            <a:ext cx="2724912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뇌허혈 후 대조군은 미로에서 길을 계속 헤맸지만, BF-7 투여군은 2일차부터 오류 횟수가 유의하게 줄어(p&lt;0.05) 5일차에는 정상군 수준까지 회복했습니다.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임상시험 (사람 대상)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사람에서도 기억력 점수가 올랐다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74066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73552" cy="2011680"/>
          </a:xfrm>
          <a:prstGeom prst="roundRect">
            <a:avLst>
              <a:gd name="adj" fmla="val 4545"/>
            </a:avLst>
          </a:prstGeom>
          <a:solidFill>
            <a:srgbClr val="F7F8F9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196596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위약군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49640" y="228600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유의한 변화 없음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49640" y="274320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 → 39.6%  (P &gt; 0.05)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75320" y="4023360"/>
            <a:ext cx="3273552" cy="2194560"/>
          </a:xfrm>
          <a:prstGeom prst="roundRect">
            <a:avLst>
              <a:gd name="adj" fmla="val 4167"/>
            </a:avLst>
          </a:prstGeom>
          <a:solidFill>
            <a:srgbClr val="132A3A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420624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BF-7 400mg군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49640" y="452628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+40.5%p 대폭 향상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49640" y="50109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24.7% → 65.2%  (P &lt; 0.05)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결론: 검증된 천연 뇌기능 소재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914400" cy="914400"/>
          </a:xfrm>
          <a:prstGeom prst="ellipse">
            <a:avLst/>
          </a:prstGeom>
          <a:solidFill>
            <a:srgbClr val="1B3B52"/>
          </a:solidFill>
          <a:ln/>
        </p:spPr>
      </p:sp>
      <p:pic>
        <p:nvPicPr>
          <p:cNvPr id="5" name="Image 0" descr="/tmp/bf7_ppt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9280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이중으로 확인된 효과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83080" y="231343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동물실험(뇌경색·해마 보호, 미로 학습능력)과 사람 대상 임상시험(RCFT 기억력 점수) 모두에서 일관된 개선 효과를 확인.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914400" cy="914400"/>
          </a:xfrm>
          <a:prstGeom prst="ellipse">
            <a:avLst/>
          </a:prstGeom>
          <a:solidFill>
            <a:srgbClr val="1B3B52"/>
          </a:solidFill>
          <a:ln/>
        </p:spPr>
      </p:sp>
      <p:pic>
        <p:nvPicPr>
          <p:cNvPr id="9" name="Image 1" descr="/tmp/bf7_ppt/icon_w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46557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26440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안전성이 강점인 천연 소재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783080" y="368503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누에에서 유래한 성분으로 독성 우려가 낮아, 장기간 섭취가 필요한 인지기능 제품에 적합.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914400" cy="914400"/>
          </a:xfrm>
          <a:prstGeom prst="ellipse">
            <a:avLst/>
          </a:prstGeom>
          <a:solidFill>
            <a:srgbClr val="1B3B52"/>
          </a:solidFill>
          <a:ln/>
        </p:spPr>
      </p:sp>
      <p:pic>
        <p:nvPicPr>
          <p:cNvPr id="13" name="Image 2" descr="/tmp/bf7_ppt/icon_indu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83717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63600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성장하는 인지건강 시장에 적용 가능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783080" y="505663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고령화로 수요가 커지는 건강기능식품·인지기능 개선 제품, 나아가 치료제 개발까지 확장 가능성.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B3B52"/>
          </a:solidFill>
          <a:ln/>
        </p:spPr>
      </p:sp>
      <p:sp>
        <p:nvSpPr>
          <p:cNvPr id="3" name="Shape 1"/>
          <p:cNvSpPr/>
          <p:nvPr/>
        </p:nvSpPr>
        <p:spPr>
          <a:xfrm>
            <a:off x="5175504" y="1280160"/>
            <a:ext cx="1828800" cy="1828800"/>
          </a:xfrm>
          <a:prstGeom prst="ellipse">
            <a:avLst/>
          </a:prstGeom>
          <a:solidFill>
            <a:srgbClr val="1B3B52"/>
          </a:solidFill>
          <a:ln/>
        </p:spPr>
      </p:sp>
      <p:pic>
        <p:nvPicPr>
          <p:cNvPr id="4" name="Image 0" descr="/tmp/bf7_ppt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1719072"/>
            <a:ext cx="950976" cy="950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832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이준영 외, 「BF-7의 뇌보호작용 및 학습과 기억력 개선 효과」, 대한해부학회지 38(2), 181-188, 2005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2026-08-15T07:38:59Z</dcterms:created>
  <dcterms:modified xsi:type="dcterms:W3CDTF">2026-08-15T07:38:59Z</dcterms:modified>
</cp:coreProperties>
</file>