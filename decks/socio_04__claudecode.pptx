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228600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성인이 지각한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자본과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다문화 수용성 간의 관계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이주노동자, 난민, 재외동포 집단을 중심으로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1371600"/>
            <a:ext cx="2468880" cy="2743200"/>
          </a:xfrm>
          <a:prstGeom prst="roundRect">
            <a:avLst>
              <a:gd name="adj" fmla="val 5556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0" y="15087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곽윤경  한국보건사회연구원
양영미  한국사회융합연구소
</a:t>
            </a:r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학술지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보건사회연구 45(3), 2025
pp.126-146
</a:t>
            </a:r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사회통합 실태조사</a:t>
            </a:r>
            <a:endParaRPr lang="en-US" sz="10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3,011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배경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체류 외국인 (2024)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06040" y="118872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298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6060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인구 대비 비중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56만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이주노동자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18288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86만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0604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재외동포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371600"/>
            <a:ext cx="3474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연구가 필요한가?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OECD 기준 이주민 비중 5% 초과 → 다인종·다문화 국가 진입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성인 다문화 수용성은 2015년 이후 하락 추세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기존 연구는 아동·청소년·대학생 중심
  → 성인 대상 실증연구 부족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이주민을 동질적 집단으로 간주한 연구가 대부분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유형별 분석의 필요성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정의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80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다문화 수용성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18872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이주민을 사회 구성원으로 동등한 권리를 부여하고, 서로 공존하며 협력하는 관용적인 태도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7863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6060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06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51460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신뢰·네트워크·규범·호혜성을 동력으로 공동체를 형성하는 자원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하위: 사회 신뢰 / 공적 신뢰 / 대인 신뢰 / 사회적 지지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7863840" cy="11430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9319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이주민 유형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840480"/>
            <a:ext cx="5394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이주노동자 — 노동시장 경쟁 인식, 저숙련·저임금 이미지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난민 — 인도주의적 수용 vs 사회적 비용 충돌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재외동포 — '같은 민족이지만 이방인'이라는 모순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구성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종속변수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이주노동자·난민·재외동포 각각에 대한
다문화 수용성 (5점 척도)
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독립변수 (사회적 자본)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 신뢰 (11점) / 공적 신뢰 (3점)
대인 신뢰 (5점, 역코딩) / 사회적 지지 (11점)
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통제변수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성별, 세대, 지역, 교육수준,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주관적 소득계층, 소득분위, 접촉 빈도,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경제활동 상태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및 방법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 사회통합 실태조사 원자료
(한국보건사회연구원)
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17개 시도, 만 19~75세
성인 남녀 3,011명
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조사기간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2024.06.04 ~ 08.03 (대면 면접)
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분석방법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다중회귀분석 (Stata MP 14)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기술통계 결과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사회 신뢰 (0~10)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공적 신뢰 (0~3)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대인 신뢰 (1~5)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사회적 지지 (0~10)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다문화 수용성 (5점 만점)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이주노동자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재외동포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" y="320040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329184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포인트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난민에 대한 수용성(2.27)이 세 집단 중 가장 낮음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사회 신뢰(5.15/10)와 공적 신뢰(1.36/3) 모두 보통 이하 수준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응답자 중 외국인 접촉 경험이 있는 비율은 약 62%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결과 ① 이주노동자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0.058 (Adj. R² = 0.051)  |  F = 8.93***  |  N = 2,929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 신뢰, 공적 신뢰, 대인 신뢰,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지지 → 모두 유의하지 않음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유의한 인구사회학적 변수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성별, 세대, 주관적 소득계층,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교육수준, 접촉 빈도, 경제활동 상태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822960"/>
                <a:gridCol w="4023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 (ref=남성)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남성보다 수용성 낮음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중년 (ref=청년)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세대 간 격차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노년 (ref=청년)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세대 간 격차 뚜렷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중간층 (ref=하층)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소득계층 높을수록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대졸 이상 (ref=중졸 이하)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고학력일수록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접촉 있음 (ref=없음)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접촉 경험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취업자 (ref=비경활)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경제활동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결과 ② 난민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0.042 (Adj. R² = 0.036)  |  F = 6.43***  |  N = 2,929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 — 유의미!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 신뢰 (β=0.024, p&lt;0.1) ✔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공적 신뢰 (β=0.086, p&lt;0.1) ✔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대인 신뢰·사회적 지지 → 비유의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이주노동자 모형과의 차이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비수도권 거주자 수용성 높음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사회적 자본이 유의미한 유일한 모형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822960"/>
                <a:gridCol w="4023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사회 신뢰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신뢰 높을수록 수용성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공적 신뢰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제도 신뢰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 (ref=남성)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남성보다 수용성 낮음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중년 (ref=청년)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세대 간 격차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노년 (ref=청년)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세대 간 격차 뚜렷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비수도권 (ref=수도권)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비수도권 수용성 높음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대졸 이상 (ref=중졸 이하)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고학력일수록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회귀분석 결과 ③ 재외동포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0.072 (Adj. R² = 0.065)  |  F = 6.76***  |  N = 2,929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 신뢰, 공적 신뢰, 대인 신뢰,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지지 → 모두 유의하지 않음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(이주노동자 모형과 동일 패턴)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특이점
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세대별 차이 유의하지 않음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(이주노동자·난민과 다른 패턴)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성별 효과는 일관되게 유의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822960"/>
                <a:gridCol w="40233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유의도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여성 (ref=남성)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남성보다 수용성 낮음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중하층 (ref=하층)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소득계층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중간층 (ref=하층)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소득계층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대졸 이상 (ref=중졸 이하)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고학력일수록 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접촉 있음 (ref=없음)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p&lt;0.001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접촉 경험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취업자 (ref=비경활)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p&lt;0.1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경제활동 효과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비교 종합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47672"/>
                <a:gridCol w="1947672"/>
                <a:gridCol w="1956816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이주노동자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난민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재외동포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사회 신뢰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정적 영향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공적 신뢰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정적 영향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대인 신뢰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정적 영향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사회적 지지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성별 (여성)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세대 (노년)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 비유의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교육 (대졸)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접촉 빈도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6EA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 p&lt;0.001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4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자본은 난민 수용성에만 유의미한 영향 → 이주민 유형별 차별적 메커니즘 존재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 함의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11704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이주민 유형별 맞춤형 정책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4813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동질적 접근 지양, 이주노동자·난민·재외동포 각각에 맞는 인식 개선 전략 필요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194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13055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사회적 신뢰 기반 확충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4414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난민 수용 태도 개선에 사회 신뢰·공적 신뢰가 핵심 → 제도 신뢰 강화 정책 요구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31546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309067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여성 대상 인식 개선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40156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성인지적 관점 반영, 여성 네트워크 기반 다문화 체험·교류 프로그램 설계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0507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접촉 경험 확대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436168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Allport 접촉 가설 실증 지지 → 비형식적·자연스러운 내국인-이주민 접촉 유도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연구 한계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7498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횡단면 데이터의 한계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변수 간 인과관계를 단정 짓기 어려우며, 장기적인 추세 분석 불가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사회적 자본 측정의 제한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자료 한계로 신뢰·사회적 지지에 국한, 다양한 요소를 충분히 반영하지 못함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접촉의 '질' 미반영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접촉 경험 유무만 측정, 빈도·자발성·상호성·정서적 친밀도 등 미포착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낮은 모형 설명력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약 4~6%, 가치관·정치성향·미디어 노출 등 다양한 요인 미포함
</a:t>
            </a:r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후속 종단연구 계획
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3개년 패널 데이터를 구축하여 다문화 수용성의 시계열 변화를 추적 분석할 예정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2026-08-15T04:30:54Z</dcterms:created>
  <dcterms:modified xsi:type="dcterms:W3CDTF">2026-08-15T04:30:54Z</dcterms:modified>
</cp:coreProperties>
</file>