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embeddedFontLst>
    <p:embeddedFont>
      <p:font typeface="Inter Bold"/>
      <p:regular r:id="rId201314"/>
    </p:embeddedFont>
    <p:embeddedFont>
      <p:font typeface="Inter"/>
      <p:regular r:id="rId201315"/>
    </p:embeddedFont>
    <p:embeddedFont>
      <p:font typeface="Inter Black"/>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6F4F4"/>
          </a:solidFill>
          <a:ln/>
        </p:spPr>
      </p:sp>
      <p:sp>
        <p:nvSpPr>
          <p:cNvPr id="3" name="Shape 1"/>
          <p:cNvSpPr/>
          <p:nvPr/>
        </p:nvSpPr>
        <p:spPr>
          <a:xfrm>
            <a:off x="0" y="0"/>
            <a:ext cx="9144000" cy="5143500"/>
          </a:xfrm>
          <a:prstGeom prst="rect">
            <a:avLst/>
          </a:prstGeom>
          <a:solidFill>
            <a:srgbClr val="FFFFFF"/>
          </a:solidFill>
          <a:ln/>
        </p:spPr>
      </p:sp>
      <p:pic>
        <p:nvPicPr>
          <p:cNvPr id="4" name="Image 0" descr="preencoded.png">
            <a:hlinkClick r:id="rId2" tooltip=""/>
          </p:cNvPr>
          <p:cNvPicPr>
            <a:picLocks noChangeAspect="1"/>
          </p:cNvPicPr>
          <p:nvPr/>
        </p:nvPicPr>
        <p:blipFill>
          <a:blip r:embed="rId1"/>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image" Target="../media/image-6-1.png"/><Relationship Id="rId4" Type="http://schemas.openxmlformats.org/officeDocument/2006/relationships/image" Target="../media/image-6-2.svg"/><Relationship Id="rId5" Type="http://schemas.openxmlformats.org/officeDocument/2006/relationships/slideLayout" Target="../slideLayouts/slideLayout2.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715000" y="0"/>
            <a:ext cx="3429000" cy="5143500"/>
          </a:xfrm>
          <a:prstGeom prst="rect">
            <a:avLst/>
          </a:prstGeom>
        </p:spPr>
      </p:pic>
      <p:sp>
        <p:nvSpPr>
          <p:cNvPr id="3" name="Shape 0"/>
          <p:cNvSpPr/>
          <p:nvPr/>
        </p:nvSpPr>
        <p:spPr>
          <a:xfrm>
            <a:off x="496119" y="1306934"/>
            <a:ext cx="1411412" cy="188565"/>
          </a:xfrm>
          <a:prstGeom prst="roundRect">
            <a:avLst>
              <a:gd name="adj" fmla="val 22104"/>
            </a:avLst>
          </a:prstGeom>
          <a:solidFill>
            <a:srgbClr val="DADBF1"/>
          </a:solidFill>
          <a:ln/>
        </p:spPr>
      </p:sp>
      <p:sp>
        <p:nvSpPr>
          <p:cNvPr id="4" name="Text 1"/>
          <p:cNvSpPr/>
          <p:nvPr/>
        </p:nvSpPr>
        <p:spPr>
          <a:xfrm>
            <a:off x="570533" y="1344141"/>
            <a:ext cx="1719783" cy="114151"/>
          </a:xfrm>
          <a:prstGeom prst="rect">
            <a:avLst/>
          </a:prstGeom>
          <a:noFill/>
          <a:ln/>
        </p:spPr>
        <p:txBody>
          <a:bodyPr wrap="none" lIns="0" tIns="0" rIns="0" bIns="0" rtlCol="0" anchor="t"/>
          <a:lstStyle/>
          <a:p>
            <a:pPr algn="l" indent="0" marL="0">
              <a:lnSpc>
                <a:spcPct val="96000"/>
              </a:lnSpc>
              <a:buNone/>
            </a:pPr>
            <a:r>
              <a:rPr lang="ko-KR" altLang="en-US" sz="750" spc="-20" kern="0" dirty="0">
                <a:solidFill>
                  <a:srgbClr val="272525"/>
                </a:solidFill>
                <a:latin typeface="Inter" pitchFamily="34" charset="0"/>
                <a:ea typeface="Inter" pitchFamily="34" charset="-122"/>
                <a:cs typeface="Inter" pitchFamily="34" charset="-120"/>
              </a:rPr>
              <a:t>2026 한국부동산학회 학술논문</a:t>
            </a:r>
            <a:endParaRPr lang="ko-KR" sz="750" dirty="0"/>
          </a:p>
        </p:txBody>
      </p:sp>
      <p:sp>
        <p:nvSpPr>
          <p:cNvPr id="5" name="Text 2"/>
          <p:cNvSpPr/>
          <p:nvPr/>
        </p:nvSpPr>
        <p:spPr>
          <a:xfrm>
            <a:off x="496119" y="1545059"/>
            <a:ext cx="4722763" cy="775097"/>
          </a:xfrm>
          <a:prstGeom prst="rect">
            <a:avLst/>
          </a:prstGeom>
          <a:noFill/>
          <a:ln/>
        </p:spPr>
        <p:txBody>
          <a:bodyPr wrap="square" lIns="0" tIns="0" rIns="0" bIns="0" rtlCol="0" anchor="t">
            <a:normAutofit/>
          </a:bodyPr>
          <a:lstStyle/>
          <a:p>
            <a:pPr algn="l" indent="0" marL="0">
              <a:lnSpc>
                <a:spcPct val="104000"/>
              </a:lnSpc>
              <a:buNone/>
            </a:pPr>
            <a:r>
              <a:rPr lang="ko-KR" altLang="en-US" sz="2400" b="1" spc="-73" kern="0" dirty="0">
                <a:solidFill>
                  <a:srgbClr val="000000"/>
                </a:solidFill>
                <a:latin typeface="Inter Bold" pitchFamily="34" charset="0"/>
                <a:ea typeface="Inter Bold" pitchFamily="34" charset="-122"/>
                <a:cs typeface="Inter Bold" pitchFamily="34" charset="-120"/>
              </a:rPr>
              <a:t>CAPM에 기반한 주택시장 리스크 프리미엄 동학 분석</a:t>
            </a:r>
            <a:endParaRPr lang="ko-KR" sz="2400" dirty="0"/>
          </a:p>
        </p:txBody>
      </p:sp>
      <p:sp>
        <p:nvSpPr>
          <p:cNvPr id="6" name="Text 3"/>
          <p:cNvSpPr/>
          <p:nvPr/>
        </p:nvSpPr>
        <p:spPr>
          <a:xfrm>
            <a:off x="496119" y="2506191"/>
            <a:ext cx="4722763" cy="1330300"/>
          </a:xfrm>
          <a:prstGeom prst="rect">
            <a:avLst/>
          </a:prstGeom>
          <a:noFill/>
          <a:ln/>
        </p:spPr>
        <p:txBody>
          <a:bodyPr wrap="square" lIns="0" tIns="0" rIns="0" bIns="0" rtlCol="0" anchor="t">
            <a:normAutofit/>
          </a:bodyPr>
          <a:lstStyle/>
          <a:p>
            <a:pPr algn="l" indent="0" marL="0">
              <a:lnSpc>
                <a:spcPct val="133000"/>
              </a:lnSpc>
              <a:spcAft>
                <a:spcPts val="1050"/>
              </a:spcAft>
              <a:buNone/>
            </a:pPr>
            <a:r>
              <a:rPr lang="ko-KR" altLang="en-US" sz="950" spc="-20" kern="0" dirty="0">
                <a:solidFill>
                  <a:srgbClr val="272525"/>
                </a:solidFill>
                <a:latin typeface="Inter" pitchFamily="34" charset="0"/>
                <a:ea typeface="Inter" pitchFamily="34" charset="-122"/>
                <a:cs typeface="Inter" pitchFamily="34" charset="-120"/>
              </a:rPr>
              <a:t>EGARCH-in-Mean 모형을 이용하여 — 김진호(고려대학교 박사과정) · 서병선(고려대학교 교수)</a:t>
            </a:r>
            <a:endParaRPr lang="ko-KR" sz="950" dirty="0"/>
          </a:p>
          <a:p>
            <a:pPr algn="l" indent="0" marL="0">
              <a:lnSpc>
                <a:spcPct val="133000"/>
              </a:lnSpc>
              <a:buNone/>
            </a:pPr>
            <a:r>
              <a:rPr lang="ko-KR" altLang="en-US" sz="950" spc="-20" kern="0" dirty="0">
                <a:solidFill>
                  <a:srgbClr val="272525"/>
                </a:solidFill>
                <a:latin typeface="Inter" pitchFamily="34" charset="0"/>
                <a:ea typeface="Inter" pitchFamily="34" charset="-122"/>
                <a:cs typeface="Inter" pitchFamily="34" charset="-120"/>
              </a:rPr>
              <a:t>본 연구는 CAPM 기반 EGARCH-in-Mean 모형을 활용하여 2003년 11월~2025년 12월 월별 아파트 매매가격지수를 분석한다. 시장포트폴리오를 금융자산(24.2%)과 주택 실물자산(75.8%)의 가계 자산비중으로 가중 구성하며, 전국·서울·수도권·5대광역시를 대상으로 체계적 위험과 리스크 프리미엄의 동태적 특성을 실증적으로 규명한다.</a:t>
            </a:r>
            <a:endParaRPr lang="ko-KR" sz="9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96119" y="1218679"/>
            <a:ext cx="8151763" cy="387548"/>
          </a:xfrm>
          <a:prstGeom prst="rect">
            <a:avLst/>
          </a:prstGeom>
          <a:noFill/>
          <a:ln/>
        </p:spPr>
        <p:txBody>
          <a:bodyPr wrap="none" lIns="0" tIns="0" rIns="0" bIns="0" rtlCol="0" anchor="t"/>
          <a:lstStyle/>
          <a:p>
            <a:pPr algn="l" indent="0" marL="0">
              <a:lnSpc>
                <a:spcPct val="104000"/>
              </a:lnSpc>
              <a:buNone/>
            </a:pPr>
            <a:r>
              <a:rPr lang="ko-KR" altLang="en-US" sz="2400" b="1" spc="-73" kern="0" dirty="0">
                <a:solidFill>
                  <a:srgbClr val="000000"/>
                </a:solidFill>
                <a:latin typeface="Inter Bold" pitchFamily="34" charset="0"/>
                <a:ea typeface="Inter Bold" pitchFamily="34" charset="-122"/>
                <a:cs typeface="Inter Bold" pitchFamily="34" charset="-120"/>
              </a:rPr>
              <a:t>서론: 왜 주택시장을 자산시장으로 분석해야 하는가?</a:t>
            </a:r>
            <a:endParaRPr lang="ko-KR" sz="2400" dirty="0"/>
          </a:p>
        </p:txBody>
      </p:sp>
      <p:sp>
        <p:nvSpPr>
          <p:cNvPr id="3" name="Shape 1"/>
          <p:cNvSpPr/>
          <p:nvPr/>
        </p:nvSpPr>
        <p:spPr>
          <a:xfrm>
            <a:off x="496119" y="1792263"/>
            <a:ext cx="2634555" cy="2132484"/>
          </a:xfrm>
          <a:prstGeom prst="roundRect">
            <a:avLst>
              <a:gd name="adj" fmla="val 2443"/>
            </a:avLst>
          </a:prstGeom>
          <a:solidFill>
            <a:srgbClr val="FFFFFF"/>
          </a:solidFill>
          <a:ln w="14288">
            <a:solidFill>
              <a:srgbClr val="C0C1D7"/>
            </a:solidFill>
            <a:prstDash val="solid"/>
          </a:ln>
        </p:spPr>
      </p:sp>
      <p:sp>
        <p:nvSpPr>
          <p:cNvPr id="4" name="Text 2"/>
          <p:cNvSpPr/>
          <p:nvPr/>
        </p:nvSpPr>
        <p:spPr>
          <a:xfrm>
            <a:off x="634380" y="1930524"/>
            <a:ext cx="2358033" cy="193849"/>
          </a:xfrm>
          <a:prstGeom prst="rect">
            <a:avLst/>
          </a:prstGeom>
          <a:noFill/>
          <a:ln/>
        </p:spPr>
        <p:txBody>
          <a:bodyPr wrap="none" lIns="0" tIns="0" rIns="0" bIns="0" rtlCol="0" anchor="t"/>
          <a:lstStyle/>
          <a:p>
            <a:pPr algn="l" indent="0" marL="0">
              <a:lnSpc>
                <a:spcPct val="104000"/>
              </a:lnSpc>
              <a:buNone/>
            </a:pPr>
            <a:r>
              <a:rPr lang="ko-KR" altLang="en-US" sz="1200" b="1" spc="-37" kern="0" dirty="0">
                <a:solidFill>
                  <a:srgbClr val="272525"/>
                </a:solidFill>
                <a:latin typeface="Inter Bold" pitchFamily="34" charset="0"/>
                <a:ea typeface="Inter Bold" pitchFamily="34" charset="-122"/>
                <a:cs typeface="Inter Bold" pitchFamily="34" charset="-120"/>
              </a:rPr>
              <a:t>주택시장의 이중적 성격</a:t>
            </a:r>
            <a:endParaRPr lang="ko-KR" sz="1200" dirty="0"/>
          </a:p>
        </p:txBody>
      </p:sp>
      <p:sp>
        <p:nvSpPr>
          <p:cNvPr id="5" name="Text 3"/>
          <p:cNvSpPr/>
          <p:nvPr/>
        </p:nvSpPr>
        <p:spPr>
          <a:xfrm>
            <a:off x="634380" y="2198787"/>
            <a:ext cx="2358033" cy="1587698"/>
          </a:xfrm>
          <a:prstGeom prst="rect">
            <a:avLst/>
          </a:prstGeom>
          <a:noFill/>
          <a:ln/>
        </p:spPr>
        <p:txBody>
          <a:bodyPr wrap="square" lIns="0" tIns="0" rIns="0" bIns="0" rtlCol="0" anchor="t">
            <a:normAutofit/>
          </a:bodyPr>
          <a:lstStyle/>
          <a:p>
            <a:pPr algn="l" indent="0" marL="0">
              <a:lnSpc>
                <a:spcPct val="133000"/>
              </a:lnSpc>
              <a:buNone/>
            </a:pPr>
            <a:r>
              <a:rPr lang="ko-KR" altLang="en-US" sz="950" spc="-20" kern="0" dirty="0">
                <a:solidFill>
                  <a:srgbClr val="272525"/>
                </a:solidFill>
                <a:latin typeface="Inter" pitchFamily="34" charset="0"/>
                <a:ea typeface="Inter" pitchFamily="34" charset="-122"/>
                <a:cs typeface="Inter" pitchFamily="34" charset="-120"/>
              </a:rPr>
              <a:t>주택시장은 전통적으로 거주와 소비의 기능을 수행하는 내구재 시장으로 이해되어 왔으나, 최근에는 실물자산 투자 및 자산축적 수단으로 인식되면서 금융시장과의 연계성에 대한 관심이 확대되고 있다. 한국은 가계자산에서 부동산이 차지하는 비중이 높은 국가로, 주택가격 변동은 소비·투자·신용시장뿐만 아니라 거시경제 전반에 영향을 미치는 중요한 요인으로 작용한다.</a:t>
            </a:r>
            <a:endParaRPr lang="ko-KR" sz="950" dirty="0"/>
          </a:p>
        </p:txBody>
      </p:sp>
      <p:sp>
        <p:nvSpPr>
          <p:cNvPr id="6" name="Shape 4"/>
          <p:cNvSpPr/>
          <p:nvPr/>
        </p:nvSpPr>
        <p:spPr>
          <a:xfrm>
            <a:off x="3254648" y="1792263"/>
            <a:ext cx="2634630" cy="2132484"/>
          </a:xfrm>
          <a:prstGeom prst="roundRect">
            <a:avLst>
              <a:gd name="adj" fmla="val 2443"/>
            </a:avLst>
          </a:prstGeom>
          <a:solidFill>
            <a:srgbClr val="FFFFFF"/>
          </a:solidFill>
          <a:ln w="14288">
            <a:solidFill>
              <a:srgbClr val="C0C1D7"/>
            </a:solidFill>
            <a:prstDash val="solid"/>
          </a:ln>
        </p:spPr>
      </p:sp>
      <p:sp>
        <p:nvSpPr>
          <p:cNvPr id="7" name="Text 5"/>
          <p:cNvSpPr/>
          <p:nvPr/>
        </p:nvSpPr>
        <p:spPr>
          <a:xfrm>
            <a:off x="3392909" y="1930524"/>
            <a:ext cx="2358107" cy="193849"/>
          </a:xfrm>
          <a:prstGeom prst="rect">
            <a:avLst/>
          </a:prstGeom>
          <a:noFill/>
          <a:ln/>
        </p:spPr>
        <p:txBody>
          <a:bodyPr wrap="none" lIns="0" tIns="0" rIns="0" bIns="0" rtlCol="0" anchor="t"/>
          <a:lstStyle/>
          <a:p>
            <a:pPr algn="l" indent="0" marL="0">
              <a:lnSpc>
                <a:spcPct val="104000"/>
              </a:lnSpc>
              <a:buNone/>
            </a:pPr>
            <a:r>
              <a:rPr lang="ko-KR" altLang="en-US" sz="1200" b="1" spc="-37" kern="0" dirty="0">
                <a:solidFill>
                  <a:srgbClr val="272525"/>
                </a:solidFill>
                <a:latin typeface="Inter Bold" pitchFamily="34" charset="0"/>
                <a:ea typeface="Inter Bold" pitchFamily="34" charset="-122"/>
                <a:cs typeface="Inter Bold" pitchFamily="34" charset="-120"/>
              </a:rPr>
              <a:t>기존 연구의 한계</a:t>
            </a:r>
            <a:endParaRPr lang="ko-KR" sz="1200" dirty="0"/>
          </a:p>
        </p:txBody>
      </p:sp>
      <p:sp>
        <p:nvSpPr>
          <p:cNvPr id="8" name="Text 6"/>
          <p:cNvSpPr/>
          <p:nvPr/>
        </p:nvSpPr>
        <p:spPr>
          <a:xfrm>
            <a:off x="3392909" y="2198787"/>
            <a:ext cx="2358107" cy="1389236"/>
          </a:xfrm>
          <a:prstGeom prst="rect">
            <a:avLst/>
          </a:prstGeom>
          <a:noFill/>
          <a:ln/>
        </p:spPr>
        <p:txBody>
          <a:bodyPr wrap="square" lIns="0" tIns="0" rIns="0" bIns="0" rtlCol="0" anchor="t">
            <a:normAutofit/>
          </a:bodyPr>
          <a:lstStyle/>
          <a:p>
            <a:pPr algn="l" indent="0" marL="0">
              <a:lnSpc>
                <a:spcPct val="133000"/>
              </a:lnSpc>
              <a:buNone/>
            </a:pPr>
            <a:r>
              <a:rPr lang="ko-KR" altLang="en-US" sz="950" spc="-20" kern="0" dirty="0">
                <a:solidFill>
                  <a:srgbClr val="272525"/>
                </a:solidFill>
                <a:latin typeface="Inter" pitchFamily="34" charset="0"/>
                <a:ea typeface="Inter" pitchFamily="34" charset="-122"/>
                <a:cs typeface="Inter" pitchFamily="34" charset="-120"/>
              </a:rPr>
              <a:t>기존 연구는 ①시장포트폴리오를 주식시장 수익률로 단순 대체하여 주택자산의 특성을 충분히 반영하지 못했고, ②정태적(static) CAPM 가정을 전제로 하여 금융위기·정책 충격 시 리스크 프리미엄의 동태적 조정을 설명하지 못했으며, ③전국·수도권·서울 등 지역별 이질성을 체계적으로 비교한 연구가 부족하였다.</a:t>
            </a:r>
            <a:endParaRPr lang="ko-KR" sz="950" dirty="0"/>
          </a:p>
        </p:txBody>
      </p:sp>
      <p:sp>
        <p:nvSpPr>
          <p:cNvPr id="9" name="Shape 7"/>
          <p:cNvSpPr/>
          <p:nvPr/>
        </p:nvSpPr>
        <p:spPr>
          <a:xfrm>
            <a:off x="6013252" y="1792263"/>
            <a:ext cx="2634555" cy="2132484"/>
          </a:xfrm>
          <a:prstGeom prst="roundRect">
            <a:avLst>
              <a:gd name="adj" fmla="val 2443"/>
            </a:avLst>
          </a:prstGeom>
          <a:solidFill>
            <a:srgbClr val="FFFFFF"/>
          </a:solidFill>
          <a:ln w="14288">
            <a:solidFill>
              <a:srgbClr val="C0C1D7"/>
            </a:solidFill>
            <a:prstDash val="solid"/>
          </a:ln>
        </p:spPr>
      </p:sp>
      <p:sp>
        <p:nvSpPr>
          <p:cNvPr id="10" name="Text 8"/>
          <p:cNvSpPr/>
          <p:nvPr/>
        </p:nvSpPr>
        <p:spPr>
          <a:xfrm>
            <a:off x="6151513" y="1930524"/>
            <a:ext cx="2358033" cy="193849"/>
          </a:xfrm>
          <a:prstGeom prst="rect">
            <a:avLst/>
          </a:prstGeom>
          <a:noFill/>
          <a:ln/>
        </p:spPr>
        <p:txBody>
          <a:bodyPr wrap="none" lIns="0" tIns="0" rIns="0" bIns="0" rtlCol="0" anchor="t"/>
          <a:lstStyle/>
          <a:p>
            <a:pPr algn="l" indent="0" marL="0">
              <a:lnSpc>
                <a:spcPct val="104000"/>
              </a:lnSpc>
              <a:buNone/>
            </a:pPr>
            <a:r>
              <a:rPr lang="ko-KR" altLang="en-US" sz="1200" b="1" spc="-37" kern="0" dirty="0">
                <a:solidFill>
                  <a:srgbClr val="272525"/>
                </a:solidFill>
                <a:latin typeface="Inter Bold" pitchFamily="34" charset="0"/>
                <a:ea typeface="Inter Bold" pitchFamily="34" charset="-122"/>
                <a:cs typeface="Inter Bold" pitchFamily="34" charset="-120"/>
              </a:rPr>
              <a:t>본 연구의 기여</a:t>
            </a:r>
            <a:endParaRPr lang="ko-KR" sz="1200" dirty="0"/>
          </a:p>
        </p:txBody>
      </p:sp>
      <p:sp>
        <p:nvSpPr>
          <p:cNvPr id="11" name="Text 9"/>
          <p:cNvSpPr/>
          <p:nvPr/>
        </p:nvSpPr>
        <p:spPr>
          <a:xfrm>
            <a:off x="6151513" y="2198787"/>
            <a:ext cx="2358033" cy="1190774"/>
          </a:xfrm>
          <a:prstGeom prst="rect">
            <a:avLst/>
          </a:prstGeom>
          <a:noFill/>
          <a:ln/>
        </p:spPr>
        <p:txBody>
          <a:bodyPr wrap="square" lIns="0" tIns="0" rIns="0" bIns="0" rtlCol="0" anchor="t">
            <a:normAutofit/>
          </a:bodyPr>
          <a:lstStyle/>
          <a:p>
            <a:pPr algn="l" indent="0" marL="0">
              <a:lnSpc>
                <a:spcPct val="133000"/>
              </a:lnSpc>
              <a:buNone/>
            </a:pPr>
            <a:r>
              <a:rPr lang="ko-KR" altLang="en-US" sz="950" spc="-20" kern="0" dirty="0">
                <a:solidFill>
                  <a:srgbClr val="272525"/>
                </a:solidFill>
                <a:latin typeface="Inter" pitchFamily="34" charset="0"/>
                <a:ea typeface="Inter" pitchFamily="34" charset="-122"/>
                <a:cs typeface="Inter" pitchFamily="34" charset="-120"/>
              </a:rPr>
              <a:t>①가계 자산구성을 반영한 확장된 시장포트폴리오 제시, ②EGARCH-in-Mean 모형으로 시간가변적 리스크 프리미엄과 비대칭 변동성 동시 분석, ③지역별 시장구조 비교를 통한 한국 주택시장의 금융연계성과 지역 이질성 실증적 규명</a:t>
            </a:r>
            <a:endParaRPr lang="ko-KR"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96119" y="632892"/>
            <a:ext cx="8151763" cy="387548"/>
          </a:xfrm>
          <a:prstGeom prst="rect">
            <a:avLst/>
          </a:prstGeom>
          <a:noFill/>
          <a:ln/>
        </p:spPr>
        <p:txBody>
          <a:bodyPr wrap="none" lIns="0" tIns="0" rIns="0" bIns="0" rtlCol="0" anchor="t"/>
          <a:lstStyle/>
          <a:p>
            <a:pPr algn="l" indent="0" marL="0">
              <a:lnSpc>
                <a:spcPct val="104000"/>
              </a:lnSpc>
              <a:buNone/>
            </a:pPr>
            <a:r>
              <a:rPr lang="ko-KR" altLang="en-US" sz="2400" b="1" spc="-73" kern="0" dirty="0">
                <a:solidFill>
                  <a:srgbClr val="000000"/>
                </a:solidFill>
                <a:latin typeface="Inter Bold" pitchFamily="34" charset="0"/>
                <a:ea typeface="Inter Bold" pitchFamily="34" charset="-122"/>
                <a:cs typeface="Inter Bold" pitchFamily="34" charset="-120"/>
              </a:rPr>
              <a:t>이론적 배경: CAPM과 EGARCH-in-Mean 모형</a:t>
            </a:r>
            <a:endParaRPr lang="ko-KR" sz="2400" dirty="0"/>
          </a:p>
        </p:txBody>
      </p:sp>
      <p:sp>
        <p:nvSpPr>
          <p:cNvPr id="3" name="Shape 1"/>
          <p:cNvSpPr/>
          <p:nvPr/>
        </p:nvSpPr>
        <p:spPr>
          <a:xfrm>
            <a:off x="406822" y="1206475"/>
            <a:ext cx="4103191" cy="3304133"/>
          </a:xfrm>
          <a:prstGeom prst="roundRect">
            <a:avLst>
              <a:gd name="adj" fmla="val 2703"/>
            </a:avLst>
          </a:prstGeom>
          <a:solidFill>
            <a:srgbClr val="4950BC"/>
          </a:solidFill>
          <a:ln/>
        </p:spPr>
      </p:sp>
      <p:sp>
        <p:nvSpPr>
          <p:cNvPr id="4" name="Text 2"/>
          <p:cNvSpPr/>
          <p:nvPr/>
        </p:nvSpPr>
        <p:spPr>
          <a:xfrm>
            <a:off x="530796" y="1330449"/>
            <a:ext cx="3855244" cy="193849"/>
          </a:xfrm>
          <a:prstGeom prst="rect">
            <a:avLst/>
          </a:prstGeom>
          <a:noFill/>
          <a:ln/>
        </p:spPr>
        <p:txBody>
          <a:bodyPr wrap="none" lIns="0" tIns="0" rIns="0" bIns="0" rtlCol="0" anchor="t"/>
          <a:lstStyle/>
          <a:p>
            <a:pPr algn="l" indent="0" marL="0">
              <a:lnSpc>
                <a:spcPct val="104000"/>
              </a:lnSpc>
              <a:buNone/>
            </a:pPr>
            <a:r>
              <a:rPr lang="ko-KR" altLang="en-US" sz="1200" b="1" spc="-37" kern="0" dirty="0">
                <a:solidFill>
                  <a:srgbClr val="FFFFFF"/>
                </a:solidFill>
                <a:latin typeface="Inter Bold" pitchFamily="34" charset="0"/>
                <a:ea typeface="Inter Bold" pitchFamily="34" charset="-122"/>
                <a:cs typeface="Inter Bold" pitchFamily="34" charset="-120"/>
              </a:rPr>
              <a:t>CAPM의 주택시장 적용</a:t>
            </a:r>
            <a:endParaRPr lang="ko-KR" sz="1200" dirty="0"/>
          </a:p>
        </p:txBody>
      </p:sp>
      <p:sp>
        <p:nvSpPr>
          <p:cNvPr id="5" name="Text 3"/>
          <p:cNvSpPr/>
          <p:nvPr/>
        </p:nvSpPr>
        <p:spPr>
          <a:xfrm>
            <a:off x="530796" y="1648271"/>
            <a:ext cx="3855244" cy="595387"/>
          </a:xfrm>
          <a:prstGeom prst="rect">
            <a:avLst/>
          </a:prstGeom>
          <a:noFill/>
          <a:ln/>
        </p:spPr>
        <p:txBody>
          <a:bodyPr wrap="square" lIns="0" tIns="0" rIns="0" bIns="0" rtlCol="0" anchor="t">
            <a:normAutofit/>
          </a:bodyPr>
          <a:lstStyle/>
          <a:p>
            <a:pPr algn="l" indent="0" marL="0">
              <a:lnSpc>
                <a:spcPct val="133000"/>
              </a:lnSpc>
              <a:buNone/>
            </a:pPr>
            <a:r>
              <a:rPr lang="ko-KR" altLang="en-US" sz="950" spc="-20" kern="0" dirty="0">
                <a:solidFill>
                  <a:srgbClr val="FFFFFF"/>
                </a:solidFill>
                <a:latin typeface="Inter" pitchFamily="34" charset="0"/>
                <a:ea typeface="Inter" pitchFamily="34" charset="-122"/>
                <a:cs typeface="Inter" pitchFamily="34" charset="-120"/>
              </a:rPr>
              <a:t>Sharpe(1964)와 Lintner(1965)의 CAPM은 개별 자산의 기대초과수익률이 시장포트폴리오에 대한 체계적 위험(β)에 의해 결정된다고 제시한다. 주택시장에 적용하면:</a:t>
            </a:r>
            <a:endParaRPr lang="ko-KR" sz="950" dirty="0"/>
          </a:p>
        </p:txBody>
      </p:sp>
      <p:sp>
        <p:nvSpPr>
          <p:cNvPr id="6" name="Text 4"/>
          <p:cNvSpPr/>
          <p:nvPr/>
        </p:nvSpPr>
        <p:spPr>
          <a:xfrm>
            <a:off x="530796" y="2400598"/>
            <a:ext cx="4312444" cy="216843"/>
          </a:xfrm>
          <a:prstGeom prst="rect">
            <a:avLst/>
          </a:prstGeom>
          <a:noFill/>
          <a:ln/>
        </p:spPr>
        <p:txBody>
          <a:bodyPr wrap="none" lIns="0" tIns="0" rIns="0" bIns="0" rtlCol="0" anchor="t"/>
          <a:lstStyle/>
          <a:p>
            <a:pPr algn="l" indent="0" marL="0">
              <a:lnSpc>
                <a:spcPct val="133000"/>
              </a:lnSpc>
              <a:buNone/>
            </a:pPr>
            <a:endParaRPr lang="en-US" sz="1050" dirty="0"/>
          </a:p>
        </p:txBody>
      </p:sp>
      <p:pic>
        <p:nvPicPr>
          <p:cNvPr id="7" name="Image 0" descr="preencoded.png">    </p:cNvPr>
          <p:cNvPicPr>
            <a:picLocks noChangeAspect="1"/>
          </p:cNvPicPr>
          <p:nvPr/>
        </p:nvPicPr>
        <p:blipFill>
          <a:blip r:embed="rId1"/>
          <a:stretch>
            <a:fillRect/>
          </a:stretch>
        </p:blipFill>
        <p:spPr>
          <a:xfrm>
            <a:off x="530796" y="2400598"/>
            <a:ext cx="3855244" cy="216843"/>
          </a:xfrm>
          <a:prstGeom prst="rect">
            <a:avLst/>
          </a:prstGeom>
        </p:spPr>
      </p:pic>
      <p:sp>
        <p:nvSpPr>
          <p:cNvPr id="8" name="Text 5"/>
          <p:cNvSpPr/>
          <p:nvPr/>
        </p:nvSpPr>
        <p:spPr>
          <a:xfrm>
            <a:off x="530796" y="2774379"/>
            <a:ext cx="3855244" cy="595387"/>
          </a:xfrm>
          <a:prstGeom prst="rect">
            <a:avLst/>
          </a:prstGeom>
          <a:noFill/>
          <a:ln/>
        </p:spPr>
        <p:txBody>
          <a:bodyPr wrap="square" lIns="0" tIns="0" rIns="0" bIns="0" rtlCol="0" anchor="t">
            <a:normAutofit/>
          </a:bodyPr>
          <a:lstStyle/>
          <a:p>
            <a:pPr algn="l" indent="0" marL="0">
              <a:lnSpc>
                <a:spcPct val="133000"/>
              </a:lnSpc>
              <a:buNone/>
            </a:pPr>
            <a:r>
              <a:rPr lang="ko-KR" altLang="en-US" sz="950" spc="-20" kern="0" dirty="0">
                <a:solidFill>
                  <a:srgbClr val="FFFFFF"/>
                </a:solidFill>
                <a:latin typeface="Inter" pitchFamily="34" charset="0"/>
                <a:ea typeface="Inter" pitchFamily="34" charset="-122"/>
                <a:cs typeface="Inter" pitchFamily="34" charset="-120"/>
              </a:rPr>
              <a:t>Roll(1977)은 주가지수를 시장포트폴리오 대리변수로 사용할 경우 이론적 CAPM과 괴리가 발생할 수 있음을 지적하였다. 이에 따라 본 연구는 KOSPI 수익률과 아파트 매매가격지수 수익률을 가계 자산비중으로 가중한다:</a:t>
            </a:r>
            <a:endParaRPr lang="ko-KR" sz="950" dirty="0"/>
          </a:p>
        </p:txBody>
      </p:sp>
      <p:sp>
        <p:nvSpPr>
          <p:cNvPr id="9" name="Text 6"/>
          <p:cNvSpPr/>
          <p:nvPr/>
        </p:nvSpPr>
        <p:spPr>
          <a:xfrm>
            <a:off x="530796" y="3526706"/>
            <a:ext cx="4312444" cy="216843"/>
          </a:xfrm>
          <a:prstGeom prst="rect">
            <a:avLst/>
          </a:prstGeom>
          <a:noFill/>
          <a:ln/>
        </p:spPr>
        <p:txBody>
          <a:bodyPr wrap="none" lIns="0" tIns="0" rIns="0" bIns="0" rtlCol="0" anchor="t"/>
          <a:lstStyle/>
          <a:p>
            <a:pPr algn="l" indent="0" marL="0">
              <a:lnSpc>
                <a:spcPct val="133000"/>
              </a:lnSpc>
              <a:buNone/>
            </a:pPr>
            <a:endParaRPr lang="en-US" sz="1050" dirty="0"/>
          </a:p>
        </p:txBody>
      </p:sp>
      <p:pic>
        <p:nvPicPr>
          <p:cNvPr id="10" name="Image 1" descr="preencoded.png">    </p:cNvPr>
          <p:cNvPicPr>
            <a:picLocks noChangeAspect="1"/>
          </p:cNvPicPr>
          <p:nvPr/>
        </p:nvPicPr>
        <p:blipFill>
          <a:blip r:embed="rId2"/>
          <a:stretch>
            <a:fillRect/>
          </a:stretch>
        </p:blipFill>
        <p:spPr>
          <a:xfrm>
            <a:off x="530796" y="3526706"/>
            <a:ext cx="3855244" cy="216843"/>
          </a:xfrm>
          <a:prstGeom prst="rect">
            <a:avLst/>
          </a:prstGeom>
        </p:spPr>
      </p:pic>
      <p:sp>
        <p:nvSpPr>
          <p:cNvPr id="11" name="Text 7"/>
          <p:cNvSpPr/>
          <p:nvPr/>
        </p:nvSpPr>
        <p:spPr>
          <a:xfrm>
            <a:off x="4728046" y="1330449"/>
            <a:ext cx="3924598" cy="193849"/>
          </a:xfrm>
          <a:prstGeom prst="rect">
            <a:avLst/>
          </a:prstGeom>
          <a:noFill/>
          <a:ln/>
        </p:spPr>
        <p:txBody>
          <a:bodyPr wrap="none" lIns="0" tIns="0" rIns="0" bIns="0" rtlCol="0" anchor="t"/>
          <a:lstStyle/>
          <a:p>
            <a:pPr algn="l" indent="0" marL="0">
              <a:lnSpc>
                <a:spcPct val="104000"/>
              </a:lnSpc>
              <a:buNone/>
            </a:pPr>
            <a:r>
              <a:rPr lang="ko-KR" altLang="en-US" sz="1200" b="1" spc="-37" kern="0" dirty="0">
                <a:solidFill>
                  <a:srgbClr val="000000"/>
                </a:solidFill>
                <a:latin typeface="Inter Bold" pitchFamily="34" charset="0"/>
                <a:ea typeface="Inter Bold" pitchFamily="34" charset="-122"/>
                <a:cs typeface="Inter Bold" pitchFamily="34" charset="-120"/>
              </a:rPr>
              <a:t>EGARCH-in-Mean 모형의 구조</a:t>
            </a:r>
            <a:endParaRPr lang="ko-KR" sz="1200" dirty="0"/>
          </a:p>
        </p:txBody>
      </p:sp>
      <p:sp>
        <p:nvSpPr>
          <p:cNvPr id="12" name="Text 8"/>
          <p:cNvSpPr/>
          <p:nvPr/>
        </p:nvSpPr>
        <p:spPr>
          <a:xfrm>
            <a:off x="4728046" y="1648271"/>
            <a:ext cx="3924598" cy="707008"/>
          </a:xfrm>
          <a:prstGeom prst="rect">
            <a:avLst/>
          </a:prstGeom>
          <a:noFill/>
          <a:ln/>
        </p:spPr>
        <p:txBody>
          <a:bodyPr wrap="square" lIns="0" tIns="0" rIns="0" bIns="0" rtlCol="0" anchor="t">
            <a:normAutofit/>
          </a:bodyPr>
          <a:lstStyle/>
          <a:p>
            <a:pPr algn="l" indent="0" marL="0">
              <a:lnSpc>
                <a:spcPct val="133000"/>
              </a:lnSpc>
              <a:spcAft>
                <a:spcPts val="850"/>
              </a:spcAft>
              <a:buNone/>
            </a:pPr>
            <a:r>
              <a:rPr lang="ko-KR" altLang="en-US" sz="950" spc="-20" kern="0" dirty="0">
                <a:solidFill>
                  <a:srgbClr val="272525"/>
                </a:solidFill>
                <a:latin typeface="Inter" pitchFamily="34" charset="0"/>
                <a:ea typeface="Inter" pitchFamily="34" charset="-122"/>
                <a:cs typeface="Inter" pitchFamily="34" charset="-120"/>
              </a:rPr>
              <a:t>Engle et al.(1987)의 ARCH-in-Mean 구조와 Nelson(1991)의 EGARCH 모형을 결합하여 조건부 변동성이 기대수익률에 미치는 영향을 분석한다.</a:t>
            </a:r>
            <a:endParaRPr lang="ko-KR" sz="950" dirty="0"/>
          </a:p>
          <a:p>
            <a:pPr algn="l" indent="0" marL="0">
              <a:lnSpc>
                <a:spcPct val="133000"/>
              </a:lnSpc>
              <a:buNone/>
            </a:pPr>
            <a:r>
              <a:rPr lang="ko-KR" altLang="en-US" sz="950" b="1" spc="-20" kern="0" dirty="0">
                <a:solidFill>
                  <a:srgbClr val="272525"/>
                </a:solidFill>
                <a:latin typeface="Inter Bold" pitchFamily="34" charset="0"/>
                <a:ea typeface="Inter Bold" pitchFamily="34" charset="-122"/>
                <a:cs typeface="Inter Bold" pitchFamily="34" charset="-120"/>
              </a:rPr>
              <a:t>평균방정식:</a:t>
            </a:r>
            <a:endParaRPr lang="ko-KR" sz="950" dirty="0"/>
          </a:p>
        </p:txBody>
      </p:sp>
      <p:sp>
        <p:nvSpPr>
          <p:cNvPr id="13" name="Text 9"/>
          <p:cNvSpPr/>
          <p:nvPr/>
        </p:nvSpPr>
        <p:spPr>
          <a:xfrm>
            <a:off x="4728046" y="2512219"/>
            <a:ext cx="4381798" cy="216843"/>
          </a:xfrm>
          <a:prstGeom prst="rect">
            <a:avLst/>
          </a:prstGeom>
          <a:noFill/>
          <a:ln/>
        </p:spPr>
        <p:txBody>
          <a:bodyPr wrap="none" lIns="0" tIns="0" rIns="0" bIns="0" rtlCol="0" anchor="t"/>
          <a:lstStyle/>
          <a:p>
            <a:pPr algn="l" indent="0" marL="0">
              <a:lnSpc>
                <a:spcPct val="133000"/>
              </a:lnSpc>
              <a:buNone/>
            </a:pPr>
            <a:endParaRPr lang="en-US" sz="1050" dirty="0"/>
          </a:p>
        </p:txBody>
      </p:sp>
      <p:pic>
        <p:nvPicPr>
          <p:cNvPr id="14" name="Image 2" descr="preencoded.png">    </p:cNvPr>
          <p:cNvPicPr>
            <a:picLocks noChangeAspect="1"/>
          </p:cNvPicPr>
          <p:nvPr/>
        </p:nvPicPr>
        <p:blipFill>
          <a:blip r:embed="rId3"/>
          <a:stretch>
            <a:fillRect/>
          </a:stretch>
        </p:blipFill>
        <p:spPr>
          <a:xfrm>
            <a:off x="4728046" y="2512219"/>
            <a:ext cx="3924598" cy="216843"/>
          </a:xfrm>
          <a:prstGeom prst="rect">
            <a:avLst/>
          </a:prstGeom>
        </p:spPr>
      </p:pic>
      <p:sp>
        <p:nvSpPr>
          <p:cNvPr id="15" name="Text 10"/>
          <p:cNvSpPr/>
          <p:nvPr/>
        </p:nvSpPr>
        <p:spPr>
          <a:xfrm>
            <a:off x="4728046" y="2886001"/>
            <a:ext cx="4381798" cy="198462"/>
          </a:xfrm>
          <a:prstGeom prst="rect">
            <a:avLst/>
          </a:prstGeom>
          <a:noFill/>
          <a:ln/>
        </p:spPr>
        <p:txBody>
          <a:bodyPr wrap="none" lIns="0" tIns="0" rIns="0" bIns="0" rtlCol="0" anchor="t"/>
          <a:lstStyle/>
          <a:p>
            <a:pPr algn="l" indent="0" marL="0">
              <a:lnSpc>
                <a:spcPct val="133000"/>
              </a:lnSpc>
              <a:buNone/>
            </a:pPr>
            <a:r>
              <a:rPr lang="ko-KR" altLang="en-US" sz="950" b="1" spc="-20" kern="0" dirty="0">
                <a:solidFill>
                  <a:srgbClr val="272525"/>
                </a:solidFill>
                <a:latin typeface="Inter Bold" pitchFamily="34" charset="0"/>
                <a:ea typeface="Inter Bold" pitchFamily="34" charset="-122"/>
                <a:cs typeface="Inter Bold" pitchFamily="34" charset="-120"/>
              </a:rPr>
              <a:t>조건부 분산방정식:</a:t>
            </a:r>
            <a:endParaRPr lang="ko-KR" sz="950" dirty="0"/>
          </a:p>
        </p:txBody>
      </p:sp>
      <p:sp>
        <p:nvSpPr>
          <p:cNvPr id="16" name="Text 11"/>
          <p:cNvSpPr/>
          <p:nvPr/>
        </p:nvSpPr>
        <p:spPr>
          <a:xfrm>
            <a:off x="4728046" y="3241402"/>
            <a:ext cx="3924598" cy="405259"/>
          </a:xfrm>
          <a:prstGeom prst="rect">
            <a:avLst/>
          </a:prstGeom>
          <a:noFill/>
          <a:ln/>
        </p:spPr>
        <p:txBody>
          <a:bodyPr wrap="square" lIns="0" tIns="0" rIns="0" bIns="0" rtlCol="0" anchor="t">
            <a:normAutofit/>
          </a:bodyPr>
          <a:lstStyle/>
          <a:p>
            <a:pPr algn="l" indent="0" marL="0">
              <a:lnSpc>
                <a:spcPct val="133000"/>
              </a:lnSpc>
              <a:buNone/>
            </a:pPr>
            <a:endParaRPr lang="en-US" sz="1050" dirty="0"/>
          </a:p>
        </p:txBody>
      </p:sp>
      <p:pic>
        <p:nvPicPr>
          <p:cNvPr id="17" name="Image 3" descr="preencoded.png">    </p:cNvPr>
          <p:cNvPicPr>
            <a:picLocks noChangeAspect="1"/>
          </p:cNvPicPr>
          <p:nvPr/>
        </p:nvPicPr>
        <p:blipFill>
          <a:blip r:embed="rId4"/>
          <a:stretch>
            <a:fillRect/>
          </a:stretch>
        </p:blipFill>
        <p:spPr>
          <a:xfrm>
            <a:off x="4728046" y="3241402"/>
            <a:ext cx="3924598" cy="405259"/>
          </a:xfrm>
          <a:prstGeom prst="rect">
            <a:avLst/>
          </a:prstGeom>
        </p:spPr>
      </p:pic>
      <p:sp>
        <p:nvSpPr>
          <p:cNvPr id="18" name="Text 12"/>
          <p:cNvSpPr/>
          <p:nvPr/>
        </p:nvSpPr>
        <p:spPr>
          <a:xfrm>
            <a:off x="4728046" y="3803600"/>
            <a:ext cx="3924598" cy="595387"/>
          </a:xfrm>
          <a:prstGeom prst="rect">
            <a:avLst/>
          </a:prstGeom>
          <a:noFill/>
          <a:ln/>
        </p:spPr>
        <p:txBody>
          <a:bodyPr wrap="square" lIns="0" tIns="0" rIns="0" bIns="0" rtlCol="0" anchor="t">
            <a:normAutofit/>
          </a:bodyPr>
          <a:lstStyle/>
          <a:p>
            <a:pPr algn="l" indent="0" marL="0">
              <a:lnSpc>
                <a:spcPct val="133000"/>
              </a:lnSpc>
              <a:buNone/>
            </a:pPr>
            <a:r>
              <a:rPr lang="ko-KR" altLang="en-US" sz="950" spc="-20" kern="0" dirty="0">
                <a:solidFill>
                  <a:srgbClr val="272525"/>
                </a:solidFill>
                <a:latin typeface="Inter" pitchFamily="34" charset="0"/>
                <a:ea typeface="Inter" pitchFamily="34" charset="-122"/>
                <a:cs typeface="Inter" pitchFamily="34" charset="-120"/>
              </a:rPr>
              <a:t>여기서 </a:t>
            </a:r>
            <a:pPr algn="l" indent="0" marL="0">
              <a:lnSpc>
                <a:spcPct val="133000"/>
              </a:lnSpc>
              <a:buNone/>
            </a:pPr>
            <a:r>
              <a:rPr lang="ko-KR" altLang="en-US" sz="950" i="1" spc="-20" kern="0" dirty="0">
                <a:solidFill>
                  <a:srgbClr val="272525"/>
                </a:solidFill>
                <a:latin typeface="Inter" pitchFamily="34" charset="0"/>
                <a:ea typeface="Inter" pitchFamily="34" charset="-122"/>
                <a:cs typeface="Inter" pitchFamily="34" charset="-120"/>
              </a:rPr>
              <a:t>\delta</a:t>
            </a:r>
            <a:pPr algn="l" indent="0" marL="0">
              <a:lnSpc>
                <a:spcPct val="133000"/>
              </a:lnSpc>
              <a:buNone/>
            </a:pPr>
            <a:r>
              <a:rPr lang="ko-KR" altLang="en-US" sz="950" spc="-20" kern="0" dirty="0">
                <a:solidFill>
                  <a:srgbClr val="272525"/>
                </a:solidFill>
                <a:latin typeface="Inter" pitchFamily="34" charset="0"/>
                <a:ea typeface="Inter" pitchFamily="34" charset="-122"/>
                <a:cs typeface="Inter" pitchFamily="34" charset="-120"/>
              </a:rPr>
              <a:t>는 변동성-리스크 프리미엄 계수, </a:t>
            </a:r>
            <a:pPr algn="l" indent="0" marL="0">
              <a:lnSpc>
                <a:spcPct val="133000"/>
              </a:lnSpc>
              <a:buNone/>
            </a:pPr>
            <a:r>
              <a:rPr lang="ko-KR" altLang="en-US" sz="950" i="1" spc="-20" kern="0" dirty="0">
                <a:solidFill>
                  <a:srgbClr val="272525"/>
                </a:solidFill>
                <a:latin typeface="Inter" pitchFamily="34" charset="0"/>
                <a:ea typeface="Inter" pitchFamily="34" charset="-122"/>
                <a:cs typeface="Inter" pitchFamily="34" charset="-120"/>
              </a:rPr>
              <a:t>\lambda</a:t>
            </a:r>
            <a:pPr algn="l" indent="0" marL="0">
              <a:lnSpc>
                <a:spcPct val="133000"/>
              </a:lnSpc>
              <a:buNone/>
            </a:pPr>
            <a:r>
              <a:rPr lang="ko-KR" altLang="en-US" sz="950" spc="-20" kern="0" dirty="0">
                <a:solidFill>
                  <a:srgbClr val="272525"/>
                </a:solidFill>
                <a:latin typeface="Inter" pitchFamily="34" charset="0"/>
                <a:ea typeface="Inter" pitchFamily="34" charset="-122"/>
                <a:cs typeface="Inter" pitchFamily="34" charset="-120"/>
              </a:rPr>
              <a:t>는 비대칭성 계수(양·음 충격의 차별적 효과), </a:t>
            </a:r>
            <a:pPr algn="l" indent="0" marL="0">
              <a:lnSpc>
                <a:spcPct val="133000"/>
              </a:lnSpc>
              <a:buNone/>
            </a:pPr>
            <a:r>
              <a:rPr lang="ko-KR" altLang="en-US" sz="950" i="1" spc="-20" kern="0" dirty="0">
                <a:solidFill>
                  <a:srgbClr val="272525"/>
                </a:solidFill>
                <a:latin typeface="Inter" pitchFamily="34" charset="0"/>
                <a:ea typeface="Inter" pitchFamily="34" charset="-122"/>
                <a:cs typeface="Inter" pitchFamily="34" charset="-120"/>
              </a:rPr>
              <a:t>\phi</a:t>
            </a:r>
            <a:pPr algn="l" indent="0" marL="0">
              <a:lnSpc>
                <a:spcPct val="133000"/>
              </a:lnSpc>
              <a:buNone/>
            </a:pPr>
            <a:r>
              <a:rPr lang="ko-KR" altLang="en-US" sz="950" spc="-20" kern="0" dirty="0">
                <a:solidFill>
                  <a:srgbClr val="272525"/>
                </a:solidFill>
                <a:latin typeface="Inter" pitchFamily="34" charset="0"/>
                <a:ea typeface="Inter" pitchFamily="34" charset="-122"/>
                <a:cs typeface="Inter" pitchFamily="34" charset="-120"/>
              </a:rPr>
              <a:t>는 변동성 지속성 계수이다. EGARCH는 로그 변환을 통해 분산의 비음수 제약을 완화하고, 비대칭적 변동성 효과를 반영할 수 있다.</a:t>
            </a:r>
            <a:endParaRPr lang="ko-KR"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96119" y="431750"/>
            <a:ext cx="8151763" cy="357336"/>
          </a:xfrm>
          <a:prstGeom prst="rect">
            <a:avLst/>
          </a:prstGeom>
          <a:noFill/>
          <a:ln/>
        </p:spPr>
        <p:txBody>
          <a:bodyPr wrap="none" lIns="0" tIns="0" rIns="0" bIns="0" rtlCol="0" anchor="t"/>
          <a:lstStyle/>
          <a:p>
            <a:pPr algn="l" indent="0" marL="0">
              <a:lnSpc>
                <a:spcPct val="104000"/>
              </a:lnSpc>
              <a:buNone/>
            </a:pPr>
            <a:r>
              <a:rPr lang="ko-KR" altLang="en-US" sz="2250" b="1" spc="-68" kern="0" dirty="0">
                <a:solidFill>
                  <a:srgbClr val="000000"/>
                </a:solidFill>
                <a:latin typeface="Inter Bold" pitchFamily="34" charset="0"/>
                <a:ea typeface="Inter Bold" pitchFamily="34" charset="-122"/>
                <a:cs typeface="Inter Bold" pitchFamily="34" charset="-120"/>
              </a:rPr>
              <a:t>분석자료 및 기초통계량</a:t>
            </a:r>
            <a:endParaRPr lang="ko-KR" sz="2250" dirty="0"/>
          </a:p>
        </p:txBody>
      </p:sp>
      <p:sp>
        <p:nvSpPr>
          <p:cNvPr id="3" name="Text 1"/>
          <p:cNvSpPr/>
          <p:nvPr/>
        </p:nvSpPr>
        <p:spPr>
          <a:xfrm>
            <a:off x="496119" y="999902"/>
            <a:ext cx="8151763" cy="351681"/>
          </a:xfrm>
          <a:prstGeom prst="rect">
            <a:avLst/>
          </a:prstGeom>
          <a:noFill/>
          <a:ln/>
        </p:spPr>
        <p:txBody>
          <a:bodyPr wrap="square" lIns="0" tIns="0" rIns="0" bIns="0" rtlCol="0" anchor="t">
            <a:normAutofit/>
          </a:bodyPr>
          <a:lstStyle/>
          <a:p>
            <a:pPr algn="l" indent="0" marL="0">
              <a:lnSpc>
                <a:spcPct val="128000"/>
              </a:lnSpc>
              <a:buNone/>
            </a:pPr>
            <a:r>
              <a:rPr lang="ko-KR" altLang="en-US" sz="900" spc="-18" kern="0" dirty="0">
                <a:solidFill>
                  <a:srgbClr val="272525"/>
                </a:solidFill>
                <a:latin typeface="Inter" pitchFamily="34" charset="0"/>
                <a:ea typeface="Inter" pitchFamily="34" charset="-122"/>
                <a:cs typeface="Inter" pitchFamily="34" charset="-120"/>
              </a:rPr>
              <a:t>한국거래소(KRX) KOSPI 주가지수와 한국부동산원 아파트 매매가격지수를 사용하였으며, 분석기간은 2003년 11월~2025년 12월이다. 무위험수익률은 국고채 3년 만기 수익률을 기준으로 하며, 모든 수익률은 로그 차분(log difference)으로 산출하였다. 표본 기간은 2005년 1월~2025년 12월이며, 전년 동월 대비 연간 로그수익률 기준으로 분석하였다.</a:t>
            </a:r>
            <a:endParaRPr lang="ko-KR" sz="900" dirty="0"/>
          </a:p>
        </p:txBody>
      </p:sp>
      <p:sp>
        <p:nvSpPr>
          <p:cNvPr id="4" name="Shape 2"/>
          <p:cNvSpPr/>
          <p:nvPr/>
        </p:nvSpPr>
        <p:spPr>
          <a:xfrm>
            <a:off x="496119" y="1470124"/>
            <a:ext cx="8151763" cy="1587922"/>
          </a:xfrm>
          <a:prstGeom prst="roundRect">
            <a:avLst>
              <a:gd name="adj" fmla="val 3025"/>
            </a:avLst>
          </a:prstGeom>
          <a:noFill/>
          <a:ln w="4763">
            <a:solidFill>
              <a:srgbClr val="000000">
                <a:alpha val="8000"/>
              </a:srgbClr>
            </a:solidFill>
            <a:prstDash val="solid"/>
          </a:ln>
        </p:spPr>
      </p:sp>
      <p:sp>
        <p:nvSpPr>
          <p:cNvPr id="5" name="Shape 3"/>
          <p:cNvSpPr/>
          <p:nvPr/>
        </p:nvSpPr>
        <p:spPr>
          <a:xfrm>
            <a:off x="496119" y="1789137"/>
            <a:ext cx="8151763" cy="7147"/>
          </a:xfrm>
          <a:prstGeom prst="rect">
            <a:avLst/>
          </a:prstGeom>
          <a:solidFill>
            <a:srgbClr val="000000">
              <a:alpha val="8000"/>
            </a:srgbClr>
          </a:solidFill>
          <a:ln/>
        </p:spPr>
      </p:sp>
      <p:sp>
        <p:nvSpPr>
          <p:cNvPr id="6" name="Shape 4"/>
          <p:cNvSpPr/>
          <p:nvPr/>
        </p:nvSpPr>
        <p:spPr>
          <a:xfrm>
            <a:off x="496119" y="2105769"/>
            <a:ext cx="8151763" cy="7147"/>
          </a:xfrm>
          <a:prstGeom prst="rect">
            <a:avLst/>
          </a:prstGeom>
          <a:solidFill>
            <a:srgbClr val="000000">
              <a:alpha val="8000"/>
            </a:srgbClr>
          </a:solidFill>
          <a:ln/>
        </p:spPr>
      </p:sp>
      <p:sp>
        <p:nvSpPr>
          <p:cNvPr id="7" name="Shape 5"/>
          <p:cNvSpPr/>
          <p:nvPr/>
        </p:nvSpPr>
        <p:spPr>
          <a:xfrm>
            <a:off x="496119" y="2422401"/>
            <a:ext cx="8151763" cy="7147"/>
          </a:xfrm>
          <a:prstGeom prst="rect">
            <a:avLst/>
          </a:prstGeom>
          <a:solidFill>
            <a:srgbClr val="000000">
              <a:alpha val="8000"/>
            </a:srgbClr>
          </a:solidFill>
          <a:ln/>
        </p:spPr>
      </p:sp>
      <p:sp>
        <p:nvSpPr>
          <p:cNvPr id="8" name="Shape 6"/>
          <p:cNvSpPr/>
          <p:nvPr/>
        </p:nvSpPr>
        <p:spPr>
          <a:xfrm>
            <a:off x="496119" y="2739033"/>
            <a:ext cx="8151763" cy="7147"/>
          </a:xfrm>
          <a:prstGeom prst="rect">
            <a:avLst/>
          </a:prstGeom>
          <a:solidFill>
            <a:srgbClr val="000000">
              <a:alpha val="8000"/>
            </a:srgbClr>
          </a:solidFill>
          <a:ln/>
        </p:spPr>
      </p:sp>
      <p:sp>
        <p:nvSpPr>
          <p:cNvPr id="9" name="Shape 7"/>
          <p:cNvSpPr/>
          <p:nvPr/>
        </p:nvSpPr>
        <p:spPr>
          <a:xfrm>
            <a:off x="2129582" y="1470124"/>
            <a:ext cx="7147" cy="1587922"/>
          </a:xfrm>
          <a:prstGeom prst="rect">
            <a:avLst/>
          </a:prstGeom>
          <a:solidFill>
            <a:srgbClr val="000000">
              <a:alpha val="8000"/>
            </a:srgbClr>
          </a:solidFill>
          <a:ln/>
        </p:spPr>
      </p:sp>
      <p:sp>
        <p:nvSpPr>
          <p:cNvPr id="10" name="Shape 8"/>
          <p:cNvSpPr/>
          <p:nvPr/>
        </p:nvSpPr>
        <p:spPr>
          <a:xfrm>
            <a:off x="3350865" y="1470124"/>
            <a:ext cx="7147" cy="1587922"/>
          </a:xfrm>
          <a:prstGeom prst="rect">
            <a:avLst/>
          </a:prstGeom>
          <a:solidFill>
            <a:srgbClr val="000000">
              <a:alpha val="8000"/>
            </a:srgbClr>
          </a:solidFill>
          <a:ln/>
        </p:spPr>
      </p:sp>
      <p:sp>
        <p:nvSpPr>
          <p:cNvPr id="11" name="Shape 9"/>
          <p:cNvSpPr/>
          <p:nvPr/>
        </p:nvSpPr>
        <p:spPr>
          <a:xfrm>
            <a:off x="4572149" y="1470124"/>
            <a:ext cx="7147" cy="1587922"/>
          </a:xfrm>
          <a:prstGeom prst="rect">
            <a:avLst/>
          </a:prstGeom>
          <a:solidFill>
            <a:srgbClr val="000000">
              <a:alpha val="8000"/>
            </a:srgbClr>
          </a:solidFill>
          <a:ln/>
        </p:spPr>
      </p:sp>
      <p:sp>
        <p:nvSpPr>
          <p:cNvPr id="12" name="Shape 10"/>
          <p:cNvSpPr/>
          <p:nvPr/>
        </p:nvSpPr>
        <p:spPr>
          <a:xfrm>
            <a:off x="5793432" y="1470124"/>
            <a:ext cx="7147" cy="1587922"/>
          </a:xfrm>
          <a:prstGeom prst="rect">
            <a:avLst/>
          </a:prstGeom>
          <a:solidFill>
            <a:srgbClr val="000000">
              <a:alpha val="8000"/>
            </a:srgbClr>
          </a:solidFill>
          <a:ln/>
        </p:spPr>
      </p:sp>
      <p:sp>
        <p:nvSpPr>
          <p:cNvPr id="13" name="Shape 11"/>
          <p:cNvSpPr/>
          <p:nvPr/>
        </p:nvSpPr>
        <p:spPr>
          <a:xfrm>
            <a:off x="7014716" y="1470124"/>
            <a:ext cx="7147" cy="1587922"/>
          </a:xfrm>
          <a:prstGeom prst="rect">
            <a:avLst/>
          </a:prstGeom>
          <a:solidFill>
            <a:srgbClr val="000000">
              <a:alpha val="8000"/>
            </a:srgbClr>
          </a:solidFill>
          <a:ln/>
        </p:spPr>
      </p:sp>
      <p:sp>
        <p:nvSpPr>
          <p:cNvPr id="14" name="Text 12"/>
          <p:cNvSpPr/>
          <p:nvPr/>
        </p:nvSpPr>
        <p:spPr>
          <a:xfrm>
            <a:off x="615479" y="1542901"/>
            <a:ext cx="1854622" cy="175840"/>
          </a:xfrm>
          <a:prstGeom prst="rect">
            <a:avLst/>
          </a:prstGeom>
          <a:noFill/>
          <a:ln/>
        </p:spPr>
        <p:txBody>
          <a:bodyPr wrap="none" lIns="0" tIns="0" rIns="0" bIns="0" rtlCol="0" anchor="t"/>
          <a:lstStyle/>
          <a:p>
            <a:pPr algn="l" indent="0" marL="0">
              <a:lnSpc>
                <a:spcPct val="128000"/>
              </a:lnSpc>
              <a:buNone/>
            </a:pPr>
            <a:r>
              <a:rPr lang="ko-KR" altLang="en-US" sz="900" b="1" spc="-18" kern="0" dirty="0">
                <a:solidFill>
                  <a:srgbClr val="272525"/>
                </a:solidFill>
                <a:latin typeface="Inter Bold" pitchFamily="34" charset="0"/>
                <a:ea typeface="Inter Bold" pitchFamily="34" charset="-122"/>
                <a:cs typeface="Inter Bold" pitchFamily="34" charset="-120"/>
              </a:rPr>
              <a:t>지역</a:t>
            </a:r>
            <a:endParaRPr lang="ko-KR" sz="900" dirty="0"/>
          </a:p>
        </p:txBody>
      </p:sp>
      <p:sp>
        <p:nvSpPr>
          <p:cNvPr id="15" name="Text 13"/>
          <p:cNvSpPr/>
          <p:nvPr/>
        </p:nvSpPr>
        <p:spPr>
          <a:xfrm>
            <a:off x="2246263" y="1542901"/>
            <a:ext cx="1445121" cy="175840"/>
          </a:xfrm>
          <a:prstGeom prst="rect">
            <a:avLst/>
          </a:prstGeom>
          <a:noFill/>
          <a:ln/>
        </p:spPr>
        <p:txBody>
          <a:bodyPr wrap="none" lIns="0" tIns="0" rIns="0" bIns="0" rtlCol="0" anchor="t"/>
          <a:lstStyle/>
          <a:p>
            <a:pPr algn="l" indent="0" marL="0">
              <a:lnSpc>
                <a:spcPct val="128000"/>
              </a:lnSpc>
              <a:buNone/>
            </a:pPr>
            <a:r>
              <a:rPr lang="ko-KR" altLang="en-US" sz="900" b="1" spc="-18" kern="0" dirty="0">
                <a:solidFill>
                  <a:srgbClr val="272525"/>
                </a:solidFill>
                <a:latin typeface="Inter Bold" pitchFamily="34" charset="0"/>
                <a:ea typeface="Inter Bold" pitchFamily="34" charset="-122"/>
                <a:cs typeface="Inter Bold" pitchFamily="34" charset="-120"/>
              </a:rPr>
              <a:t>평균</a:t>
            </a:r>
            <a:endParaRPr lang="ko-KR" sz="900" dirty="0"/>
          </a:p>
        </p:txBody>
      </p:sp>
      <p:sp>
        <p:nvSpPr>
          <p:cNvPr id="16" name="Text 14"/>
          <p:cNvSpPr/>
          <p:nvPr/>
        </p:nvSpPr>
        <p:spPr>
          <a:xfrm>
            <a:off x="3467546" y="1542901"/>
            <a:ext cx="1445121" cy="175840"/>
          </a:xfrm>
          <a:prstGeom prst="rect">
            <a:avLst/>
          </a:prstGeom>
          <a:noFill/>
          <a:ln/>
        </p:spPr>
        <p:txBody>
          <a:bodyPr wrap="none" lIns="0" tIns="0" rIns="0" bIns="0" rtlCol="0" anchor="t"/>
          <a:lstStyle/>
          <a:p>
            <a:pPr algn="l" indent="0" marL="0">
              <a:lnSpc>
                <a:spcPct val="128000"/>
              </a:lnSpc>
              <a:buNone/>
            </a:pPr>
            <a:r>
              <a:rPr lang="ko-KR" altLang="en-US" sz="900" b="1" spc="-18" kern="0" dirty="0">
                <a:solidFill>
                  <a:srgbClr val="272525"/>
                </a:solidFill>
                <a:latin typeface="Inter Bold" pitchFamily="34" charset="0"/>
                <a:ea typeface="Inter Bold" pitchFamily="34" charset="-122"/>
                <a:cs typeface="Inter Bold" pitchFamily="34" charset="-120"/>
              </a:rPr>
              <a:t>표준편차</a:t>
            </a:r>
            <a:endParaRPr lang="ko-KR" sz="900" dirty="0"/>
          </a:p>
        </p:txBody>
      </p:sp>
      <p:sp>
        <p:nvSpPr>
          <p:cNvPr id="17" name="Text 15"/>
          <p:cNvSpPr/>
          <p:nvPr/>
        </p:nvSpPr>
        <p:spPr>
          <a:xfrm>
            <a:off x="4688830" y="1542901"/>
            <a:ext cx="1445121" cy="175840"/>
          </a:xfrm>
          <a:prstGeom prst="rect">
            <a:avLst/>
          </a:prstGeom>
          <a:noFill/>
          <a:ln/>
        </p:spPr>
        <p:txBody>
          <a:bodyPr wrap="none" lIns="0" tIns="0" rIns="0" bIns="0" rtlCol="0" anchor="t"/>
          <a:lstStyle/>
          <a:p>
            <a:pPr algn="l" indent="0" marL="0">
              <a:lnSpc>
                <a:spcPct val="128000"/>
              </a:lnSpc>
              <a:buNone/>
            </a:pPr>
            <a:r>
              <a:rPr lang="ko-KR" altLang="en-US" sz="900" b="1" spc="-18" kern="0" dirty="0">
                <a:solidFill>
                  <a:srgbClr val="272525"/>
                </a:solidFill>
                <a:latin typeface="Inter Bold" pitchFamily="34" charset="0"/>
                <a:ea typeface="Inter Bold" pitchFamily="34" charset="-122"/>
                <a:cs typeface="Inter Bold" pitchFamily="34" charset="-120"/>
              </a:rPr>
              <a:t>왜도</a:t>
            </a:r>
            <a:endParaRPr lang="ko-KR" sz="900" dirty="0"/>
          </a:p>
        </p:txBody>
      </p:sp>
      <p:sp>
        <p:nvSpPr>
          <p:cNvPr id="18" name="Text 16"/>
          <p:cNvSpPr/>
          <p:nvPr/>
        </p:nvSpPr>
        <p:spPr>
          <a:xfrm>
            <a:off x="5910114" y="1542901"/>
            <a:ext cx="1445121" cy="175840"/>
          </a:xfrm>
          <a:prstGeom prst="rect">
            <a:avLst/>
          </a:prstGeom>
          <a:noFill/>
          <a:ln/>
        </p:spPr>
        <p:txBody>
          <a:bodyPr wrap="none" lIns="0" tIns="0" rIns="0" bIns="0" rtlCol="0" anchor="t"/>
          <a:lstStyle/>
          <a:p>
            <a:pPr algn="l" indent="0" marL="0">
              <a:lnSpc>
                <a:spcPct val="128000"/>
              </a:lnSpc>
              <a:buNone/>
            </a:pPr>
            <a:r>
              <a:rPr lang="ko-KR" altLang="en-US" sz="900" b="1" spc="-18" kern="0" dirty="0">
                <a:solidFill>
                  <a:srgbClr val="272525"/>
                </a:solidFill>
                <a:latin typeface="Inter Bold" pitchFamily="34" charset="0"/>
                <a:ea typeface="Inter Bold" pitchFamily="34" charset="-122"/>
                <a:cs typeface="Inter Bold" pitchFamily="34" charset="-120"/>
              </a:rPr>
              <a:t>첨도</a:t>
            </a:r>
            <a:endParaRPr lang="ko-KR" sz="900" dirty="0"/>
          </a:p>
        </p:txBody>
      </p:sp>
      <p:sp>
        <p:nvSpPr>
          <p:cNvPr id="19" name="Text 17"/>
          <p:cNvSpPr/>
          <p:nvPr/>
        </p:nvSpPr>
        <p:spPr>
          <a:xfrm>
            <a:off x="7131397" y="1542901"/>
            <a:ext cx="1854622" cy="175840"/>
          </a:xfrm>
          <a:prstGeom prst="rect">
            <a:avLst/>
          </a:prstGeom>
          <a:noFill/>
          <a:ln/>
        </p:spPr>
        <p:txBody>
          <a:bodyPr wrap="none" lIns="0" tIns="0" rIns="0" bIns="0" rtlCol="0" anchor="t"/>
          <a:lstStyle/>
          <a:p>
            <a:pPr algn="l" indent="0" marL="0">
              <a:lnSpc>
                <a:spcPct val="128000"/>
              </a:lnSpc>
              <a:buNone/>
            </a:pPr>
            <a:r>
              <a:rPr lang="ko-KR" altLang="en-US" sz="900" b="1" spc="-18" kern="0" dirty="0">
                <a:solidFill>
                  <a:srgbClr val="272525"/>
                </a:solidFill>
                <a:latin typeface="Inter Bold" pitchFamily="34" charset="0"/>
                <a:ea typeface="Inter Bold" pitchFamily="34" charset="-122"/>
                <a:cs typeface="Inter Bold" pitchFamily="34" charset="-120"/>
              </a:rPr>
              <a:t>JB 검정 (p-value)</a:t>
            </a:r>
            <a:endParaRPr lang="ko-KR" sz="900" dirty="0"/>
          </a:p>
        </p:txBody>
      </p:sp>
      <p:sp>
        <p:nvSpPr>
          <p:cNvPr id="20" name="Text 18"/>
          <p:cNvSpPr/>
          <p:nvPr/>
        </p:nvSpPr>
        <p:spPr>
          <a:xfrm>
            <a:off x="615479" y="1859533"/>
            <a:ext cx="1854622" cy="175840"/>
          </a:xfrm>
          <a:prstGeom prst="rect">
            <a:avLst/>
          </a:prstGeom>
          <a:noFill/>
          <a:ln/>
        </p:spPr>
        <p:txBody>
          <a:bodyPr wrap="none" lIns="0" tIns="0" rIns="0" bIns="0" rtlCol="0" anchor="t"/>
          <a:lstStyle/>
          <a:p>
            <a:pPr algn="l" indent="0" marL="0">
              <a:lnSpc>
                <a:spcPct val="128000"/>
              </a:lnSpc>
              <a:buNone/>
            </a:pPr>
            <a:r>
              <a:rPr lang="ko-KR" altLang="en-US" sz="900" spc="-18" kern="0" dirty="0">
                <a:solidFill>
                  <a:srgbClr val="272525"/>
                </a:solidFill>
                <a:latin typeface="Inter" pitchFamily="34" charset="0"/>
                <a:ea typeface="Inter" pitchFamily="34" charset="-122"/>
                <a:cs typeface="Inter" pitchFamily="34" charset="-120"/>
              </a:rPr>
              <a:t>전국</a:t>
            </a:r>
            <a:endParaRPr lang="ko-KR" sz="900" dirty="0"/>
          </a:p>
        </p:txBody>
      </p:sp>
      <p:sp>
        <p:nvSpPr>
          <p:cNvPr id="21" name="Text 19"/>
          <p:cNvSpPr/>
          <p:nvPr/>
        </p:nvSpPr>
        <p:spPr>
          <a:xfrm>
            <a:off x="2246263" y="1859533"/>
            <a:ext cx="1445121" cy="175840"/>
          </a:xfrm>
          <a:prstGeom prst="rect">
            <a:avLst/>
          </a:prstGeom>
          <a:noFill/>
          <a:ln/>
        </p:spPr>
        <p:txBody>
          <a:bodyPr wrap="none" lIns="0" tIns="0" rIns="0" bIns="0" rtlCol="0" anchor="t"/>
          <a:lstStyle/>
          <a:p>
            <a:pPr algn="l" indent="0" marL="0">
              <a:lnSpc>
                <a:spcPct val="128000"/>
              </a:lnSpc>
              <a:buNone/>
            </a:pPr>
            <a:r>
              <a:rPr lang="en-US" sz="900" spc="-18" kern="0" dirty="0">
                <a:solidFill>
                  <a:srgbClr val="272525"/>
                </a:solidFill>
                <a:latin typeface="Inter" pitchFamily="34" charset="0"/>
                <a:ea typeface="Inter" pitchFamily="34" charset="-122"/>
                <a:cs typeface="Inter" pitchFamily="34" charset="-120"/>
              </a:rPr>
              <a:t>2.51</a:t>
            </a:r>
            <a:endParaRPr lang="en-US" sz="900" dirty="0"/>
          </a:p>
        </p:txBody>
      </p:sp>
      <p:sp>
        <p:nvSpPr>
          <p:cNvPr id="22" name="Text 20"/>
          <p:cNvSpPr/>
          <p:nvPr/>
        </p:nvSpPr>
        <p:spPr>
          <a:xfrm>
            <a:off x="3467546" y="1859533"/>
            <a:ext cx="1445121" cy="175840"/>
          </a:xfrm>
          <a:prstGeom prst="rect">
            <a:avLst/>
          </a:prstGeom>
          <a:noFill/>
          <a:ln/>
        </p:spPr>
        <p:txBody>
          <a:bodyPr wrap="none" lIns="0" tIns="0" rIns="0" bIns="0" rtlCol="0" anchor="t"/>
          <a:lstStyle/>
          <a:p>
            <a:pPr algn="l" indent="0" marL="0">
              <a:lnSpc>
                <a:spcPct val="128000"/>
              </a:lnSpc>
              <a:buNone/>
            </a:pPr>
            <a:r>
              <a:rPr lang="en-US" sz="900" spc="-18" kern="0" dirty="0">
                <a:solidFill>
                  <a:srgbClr val="272525"/>
                </a:solidFill>
                <a:latin typeface="Inter" pitchFamily="34" charset="0"/>
                <a:ea typeface="Inter" pitchFamily="34" charset="-122"/>
                <a:cs typeface="Inter" pitchFamily="34" charset="-120"/>
              </a:rPr>
              <a:t>5.09</a:t>
            </a:r>
            <a:endParaRPr lang="en-US" sz="900" dirty="0"/>
          </a:p>
        </p:txBody>
      </p:sp>
      <p:sp>
        <p:nvSpPr>
          <p:cNvPr id="23" name="Text 21"/>
          <p:cNvSpPr/>
          <p:nvPr/>
        </p:nvSpPr>
        <p:spPr>
          <a:xfrm>
            <a:off x="4688830" y="1859533"/>
            <a:ext cx="1445121" cy="175840"/>
          </a:xfrm>
          <a:prstGeom prst="rect">
            <a:avLst/>
          </a:prstGeom>
          <a:noFill/>
          <a:ln/>
        </p:spPr>
        <p:txBody>
          <a:bodyPr wrap="none" lIns="0" tIns="0" rIns="0" bIns="0" rtlCol="0" anchor="t"/>
          <a:lstStyle/>
          <a:p>
            <a:pPr algn="l" indent="0" marL="0">
              <a:lnSpc>
                <a:spcPct val="128000"/>
              </a:lnSpc>
              <a:buNone/>
            </a:pPr>
            <a:r>
              <a:rPr lang="en-US" sz="900" spc="-18" kern="0" dirty="0">
                <a:solidFill>
                  <a:srgbClr val="272525"/>
                </a:solidFill>
                <a:latin typeface="Inter" pitchFamily="34" charset="0"/>
                <a:ea typeface="Inter" pitchFamily="34" charset="-122"/>
                <a:cs typeface="Inter" pitchFamily="34" charset="-120"/>
              </a:rPr>
              <a:t>-0.39</a:t>
            </a:r>
            <a:endParaRPr lang="en-US" sz="900" dirty="0"/>
          </a:p>
        </p:txBody>
      </p:sp>
      <p:sp>
        <p:nvSpPr>
          <p:cNvPr id="24" name="Text 22"/>
          <p:cNvSpPr/>
          <p:nvPr/>
        </p:nvSpPr>
        <p:spPr>
          <a:xfrm>
            <a:off x="5910114" y="1859533"/>
            <a:ext cx="1445121" cy="175840"/>
          </a:xfrm>
          <a:prstGeom prst="rect">
            <a:avLst/>
          </a:prstGeom>
          <a:noFill/>
          <a:ln/>
        </p:spPr>
        <p:txBody>
          <a:bodyPr wrap="none" lIns="0" tIns="0" rIns="0" bIns="0" rtlCol="0" anchor="t"/>
          <a:lstStyle/>
          <a:p>
            <a:pPr algn="l" indent="0" marL="0">
              <a:lnSpc>
                <a:spcPct val="128000"/>
              </a:lnSpc>
              <a:buNone/>
            </a:pPr>
            <a:r>
              <a:rPr lang="en-US" sz="900" spc="-18" kern="0" dirty="0">
                <a:solidFill>
                  <a:srgbClr val="272525"/>
                </a:solidFill>
                <a:latin typeface="Inter" pitchFamily="34" charset="0"/>
                <a:ea typeface="Inter" pitchFamily="34" charset="-122"/>
                <a:cs typeface="Inter" pitchFamily="34" charset="-120"/>
              </a:rPr>
              <a:t>4.56</a:t>
            </a:r>
            <a:endParaRPr lang="en-US" sz="900" dirty="0"/>
          </a:p>
        </p:txBody>
      </p:sp>
      <p:sp>
        <p:nvSpPr>
          <p:cNvPr id="25" name="Text 23"/>
          <p:cNvSpPr/>
          <p:nvPr/>
        </p:nvSpPr>
        <p:spPr>
          <a:xfrm>
            <a:off x="7131397" y="1859533"/>
            <a:ext cx="1854622" cy="175840"/>
          </a:xfrm>
          <a:prstGeom prst="rect">
            <a:avLst/>
          </a:prstGeom>
          <a:noFill/>
          <a:ln/>
        </p:spPr>
        <p:txBody>
          <a:bodyPr wrap="none" lIns="0" tIns="0" rIns="0" bIns="0" rtlCol="0" anchor="t"/>
          <a:lstStyle/>
          <a:p>
            <a:pPr algn="l" indent="0" marL="0">
              <a:lnSpc>
                <a:spcPct val="128000"/>
              </a:lnSpc>
              <a:buNone/>
            </a:pPr>
            <a:r>
              <a:rPr lang="en-US" sz="900" spc="-18" kern="0" dirty="0">
                <a:solidFill>
                  <a:srgbClr val="272525"/>
                </a:solidFill>
                <a:latin typeface="Inter" pitchFamily="34" charset="0"/>
                <a:ea typeface="Inter" pitchFamily="34" charset="-122"/>
                <a:cs typeface="Inter" pitchFamily="34" charset="-120"/>
              </a:rPr>
              <a:t>32.19 (0.00)</a:t>
            </a:r>
            <a:endParaRPr lang="en-US" sz="900" dirty="0"/>
          </a:p>
        </p:txBody>
      </p:sp>
      <p:sp>
        <p:nvSpPr>
          <p:cNvPr id="26" name="Text 24"/>
          <p:cNvSpPr/>
          <p:nvPr/>
        </p:nvSpPr>
        <p:spPr>
          <a:xfrm>
            <a:off x="615479" y="2176165"/>
            <a:ext cx="1854622" cy="175840"/>
          </a:xfrm>
          <a:prstGeom prst="rect">
            <a:avLst/>
          </a:prstGeom>
          <a:noFill/>
          <a:ln/>
        </p:spPr>
        <p:txBody>
          <a:bodyPr wrap="none" lIns="0" tIns="0" rIns="0" bIns="0" rtlCol="0" anchor="t"/>
          <a:lstStyle/>
          <a:p>
            <a:pPr algn="l" indent="0" marL="0">
              <a:lnSpc>
                <a:spcPct val="128000"/>
              </a:lnSpc>
              <a:buNone/>
            </a:pPr>
            <a:r>
              <a:rPr lang="ko-KR" altLang="en-US" sz="900" spc="-18" kern="0" dirty="0">
                <a:solidFill>
                  <a:srgbClr val="272525"/>
                </a:solidFill>
                <a:latin typeface="Inter" pitchFamily="34" charset="0"/>
                <a:ea typeface="Inter" pitchFamily="34" charset="-122"/>
                <a:cs typeface="Inter" pitchFamily="34" charset="-120"/>
              </a:rPr>
              <a:t>서울</a:t>
            </a:r>
            <a:endParaRPr lang="ko-KR" sz="900" dirty="0"/>
          </a:p>
        </p:txBody>
      </p:sp>
      <p:sp>
        <p:nvSpPr>
          <p:cNvPr id="27" name="Text 25"/>
          <p:cNvSpPr/>
          <p:nvPr/>
        </p:nvSpPr>
        <p:spPr>
          <a:xfrm>
            <a:off x="2246263" y="2176165"/>
            <a:ext cx="1445121" cy="175840"/>
          </a:xfrm>
          <a:prstGeom prst="rect">
            <a:avLst/>
          </a:prstGeom>
          <a:noFill/>
          <a:ln/>
        </p:spPr>
        <p:txBody>
          <a:bodyPr wrap="none" lIns="0" tIns="0" rIns="0" bIns="0" rtlCol="0" anchor="t"/>
          <a:lstStyle/>
          <a:p>
            <a:pPr algn="l" indent="0" marL="0">
              <a:lnSpc>
                <a:spcPct val="128000"/>
              </a:lnSpc>
              <a:buNone/>
            </a:pPr>
            <a:r>
              <a:rPr lang="en-US" sz="900" spc="-18" kern="0" dirty="0">
                <a:solidFill>
                  <a:srgbClr val="272525"/>
                </a:solidFill>
                <a:latin typeface="Inter" pitchFamily="34" charset="0"/>
                <a:ea typeface="Inter" pitchFamily="34" charset="-122"/>
                <a:cs typeface="Inter" pitchFamily="34" charset="-120"/>
              </a:rPr>
              <a:t>3.20</a:t>
            </a:r>
            <a:endParaRPr lang="en-US" sz="900" dirty="0"/>
          </a:p>
        </p:txBody>
      </p:sp>
      <p:sp>
        <p:nvSpPr>
          <p:cNvPr id="28" name="Text 26"/>
          <p:cNvSpPr/>
          <p:nvPr/>
        </p:nvSpPr>
        <p:spPr>
          <a:xfrm>
            <a:off x="3467546" y="2176165"/>
            <a:ext cx="1445121" cy="175840"/>
          </a:xfrm>
          <a:prstGeom prst="rect">
            <a:avLst/>
          </a:prstGeom>
          <a:noFill/>
          <a:ln/>
        </p:spPr>
        <p:txBody>
          <a:bodyPr wrap="none" lIns="0" tIns="0" rIns="0" bIns="0" rtlCol="0" anchor="t"/>
          <a:lstStyle/>
          <a:p>
            <a:pPr algn="l" indent="0" marL="0">
              <a:lnSpc>
                <a:spcPct val="128000"/>
              </a:lnSpc>
              <a:buNone/>
            </a:pPr>
            <a:r>
              <a:rPr lang="en-US" sz="900" spc="-18" kern="0" dirty="0">
                <a:solidFill>
                  <a:srgbClr val="272525"/>
                </a:solidFill>
                <a:latin typeface="Inter" pitchFamily="34" charset="0"/>
                <a:ea typeface="Inter" pitchFamily="34" charset="-122"/>
                <a:cs typeface="Inter" pitchFamily="34" charset="-120"/>
              </a:rPr>
              <a:t>6.05</a:t>
            </a:r>
            <a:endParaRPr lang="en-US" sz="900" dirty="0"/>
          </a:p>
        </p:txBody>
      </p:sp>
      <p:sp>
        <p:nvSpPr>
          <p:cNvPr id="29" name="Text 27"/>
          <p:cNvSpPr/>
          <p:nvPr/>
        </p:nvSpPr>
        <p:spPr>
          <a:xfrm>
            <a:off x="4688830" y="2176165"/>
            <a:ext cx="1445121" cy="175840"/>
          </a:xfrm>
          <a:prstGeom prst="rect">
            <a:avLst/>
          </a:prstGeom>
          <a:noFill/>
          <a:ln/>
        </p:spPr>
        <p:txBody>
          <a:bodyPr wrap="none" lIns="0" tIns="0" rIns="0" bIns="0" rtlCol="0" anchor="t"/>
          <a:lstStyle/>
          <a:p>
            <a:pPr algn="l" indent="0" marL="0">
              <a:lnSpc>
                <a:spcPct val="128000"/>
              </a:lnSpc>
              <a:buNone/>
            </a:pPr>
            <a:r>
              <a:rPr lang="en-US" sz="900" spc="-18" kern="0" dirty="0">
                <a:solidFill>
                  <a:srgbClr val="272525"/>
                </a:solidFill>
                <a:latin typeface="Inter" pitchFamily="34" charset="0"/>
                <a:ea typeface="Inter" pitchFamily="34" charset="-122"/>
                <a:cs typeface="Inter" pitchFamily="34" charset="-120"/>
              </a:rPr>
              <a:t>0.26</a:t>
            </a:r>
            <a:endParaRPr lang="en-US" sz="900" dirty="0"/>
          </a:p>
        </p:txBody>
      </p:sp>
      <p:sp>
        <p:nvSpPr>
          <p:cNvPr id="30" name="Text 28"/>
          <p:cNvSpPr/>
          <p:nvPr/>
        </p:nvSpPr>
        <p:spPr>
          <a:xfrm>
            <a:off x="5910114" y="2176165"/>
            <a:ext cx="1445121" cy="175840"/>
          </a:xfrm>
          <a:prstGeom prst="rect">
            <a:avLst/>
          </a:prstGeom>
          <a:noFill/>
          <a:ln/>
        </p:spPr>
        <p:txBody>
          <a:bodyPr wrap="none" lIns="0" tIns="0" rIns="0" bIns="0" rtlCol="0" anchor="t"/>
          <a:lstStyle/>
          <a:p>
            <a:pPr algn="l" indent="0" marL="0">
              <a:lnSpc>
                <a:spcPct val="128000"/>
              </a:lnSpc>
              <a:buNone/>
            </a:pPr>
            <a:r>
              <a:rPr lang="en-US" sz="900" spc="-18" kern="0" dirty="0">
                <a:solidFill>
                  <a:srgbClr val="272525"/>
                </a:solidFill>
                <a:latin typeface="Inter" pitchFamily="34" charset="0"/>
                <a:ea typeface="Inter" pitchFamily="34" charset="-122"/>
                <a:cs typeface="Inter" pitchFamily="34" charset="-120"/>
              </a:rPr>
              <a:t>4.18</a:t>
            </a:r>
            <a:endParaRPr lang="en-US" sz="900" dirty="0"/>
          </a:p>
        </p:txBody>
      </p:sp>
      <p:sp>
        <p:nvSpPr>
          <p:cNvPr id="31" name="Text 29"/>
          <p:cNvSpPr/>
          <p:nvPr/>
        </p:nvSpPr>
        <p:spPr>
          <a:xfrm>
            <a:off x="7131397" y="2176165"/>
            <a:ext cx="1854622" cy="175840"/>
          </a:xfrm>
          <a:prstGeom prst="rect">
            <a:avLst/>
          </a:prstGeom>
          <a:noFill/>
          <a:ln/>
        </p:spPr>
        <p:txBody>
          <a:bodyPr wrap="none" lIns="0" tIns="0" rIns="0" bIns="0" rtlCol="0" anchor="t"/>
          <a:lstStyle/>
          <a:p>
            <a:pPr algn="l" indent="0" marL="0">
              <a:lnSpc>
                <a:spcPct val="128000"/>
              </a:lnSpc>
              <a:buNone/>
            </a:pPr>
            <a:r>
              <a:rPr lang="en-US" sz="900" spc="-18" kern="0" dirty="0">
                <a:solidFill>
                  <a:srgbClr val="272525"/>
                </a:solidFill>
                <a:latin typeface="Inter" pitchFamily="34" charset="0"/>
                <a:ea typeface="Inter" pitchFamily="34" charset="-122"/>
                <a:cs typeface="Inter" pitchFamily="34" charset="-120"/>
              </a:rPr>
              <a:t>17.31 (0.00)</a:t>
            </a:r>
            <a:endParaRPr lang="en-US" sz="900" dirty="0"/>
          </a:p>
        </p:txBody>
      </p:sp>
      <p:sp>
        <p:nvSpPr>
          <p:cNvPr id="32" name="Text 30"/>
          <p:cNvSpPr/>
          <p:nvPr/>
        </p:nvSpPr>
        <p:spPr>
          <a:xfrm>
            <a:off x="615479" y="2492797"/>
            <a:ext cx="1854622" cy="175840"/>
          </a:xfrm>
          <a:prstGeom prst="rect">
            <a:avLst/>
          </a:prstGeom>
          <a:noFill/>
          <a:ln/>
        </p:spPr>
        <p:txBody>
          <a:bodyPr wrap="none" lIns="0" tIns="0" rIns="0" bIns="0" rtlCol="0" anchor="t"/>
          <a:lstStyle/>
          <a:p>
            <a:pPr algn="l" indent="0" marL="0">
              <a:lnSpc>
                <a:spcPct val="128000"/>
              </a:lnSpc>
              <a:buNone/>
            </a:pPr>
            <a:r>
              <a:rPr lang="ko-KR" altLang="en-US" sz="900" spc="-18" kern="0" dirty="0">
                <a:solidFill>
                  <a:srgbClr val="272525"/>
                </a:solidFill>
                <a:latin typeface="Inter" pitchFamily="34" charset="0"/>
                <a:ea typeface="Inter" pitchFamily="34" charset="-122"/>
                <a:cs typeface="Inter" pitchFamily="34" charset="-120"/>
              </a:rPr>
              <a:t>수도권</a:t>
            </a:r>
            <a:endParaRPr lang="ko-KR" sz="900" dirty="0"/>
          </a:p>
        </p:txBody>
      </p:sp>
      <p:sp>
        <p:nvSpPr>
          <p:cNvPr id="33" name="Text 31"/>
          <p:cNvSpPr/>
          <p:nvPr/>
        </p:nvSpPr>
        <p:spPr>
          <a:xfrm>
            <a:off x="2246263" y="2492797"/>
            <a:ext cx="1445121" cy="175840"/>
          </a:xfrm>
          <a:prstGeom prst="rect">
            <a:avLst/>
          </a:prstGeom>
          <a:noFill/>
          <a:ln/>
        </p:spPr>
        <p:txBody>
          <a:bodyPr wrap="none" lIns="0" tIns="0" rIns="0" bIns="0" rtlCol="0" anchor="t"/>
          <a:lstStyle/>
          <a:p>
            <a:pPr algn="l" indent="0" marL="0">
              <a:lnSpc>
                <a:spcPct val="128000"/>
              </a:lnSpc>
              <a:buNone/>
            </a:pPr>
            <a:r>
              <a:rPr lang="en-US" sz="900" spc="-18" kern="0" dirty="0">
                <a:solidFill>
                  <a:srgbClr val="272525"/>
                </a:solidFill>
                <a:latin typeface="Inter" pitchFamily="34" charset="0"/>
                <a:ea typeface="Inter" pitchFamily="34" charset="-122"/>
                <a:cs typeface="Inter" pitchFamily="34" charset="-120"/>
              </a:rPr>
              <a:t>2.92</a:t>
            </a:r>
            <a:endParaRPr lang="en-US" sz="900" dirty="0"/>
          </a:p>
        </p:txBody>
      </p:sp>
      <p:sp>
        <p:nvSpPr>
          <p:cNvPr id="34" name="Text 32"/>
          <p:cNvSpPr/>
          <p:nvPr/>
        </p:nvSpPr>
        <p:spPr>
          <a:xfrm>
            <a:off x="3467546" y="2492797"/>
            <a:ext cx="1445121" cy="175840"/>
          </a:xfrm>
          <a:prstGeom prst="rect">
            <a:avLst/>
          </a:prstGeom>
          <a:noFill/>
          <a:ln/>
        </p:spPr>
        <p:txBody>
          <a:bodyPr wrap="none" lIns="0" tIns="0" rIns="0" bIns="0" rtlCol="0" anchor="t"/>
          <a:lstStyle/>
          <a:p>
            <a:pPr algn="l" indent="0" marL="0">
              <a:lnSpc>
                <a:spcPct val="128000"/>
              </a:lnSpc>
              <a:buNone/>
            </a:pPr>
            <a:r>
              <a:rPr lang="en-US" sz="900" spc="-18" kern="0" dirty="0">
                <a:solidFill>
                  <a:srgbClr val="272525"/>
                </a:solidFill>
                <a:latin typeface="Inter" pitchFamily="34" charset="0"/>
                <a:ea typeface="Inter" pitchFamily="34" charset="-122"/>
                <a:cs typeface="Inter" pitchFamily="34" charset="-120"/>
              </a:rPr>
              <a:t>7.03</a:t>
            </a:r>
            <a:endParaRPr lang="en-US" sz="900" dirty="0"/>
          </a:p>
        </p:txBody>
      </p:sp>
      <p:sp>
        <p:nvSpPr>
          <p:cNvPr id="35" name="Text 33"/>
          <p:cNvSpPr/>
          <p:nvPr/>
        </p:nvSpPr>
        <p:spPr>
          <a:xfrm>
            <a:off x="4688830" y="2492797"/>
            <a:ext cx="1445121" cy="175840"/>
          </a:xfrm>
          <a:prstGeom prst="rect">
            <a:avLst/>
          </a:prstGeom>
          <a:noFill/>
          <a:ln/>
        </p:spPr>
        <p:txBody>
          <a:bodyPr wrap="none" lIns="0" tIns="0" rIns="0" bIns="0" rtlCol="0" anchor="t"/>
          <a:lstStyle/>
          <a:p>
            <a:pPr algn="l" indent="0" marL="0">
              <a:lnSpc>
                <a:spcPct val="128000"/>
              </a:lnSpc>
              <a:buNone/>
            </a:pPr>
            <a:r>
              <a:rPr lang="en-US" sz="900" spc="-18" kern="0" dirty="0">
                <a:solidFill>
                  <a:srgbClr val="272525"/>
                </a:solidFill>
                <a:latin typeface="Inter" pitchFamily="34" charset="0"/>
                <a:ea typeface="Inter" pitchFamily="34" charset="-122"/>
                <a:cs typeface="Inter" pitchFamily="34" charset="-120"/>
              </a:rPr>
              <a:t>0.26</a:t>
            </a:r>
            <a:endParaRPr lang="en-US" sz="900" dirty="0"/>
          </a:p>
        </p:txBody>
      </p:sp>
      <p:sp>
        <p:nvSpPr>
          <p:cNvPr id="36" name="Text 34"/>
          <p:cNvSpPr/>
          <p:nvPr/>
        </p:nvSpPr>
        <p:spPr>
          <a:xfrm>
            <a:off x="5910114" y="2492797"/>
            <a:ext cx="1445121" cy="175840"/>
          </a:xfrm>
          <a:prstGeom prst="rect">
            <a:avLst/>
          </a:prstGeom>
          <a:noFill/>
          <a:ln/>
        </p:spPr>
        <p:txBody>
          <a:bodyPr wrap="none" lIns="0" tIns="0" rIns="0" bIns="0" rtlCol="0" anchor="t"/>
          <a:lstStyle/>
          <a:p>
            <a:pPr algn="l" indent="0" marL="0">
              <a:lnSpc>
                <a:spcPct val="128000"/>
              </a:lnSpc>
              <a:buNone/>
            </a:pPr>
            <a:r>
              <a:rPr lang="en-US" sz="900" spc="-18" kern="0" dirty="0">
                <a:solidFill>
                  <a:srgbClr val="272525"/>
                </a:solidFill>
                <a:latin typeface="Inter" pitchFamily="34" charset="0"/>
                <a:ea typeface="Inter" pitchFamily="34" charset="-122"/>
                <a:cs typeface="Inter" pitchFamily="34" charset="-120"/>
              </a:rPr>
              <a:t>4.34</a:t>
            </a:r>
            <a:endParaRPr lang="en-US" sz="900" dirty="0"/>
          </a:p>
        </p:txBody>
      </p:sp>
      <p:sp>
        <p:nvSpPr>
          <p:cNvPr id="37" name="Text 35"/>
          <p:cNvSpPr/>
          <p:nvPr/>
        </p:nvSpPr>
        <p:spPr>
          <a:xfrm>
            <a:off x="7131397" y="2492797"/>
            <a:ext cx="1854622" cy="175840"/>
          </a:xfrm>
          <a:prstGeom prst="rect">
            <a:avLst/>
          </a:prstGeom>
          <a:noFill/>
          <a:ln/>
        </p:spPr>
        <p:txBody>
          <a:bodyPr wrap="none" lIns="0" tIns="0" rIns="0" bIns="0" rtlCol="0" anchor="t"/>
          <a:lstStyle/>
          <a:p>
            <a:pPr algn="l" indent="0" marL="0">
              <a:lnSpc>
                <a:spcPct val="128000"/>
              </a:lnSpc>
              <a:buNone/>
            </a:pPr>
            <a:r>
              <a:rPr lang="en-US" sz="900" spc="-18" kern="0" dirty="0">
                <a:solidFill>
                  <a:srgbClr val="272525"/>
                </a:solidFill>
                <a:latin typeface="Inter" pitchFamily="34" charset="0"/>
                <a:ea typeface="Inter" pitchFamily="34" charset="-122"/>
                <a:cs typeface="Inter" pitchFamily="34" charset="-120"/>
              </a:rPr>
              <a:t>21.61 (0.00)</a:t>
            </a:r>
            <a:endParaRPr lang="en-US" sz="900" dirty="0"/>
          </a:p>
        </p:txBody>
      </p:sp>
      <p:sp>
        <p:nvSpPr>
          <p:cNvPr id="38" name="Text 36"/>
          <p:cNvSpPr/>
          <p:nvPr/>
        </p:nvSpPr>
        <p:spPr>
          <a:xfrm>
            <a:off x="615479" y="2809429"/>
            <a:ext cx="1854622" cy="175840"/>
          </a:xfrm>
          <a:prstGeom prst="rect">
            <a:avLst/>
          </a:prstGeom>
          <a:noFill/>
          <a:ln/>
        </p:spPr>
        <p:txBody>
          <a:bodyPr wrap="none" lIns="0" tIns="0" rIns="0" bIns="0" rtlCol="0" anchor="t"/>
          <a:lstStyle/>
          <a:p>
            <a:pPr algn="l" indent="0" marL="0">
              <a:lnSpc>
                <a:spcPct val="128000"/>
              </a:lnSpc>
              <a:buNone/>
            </a:pPr>
            <a:r>
              <a:rPr lang="ko-KR" altLang="en-US" sz="900" spc="-18" kern="0" dirty="0">
                <a:solidFill>
                  <a:srgbClr val="272525"/>
                </a:solidFill>
                <a:latin typeface="Inter" pitchFamily="34" charset="0"/>
                <a:ea typeface="Inter" pitchFamily="34" charset="-122"/>
                <a:cs typeface="Inter" pitchFamily="34" charset="-120"/>
              </a:rPr>
              <a:t>5대광역시</a:t>
            </a:r>
            <a:endParaRPr lang="ko-KR" sz="900" dirty="0"/>
          </a:p>
        </p:txBody>
      </p:sp>
      <p:sp>
        <p:nvSpPr>
          <p:cNvPr id="39" name="Text 37"/>
          <p:cNvSpPr/>
          <p:nvPr/>
        </p:nvSpPr>
        <p:spPr>
          <a:xfrm>
            <a:off x="2246263" y="2809429"/>
            <a:ext cx="1445121" cy="175840"/>
          </a:xfrm>
          <a:prstGeom prst="rect">
            <a:avLst/>
          </a:prstGeom>
          <a:noFill/>
          <a:ln/>
        </p:spPr>
        <p:txBody>
          <a:bodyPr wrap="none" lIns="0" tIns="0" rIns="0" bIns="0" rtlCol="0" anchor="t"/>
          <a:lstStyle/>
          <a:p>
            <a:pPr algn="l" indent="0" marL="0">
              <a:lnSpc>
                <a:spcPct val="128000"/>
              </a:lnSpc>
              <a:buNone/>
            </a:pPr>
            <a:r>
              <a:rPr lang="en-US" sz="900" spc="-18" kern="0" dirty="0">
                <a:solidFill>
                  <a:srgbClr val="272525"/>
                </a:solidFill>
                <a:latin typeface="Inter" pitchFamily="34" charset="0"/>
                <a:ea typeface="Inter" pitchFamily="34" charset="-122"/>
                <a:cs typeface="Inter" pitchFamily="34" charset="-120"/>
              </a:rPr>
              <a:t>2.28</a:t>
            </a:r>
            <a:endParaRPr lang="en-US" sz="900" dirty="0"/>
          </a:p>
        </p:txBody>
      </p:sp>
      <p:sp>
        <p:nvSpPr>
          <p:cNvPr id="40" name="Text 38"/>
          <p:cNvSpPr/>
          <p:nvPr/>
        </p:nvSpPr>
        <p:spPr>
          <a:xfrm>
            <a:off x="3467546" y="2809429"/>
            <a:ext cx="1445121" cy="175840"/>
          </a:xfrm>
          <a:prstGeom prst="rect">
            <a:avLst/>
          </a:prstGeom>
          <a:noFill/>
          <a:ln/>
        </p:spPr>
        <p:txBody>
          <a:bodyPr wrap="none" lIns="0" tIns="0" rIns="0" bIns="0" rtlCol="0" anchor="t"/>
          <a:lstStyle/>
          <a:p>
            <a:pPr algn="l" indent="0" marL="0">
              <a:lnSpc>
                <a:spcPct val="128000"/>
              </a:lnSpc>
              <a:buNone/>
            </a:pPr>
            <a:r>
              <a:rPr lang="en-US" sz="900" spc="-18" kern="0" dirty="0">
                <a:solidFill>
                  <a:srgbClr val="272525"/>
                </a:solidFill>
                <a:latin typeface="Inter" pitchFamily="34" charset="0"/>
                <a:ea typeface="Inter" pitchFamily="34" charset="-122"/>
                <a:cs typeface="Inter" pitchFamily="34" charset="-120"/>
              </a:rPr>
              <a:t>5.70</a:t>
            </a:r>
            <a:endParaRPr lang="en-US" sz="900" dirty="0"/>
          </a:p>
        </p:txBody>
      </p:sp>
      <p:sp>
        <p:nvSpPr>
          <p:cNvPr id="41" name="Text 39"/>
          <p:cNvSpPr/>
          <p:nvPr/>
        </p:nvSpPr>
        <p:spPr>
          <a:xfrm>
            <a:off x="4688830" y="2809429"/>
            <a:ext cx="1445121" cy="175840"/>
          </a:xfrm>
          <a:prstGeom prst="rect">
            <a:avLst/>
          </a:prstGeom>
          <a:noFill/>
          <a:ln/>
        </p:spPr>
        <p:txBody>
          <a:bodyPr wrap="none" lIns="0" tIns="0" rIns="0" bIns="0" rtlCol="0" anchor="t"/>
          <a:lstStyle/>
          <a:p>
            <a:pPr algn="l" indent="0" marL="0">
              <a:lnSpc>
                <a:spcPct val="128000"/>
              </a:lnSpc>
              <a:buNone/>
            </a:pPr>
            <a:r>
              <a:rPr lang="en-US" sz="900" spc="-18" kern="0" dirty="0">
                <a:solidFill>
                  <a:srgbClr val="272525"/>
                </a:solidFill>
                <a:latin typeface="Inter" pitchFamily="34" charset="0"/>
                <a:ea typeface="Inter" pitchFamily="34" charset="-122"/>
                <a:cs typeface="Inter" pitchFamily="34" charset="-120"/>
              </a:rPr>
              <a:t>0.01</a:t>
            </a:r>
            <a:endParaRPr lang="en-US" sz="900" dirty="0"/>
          </a:p>
        </p:txBody>
      </p:sp>
      <p:sp>
        <p:nvSpPr>
          <p:cNvPr id="42" name="Text 40"/>
          <p:cNvSpPr/>
          <p:nvPr/>
        </p:nvSpPr>
        <p:spPr>
          <a:xfrm>
            <a:off x="5910114" y="2809429"/>
            <a:ext cx="1445121" cy="175840"/>
          </a:xfrm>
          <a:prstGeom prst="rect">
            <a:avLst/>
          </a:prstGeom>
          <a:noFill/>
          <a:ln/>
        </p:spPr>
        <p:txBody>
          <a:bodyPr wrap="none" lIns="0" tIns="0" rIns="0" bIns="0" rtlCol="0" anchor="t"/>
          <a:lstStyle/>
          <a:p>
            <a:pPr algn="l" indent="0" marL="0">
              <a:lnSpc>
                <a:spcPct val="128000"/>
              </a:lnSpc>
              <a:buNone/>
            </a:pPr>
            <a:r>
              <a:rPr lang="en-US" sz="900" spc="-18" kern="0" dirty="0">
                <a:solidFill>
                  <a:srgbClr val="272525"/>
                </a:solidFill>
                <a:latin typeface="Inter" pitchFamily="34" charset="0"/>
                <a:ea typeface="Inter" pitchFamily="34" charset="-122"/>
                <a:cs typeface="Inter" pitchFamily="34" charset="-120"/>
              </a:rPr>
              <a:t>4.90</a:t>
            </a:r>
            <a:endParaRPr lang="en-US" sz="900" dirty="0"/>
          </a:p>
        </p:txBody>
      </p:sp>
      <p:sp>
        <p:nvSpPr>
          <p:cNvPr id="43" name="Text 41"/>
          <p:cNvSpPr/>
          <p:nvPr/>
        </p:nvSpPr>
        <p:spPr>
          <a:xfrm>
            <a:off x="7131397" y="2809429"/>
            <a:ext cx="1854622" cy="175840"/>
          </a:xfrm>
          <a:prstGeom prst="rect">
            <a:avLst/>
          </a:prstGeom>
          <a:noFill/>
          <a:ln/>
        </p:spPr>
        <p:txBody>
          <a:bodyPr wrap="none" lIns="0" tIns="0" rIns="0" bIns="0" rtlCol="0" anchor="t"/>
          <a:lstStyle/>
          <a:p>
            <a:pPr algn="l" indent="0" marL="0">
              <a:lnSpc>
                <a:spcPct val="128000"/>
              </a:lnSpc>
              <a:buNone/>
            </a:pPr>
            <a:r>
              <a:rPr lang="en-US" sz="900" spc="-18" kern="0" dirty="0">
                <a:solidFill>
                  <a:srgbClr val="272525"/>
                </a:solidFill>
                <a:latin typeface="Inter" pitchFamily="34" charset="0"/>
                <a:ea typeface="Inter" pitchFamily="34" charset="-122"/>
                <a:cs typeface="Inter" pitchFamily="34" charset="-120"/>
              </a:rPr>
              <a:t>37.92 (0.00)</a:t>
            </a:r>
            <a:endParaRPr lang="en-US" sz="900" dirty="0"/>
          </a:p>
        </p:txBody>
      </p:sp>
      <p:sp>
        <p:nvSpPr>
          <p:cNvPr id="44" name="Shape 42"/>
          <p:cNvSpPr/>
          <p:nvPr/>
        </p:nvSpPr>
        <p:spPr>
          <a:xfrm>
            <a:off x="496119" y="3176588"/>
            <a:ext cx="1958876" cy="1535088"/>
          </a:xfrm>
          <a:prstGeom prst="roundRect">
            <a:avLst>
              <a:gd name="adj" fmla="val 3129"/>
            </a:avLst>
          </a:prstGeom>
          <a:solidFill>
            <a:srgbClr val="DADBF1"/>
          </a:solidFill>
          <a:ln w="4763">
            <a:solidFill>
              <a:srgbClr val="C0C1D7"/>
            </a:solidFill>
            <a:prstDash val="solid"/>
          </a:ln>
        </p:spPr>
      </p:sp>
      <p:sp>
        <p:nvSpPr>
          <p:cNvPr id="45" name="Text 43"/>
          <p:cNvSpPr/>
          <p:nvPr/>
        </p:nvSpPr>
        <p:spPr>
          <a:xfrm>
            <a:off x="615181" y="3295650"/>
            <a:ext cx="1720751" cy="178668"/>
          </a:xfrm>
          <a:prstGeom prst="rect">
            <a:avLst/>
          </a:prstGeom>
          <a:noFill/>
          <a:ln/>
        </p:spPr>
        <p:txBody>
          <a:bodyPr wrap="none" lIns="0" tIns="0" rIns="0" bIns="0" rtlCol="0" anchor="t"/>
          <a:lstStyle/>
          <a:p>
            <a:pPr algn="l" indent="0" marL="0">
              <a:lnSpc>
                <a:spcPct val="104000"/>
              </a:lnSpc>
              <a:buNone/>
            </a:pPr>
            <a:r>
              <a:rPr lang="ko-KR" altLang="en-US" sz="1100" b="1" spc="-34" kern="0" dirty="0">
                <a:solidFill>
                  <a:srgbClr val="272525"/>
                </a:solidFill>
                <a:latin typeface="Inter Bold" pitchFamily="34" charset="0"/>
                <a:ea typeface="Inter Bold" pitchFamily="34" charset="-122"/>
                <a:cs typeface="Inter Bold" pitchFamily="34" charset="-120"/>
              </a:rPr>
              <a:t>기대수익 구조 차이</a:t>
            </a:r>
            <a:endParaRPr lang="ko-KR" sz="1100" dirty="0"/>
          </a:p>
        </p:txBody>
      </p:sp>
      <p:sp>
        <p:nvSpPr>
          <p:cNvPr id="46" name="Text 44"/>
          <p:cNvSpPr/>
          <p:nvPr/>
        </p:nvSpPr>
        <p:spPr>
          <a:xfrm>
            <a:off x="615181" y="3537570"/>
            <a:ext cx="1720751" cy="703362"/>
          </a:xfrm>
          <a:prstGeom prst="rect">
            <a:avLst/>
          </a:prstGeom>
          <a:noFill/>
          <a:ln/>
        </p:spPr>
        <p:txBody>
          <a:bodyPr wrap="square" lIns="0" tIns="0" rIns="0" bIns="0" rtlCol="0" anchor="t">
            <a:normAutofit/>
          </a:bodyPr>
          <a:lstStyle/>
          <a:p>
            <a:pPr algn="l" indent="0" marL="0">
              <a:lnSpc>
                <a:spcPct val="128000"/>
              </a:lnSpc>
              <a:buNone/>
            </a:pPr>
            <a:r>
              <a:rPr lang="ko-KR" altLang="en-US" sz="900" spc="-18" kern="0" dirty="0">
                <a:solidFill>
                  <a:srgbClr val="272525"/>
                </a:solidFill>
                <a:latin typeface="Inter" pitchFamily="34" charset="0"/>
                <a:ea typeface="Inter" pitchFamily="34" charset="-122"/>
                <a:cs typeface="Inter" pitchFamily="34" charset="-120"/>
              </a:rPr>
              <a:t>서울이 평균 3.20으로 가장 높고, 5대광역시가 2.28로 가장 낮아 지역별 기대수익 구조에 차이가 존재함을 확인하였다.</a:t>
            </a:r>
            <a:endParaRPr lang="ko-KR" sz="900" dirty="0"/>
          </a:p>
        </p:txBody>
      </p:sp>
      <p:sp>
        <p:nvSpPr>
          <p:cNvPr id="47" name="Shape 45"/>
          <p:cNvSpPr/>
          <p:nvPr/>
        </p:nvSpPr>
        <p:spPr>
          <a:xfrm>
            <a:off x="2560365" y="3176588"/>
            <a:ext cx="1958950" cy="1535088"/>
          </a:xfrm>
          <a:prstGeom prst="roundRect">
            <a:avLst>
              <a:gd name="adj" fmla="val 3129"/>
            </a:avLst>
          </a:prstGeom>
          <a:solidFill>
            <a:srgbClr val="DADBF1"/>
          </a:solidFill>
          <a:ln w="4763">
            <a:solidFill>
              <a:srgbClr val="C0C1D7"/>
            </a:solidFill>
            <a:prstDash val="solid"/>
          </a:ln>
        </p:spPr>
      </p:sp>
      <p:sp>
        <p:nvSpPr>
          <p:cNvPr id="48" name="Text 46"/>
          <p:cNvSpPr/>
          <p:nvPr/>
        </p:nvSpPr>
        <p:spPr>
          <a:xfrm>
            <a:off x="2679427" y="3295650"/>
            <a:ext cx="1720825" cy="178668"/>
          </a:xfrm>
          <a:prstGeom prst="rect">
            <a:avLst/>
          </a:prstGeom>
          <a:noFill/>
          <a:ln/>
        </p:spPr>
        <p:txBody>
          <a:bodyPr wrap="none" lIns="0" tIns="0" rIns="0" bIns="0" rtlCol="0" anchor="t"/>
          <a:lstStyle/>
          <a:p>
            <a:pPr algn="l" indent="0" marL="0">
              <a:lnSpc>
                <a:spcPct val="104000"/>
              </a:lnSpc>
              <a:buNone/>
            </a:pPr>
            <a:r>
              <a:rPr lang="ko-KR" altLang="en-US" sz="1100" b="1" spc="-34" kern="0" dirty="0">
                <a:solidFill>
                  <a:srgbClr val="272525"/>
                </a:solidFill>
                <a:latin typeface="Inter Bold" pitchFamily="34" charset="0"/>
                <a:ea typeface="Inter Bold" pitchFamily="34" charset="-122"/>
                <a:cs typeface="Inter Bold" pitchFamily="34" charset="-120"/>
              </a:rPr>
              <a:t>위험-수익 동반</a:t>
            </a:r>
            <a:endParaRPr lang="ko-KR" sz="1100" dirty="0"/>
          </a:p>
        </p:txBody>
      </p:sp>
      <p:sp>
        <p:nvSpPr>
          <p:cNvPr id="49" name="Text 47"/>
          <p:cNvSpPr/>
          <p:nvPr/>
        </p:nvSpPr>
        <p:spPr>
          <a:xfrm>
            <a:off x="2679427" y="3537570"/>
            <a:ext cx="1720825" cy="703362"/>
          </a:xfrm>
          <a:prstGeom prst="rect">
            <a:avLst/>
          </a:prstGeom>
          <a:noFill/>
          <a:ln/>
        </p:spPr>
        <p:txBody>
          <a:bodyPr wrap="square" lIns="0" tIns="0" rIns="0" bIns="0" rtlCol="0" anchor="t">
            <a:normAutofit/>
          </a:bodyPr>
          <a:lstStyle/>
          <a:p>
            <a:pPr algn="l" indent="0" marL="0">
              <a:lnSpc>
                <a:spcPct val="128000"/>
              </a:lnSpc>
              <a:buNone/>
            </a:pPr>
            <a:r>
              <a:rPr lang="ko-KR" altLang="en-US" sz="900" spc="-18" kern="0" dirty="0">
                <a:solidFill>
                  <a:srgbClr val="272525"/>
                </a:solidFill>
                <a:latin typeface="Inter" pitchFamily="34" charset="0"/>
                <a:ea typeface="Inter" pitchFamily="34" charset="-122"/>
                <a:cs typeface="Inter" pitchFamily="34" charset="-120"/>
              </a:rPr>
              <a:t>수도권과 서울의 표준편차가 상대적으로 높아, 두 지역이 높은 기대수익과 함께 높은 위험을 동반하는 시장임을 시사한다.</a:t>
            </a:r>
            <a:endParaRPr lang="ko-KR" sz="900" dirty="0"/>
          </a:p>
        </p:txBody>
      </p:sp>
      <p:sp>
        <p:nvSpPr>
          <p:cNvPr id="50" name="Shape 48"/>
          <p:cNvSpPr/>
          <p:nvPr/>
        </p:nvSpPr>
        <p:spPr>
          <a:xfrm>
            <a:off x="4624685" y="3176588"/>
            <a:ext cx="1958876" cy="1535088"/>
          </a:xfrm>
          <a:prstGeom prst="roundRect">
            <a:avLst>
              <a:gd name="adj" fmla="val 3129"/>
            </a:avLst>
          </a:prstGeom>
          <a:solidFill>
            <a:srgbClr val="DADBF1"/>
          </a:solidFill>
          <a:ln w="4763">
            <a:solidFill>
              <a:srgbClr val="C0C1D7"/>
            </a:solidFill>
            <a:prstDash val="solid"/>
          </a:ln>
        </p:spPr>
      </p:sp>
      <p:sp>
        <p:nvSpPr>
          <p:cNvPr id="51" name="Text 49"/>
          <p:cNvSpPr/>
          <p:nvPr/>
        </p:nvSpPr>
        <p:spPr>
          <a:xfrm>
            <a:off x="4743748" y="3295650"/>
            <a:ext cx="1720751" cy="178668"/>
          </a:xfrm>
          <a:prstGeom prst="rect">
            <a:avLst/>
          </a:prstGeom>
          <a:noFill/>
          <a:ln/>
        </p:spPr>
        <p:txBody>
          <a:bodyPr wrap="none" lIns="0" tIns="0" rIns="0" bIns="0" rtlCol="0" anchor="t"/>
          <a:lstStyle/>
          <a:p>
            <a:pPr algn="l" indent="0" marL="0">
              <a:lnSpc>
                <a:spcPct val="104000"/>
              </a:lnSpc>
              <a:buNone/>
            </a:pPr>
            <a:r>
              <a:rPr lang="ko-KR" altLang="en-US" sz="1100" b="1" spc="-34" kern="0" dirty="0">
                <a:solidFill>
                  <a:srgbClr val="272525"/>
                </a:solidFill>
                <a:latin typeface="Inter Bold" pitchFamily="34" charset="0"/>
                <a:ea typeface="Inter Bold" pitchFamily="34" charset="-122"/>
                <a:cs typeface="Inter Bold" pitchFamily="34" charset="-120"/>
              </a:rPr>
              <a:t>비정규성 공통 확인</a:t>
            </a:r>
            <a:endParaRPr lang="ko-KR" sz="1100" dirty="0"/>
          </a:p>
        </p:txBody>
      </p:sp>
      <p:sp>
        <p:nvSpPr>
          <p:cNvPr id="52" name="Text 50"/>
          <p:cNvSpPr/>
          <p:nvPr/>
        </p:nvSpPr>
        <p:spPr>
          <a:xfrm>
            <a:off x="4743748" y="3537570"/>
            <a:ext cx="1720751" cy="879202"/>
          </a:xfrm>
          <a:prstGeom prst="rect">
            <a:avLst/>
          </a:prstGeom>
          <a:noFill/>
          <a:ln/>
        </p:spPr>
        <p:txBody>
          <a:bodyPr wrap="square" lIns="0" tIns="0" rIns="0" bIns="0" rtlCol="0" anchor="t">
            <a:normAutofit/>
          </a:bodyPr>
          <a:lstStyle/>
          <a:p>
            <a:pPr algn="l" indent="0" marL="0">
              <a:lnSpc>
                <a:spcPct val="128000"/>
              </a:lnSpc>
              <a:buNone/>
            </a:pPr>
            <a:r>
              <a:rPr lang="ko-KR" altLang="en-US" sz="900" spc="-18" kern="0" dirty="0">
                <a:solidFill>
                  <a:srgbClr val="272525"/>
                </a:solidFill>
                <a:latin typeface="Inter" pitchFamily="34" charset="0"/>
                <a:ea typeface="Inter" pitchFamily="34" charset="-122"/>
                <a:cs typeface="Inter" pitchFamily="34" charset="-120"/>
              </a:rPr>
              <a:t>모든 지역에서 첨도가 3을 상회하고 Jarque-Bera 정규성 검정에서 1% 유의수준에서 기각되어 두꺼운 꼬리(fat-tail) 특성과 비정규성이 공통적으로 확인되었다.</a:t>
            </a:r>
            <a:endParaRPr lang="ko-KR" sz="900" dirty="0"/>
          </a:p>
        </p:txBody>
      </p:sp>
      <p:sp>
        <p:nvSpPr>
          <p:cNvPr id="53" name="Shape 51"/>
          <p:cNvSpPr/>
          <p:nvPr/>
        </p:nvSpPr>
        <p:spPr>
          <a:xfrm>
            <a:off x="6688931" y="3176588"/>
            <a:ext cx="1958950" cy="1535088"/>
          </a:xfrm>
          <a:prstGeom prst="roundRect">
            <a:avLst>
              <a:gd name="adj" fmla="val 3129"/>
            </a:avLst>
          </a:prstGeom>
          <a:solidFill>
            <a:srgbClr val="DADBF1"/>
          </a:solidFill>
          <a:ln w="4763">
            <a:solidFill>
              <a:srgbClr val="C0C1D7"/>
            </a:solidFill>
            <a:prstDash val="solid"/>
          </a:ln>
        </p:spPr>
      </p:sp>
      <p:sp>
        <p:nvSpPr>
          <p:cNvPr id="54" name="Text 52"/>
          <p:cNvSpPr/>
          <p:nvPr/>
        </p:nvSpPr>
        <p:spPr>
          <a:xfrm>
            <a:off x="6807994" y="3295650"/>
            <a:ext cx="1720825" cy="178668"/>
          </a:xfrm>
          <a:prstGeom prst="rect">
            <a:avLst/>
          </a:prstGeom>
          <a:noFill/>
          <a:ln/>
        </p:spPr>
        <p:txBody>
          <a:bodyPr wrap="none" lIns="0" tIns="0" rIns="0" bIns="0" rtlCol="0" anchor="t"/>
          <a:lstStyle/>
          <a:p>
            <a:pPr algn="l" indent="0" marL="0">
              <a:lnSpc>
                <a:spcPct val="104000"/>
              </a:lnSpc>
              <a:buNone/>
            </a:pPr>
            <a:r>
              <a:rPr lang="ko-KR" altLang="en-US" sz="1100" b="1" spc="-34" kern="0" dirty="0">
                <a:solidFill>
                  <a:srgbClr val="272525"/>
                </a:solidFill>
                <a:latin typeface="Inter Bold" pitchFamily="34" charset="0"/>
                <a:ea typeface="Inter Bold" pitchFamily="34" charset="-122"/>
                <a:cs typeface="Inter Bold" pitchFamily="34" charset="-120"/>
              </a:rPr>
              <a:t>정상시계열 및 ARCH 효과</a:t>
            </a:r>
            <a:endParaRPr lang="ko-KR" sz="1100" dirty="0"/>
          </a:p>
        </p:txBody>
      </p:sp>
      <p:sp>
        <p:nvSpPr>
          <p:cNvPr id="55" name="Text 53"/>
          <p:cNvSpPr/>
          <p:nvPr/>
        </p:nvSpPr>
        <p:spPr>
          <a:xfrm>
            <a:off x="6807994" y="3537570"/>
            <a:ext cx="1720825" cy="1055043"/>
          </a:xfrm>
          <a:prstGeom prst="rect">
            <a:avLst/>
          </a:prstGeom>
          <a:noFill/>
          <a:ln/>
        </p:spPr>
        <p:txBody>
          <a:bodyPr wrap="square" lIns="0" tIns="0" rIns="0" bIns="0" rtlCol="0" anchor="t">
            <a:normAutofit/>
          </a:bodyPr>
          <a:lstStyle/>
          <a:p>
            <a:pPr algn="l" indent="0" marL="0">
              <a:lnSpc>
                <a:spcPct val="128000"/>
              </a:lnSpc>
              <a:buNone/>
            </a:pPr>
            <a:r>
              <a:rPr lang="ko-KR" altLang="en-US" sz="900" spc="-18" kern="0" dirty="0">
                <a:solidFill>
                  <a:srgbClr val="272525"/>
                </a:solidFill>
                <a:latin typeface="Inter" pitchFamily="34" charset="0"/>
                <a:ea typeface="Inter" pitchFamily="34" charset="-122"/>
                <a:cs typeface="Inter" pitchFamily="34" charset="-120"/>
              </a:rPr>
              <a:t>ADF 단위근 검정 결과 네 지역 모두 수익률 시계열이 정상시계열이며, ARCH-LM 검정에서 모든 지역에 대해 ARCH 효과가 통계적으로 유의하여 조건부 이분산성이 존재함을 확인하였다.</a:t>
            </a:r>
            <a:endParaRPr lang="ko-KR"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96119" y="405780"/>
            <a:ext cx="8151763" cy="387548"/>
          </a:xfrm>
          <a:prstGeom prst="rect">
            <a:avLst/>
          </a:prstGeom>
          <a:noFill/>
          <a:ln/>
        </p:spPr>
        <p:txBody>
          <a:bodyPr wrap="none" lIns="0" tIns="0" rIns="0" bIns="0" rtlCol="0" anchor="t"/>
          <a:lstStyle/>
          <a:p>
            <a:pPr algn="l" indent="0" marL="0">
              <a:lnSpc>
                <a:spcPct val="104000"/>
              </a:lnSpc>
              <a:buNone/>
            </a:pPr>
            <a:r>
              <a:rPr lang="ko-KR" altLang="en-US" sz="2400" b="1" spc="-73" kern="0" dirty="0">
                <a:solidFill>
                  <a:srgbClr val="000000"/>
                </a:solidFill>
                <a:latin typeface="Inter Bold" pitchFamily="34" charset="0"/>
                <a:ea typeface="Inter Bold" pitchFamily="34" charset="-122"/>
                <a:cs typeface="Inter Bold" pitchFamily="34" charset="-120"/>
              </a:rPr>
              <a:t>CAPM 베타 추정 결과: 전국 및 지역별 비교</a:t>
            </a:r>
            <a:endParaRPr lang="ko-KR" sz="2400" dirty="0"/>
          </a:p>
        </p:txBody>
      </p:sp>
      <p:sp>
        <p:nvSpPr>
          <p:cNvPr id="3" name="Shape 1"/>
          <p:cNvSpPr/>
          <p:nvPr/>
        </p:nvSpPr>
        <p:spPr>
          <a:xfrm>
            <a:off x="496119" y="1041350"/>
            <a:ext cx="8151763" cy="1812652"/>
          </a:xfrm>
          <a:prstGeom prst="roundRect">
            <a:avLst>
              <a:gd name="adj" fmla="val 2874"/>
            </a:avLst>
          </a:prstGeom>
          <a:noFill/>
          <a:ln w="4763">
            <a:solidFill>
              <a:srgbClr val="000000">
                <a:alpha val="8000"/>
              </a:srgbClr>
            </a:solidFill>
            <a:prstDash val="solid"/>
          </a:ln>
        </p:spPr>
      </p:sp>
      <p:sp>
        <p:nvSpPr>
          <p:cNvPr id="4" name="Shape 2"/>
          <p:cNvSpPr/>
          <p:nvPr/>
        </p:nvSpPr>
        <p:spPr>
          <a:xfrm>
            <a:off x="496119" y="1405310"/>
            <a:ext cx="8151763" cy="7753"/>
          </a:xfrm>
          <a:prstGeom prst="rect">
            <a:avLst/>
          </a:prstGeom>
          <a:solidFill>
            <a:srgbClr val="000000">
              <a:alpha val="8000"/>
            </a:srgbClr>
          </a:solidFill>
          <a:ln/>
        </p:spPr>
      </p:sp>
      <p:sp>
        <p:nvSpPr>
          <p:cNvPr id="5" name="Shape 3"/>
          <p:cNvSpPr/>
          <p:nvPr/>
        </p:nvSpPr>
        <p:spPr>
          <a:xfrm>
            <a:off x="496119" y="1766888"/>
            <a:ext cx="8151763" cy="7753"/>
          </a:xfrm>
          <a:prstGeom prst="rect">
            <a:avLst/>
          </a:prstGeom>
          <a:solidFill>
            <a:srgbClr val="000000">
              <a:alpha val="8000"/>
            </a:srgbClr>
          </a:solidFill>
          <a:ln/>
        </p:spPr>
      </p:sp>
      <p:sp>
        <p:nvSpPr>
          <p:cNvPr id="6" name="Shape 4"/>
          <p:cNvSpPr/>
          <p:nvPr/>
        </p:nvSpPr>
        <p:spPr>
          <a:xfrm>
            <a:off x="496119" y="2128465"/>
            <a:ext cx="8151763" cy="7753"/>
          </a:xfrm>
          <a:prstGeom prst="rect">
            <a:avLst/>
          </a:prstGeom>
          <a:solidFill>
            <a:srgbClr val="000000">
              <a:alpha val="8000"/>
            </a:srgbClr>
          </a:solidFill>
          <a:ln/>
        </p:spPr>
      </p:sp>
      <p:sp>
        <p:nvSpPr>
          <p:cNvPr id="7" name="Shape 5"/>
          <p:cNvSpPr/>
          <p:nvPr/>
        </p:nvSpPr>
        <p:spPr>
          <a:xfrm>
            <a:off x="496119" y="2490043"/>
            <a:ext cx="8151763" cy="7753"/>
          </a:xfrm>
          <a:prstGeom prst="rect">
            <a:avLst/>
          </a:prstGeom>
          <a:solidFill>
            <a:srgbClr val="000000">
              <a:alpha val="8000"/>
            </a:srgbClr>
          </a:solidFill>
          <a:ln/>
        </p:spPr>
      </p:sp>
      <p:sp>
        <p:nvSpPr>
          <p:cNvPr id="8" name="Shape 6"/>
          <p:cNvSpPr/>
          <p:nvPr/>
        </p:nvSpPr>
        <p:spPr>
          <a:xfrm>
            <a:off x="2129507" y="1041350"/>
            <a:ext cx="7753" cy="1812652"/>
          </a:xfrm>
          <a:prstGeom prst="rect">
            <a:avLst/>
          </a:prstGeom>
          <a:solidFill>
            <a:srgbClr val="000000">
              <a:alpha val="8000"/>
            </a:srgbClr>
          </a:solidFill>
          <a:ln/>
        </p:spPr>
      </p:sp>
      <p:sp>
        <p:nvSpPr>
          <p:cNvPr id="9" name="Shape 7"/>
          <p:cNvSpPr/>
          <p:nvPr/>
        </p:nvSpPr>
        <p:spPr>
          <a:xfrm>
            <a:off x="3757910" y="1041350"/>
            <a:ext cx="7753" cy="1812652"/>
          </a:xfrm>
          <a:prstGeom prst="rect">
            <a:avLst/>
          </a:prstGeom>
          <a:solidFill>
            <a:srgbClr val="000000">
              <a:alpha val="8000"/>
            </a:srgbClr>
          </a:solidFill>
          <a:ln/>
        </p:spPr>
      </p:sp>
      <p:sp>
        <p:nvSpPr>
          <p:cNvPr id="10" name="Shape 8"/>
          <p:cNvSpPr/>
          <p:nvPr/>
        </p:nvSpPr>
        <p:spPr>
          <a:xfrm>
            <a:off x="5386313" y="1041350"/>
            <a:ext cx="7753" cy="1812652"/>
          </a:xfrm>
          <a:prstGeom prst="rect">
            <a:avLst/>
          </a:prstGeom>
          <a:solidFill>
            <a:srgbClr val="000000">
              <a:alpha val="8000"/>
            </a:srgbClr>
          </a:solidFill>
          <a:ln/>
        </p:spPr>
      </p:sp>
      <p:sp>
        <p:nvSpPr>
          <p:cNvPr id="11" name="Shape 9"/>
          <p:cNvSpPr/>
          <p:nvPr/>
        </p:nvSpPr>
        <p:spPr>
          <a:xfrm>
            <a:off x="7014716" y="1041350"/>
            <a:ext cx="7753" cy="1812652"/>
          </a:xfrm>
          <a:prstGeom prst="rect">
            <a:avLst/>
          </a:prstGeom>
          <a:solidFill>
            <a:srgbClr val="000000">
              <a:alpha val="8000"/>
            </a:srgbClr>
          </a:solidFill>
          <a:ln/>
        </p:spPr>
      </p:sp>
      <p:sp>
        <p:nvSpPr>
          <p:cNvPr id="12" name="Text 10"/>
          <p:cNvSpPr/>
          <p:nvPr/>
        </p:nvSpPr>
        <p:spPr>
          <a:xfrm>
            <a:off x="625078" y="1125289"/>
            <a:ext cx="1835274" cy="198462"/>
          </a:xfrm>
          <a:prstGeom prst="rect">
            <a:avLst/>
          </a:prstGeom>
          <a:noFill/>
          <a:ln/>
        </p:spPr>
        <p:txBody>
          <a:bodyPr wrap="none" lIns="0" tIns="0" rIns="0" bIns="0" rtlCol="0" anchor="t"/>
          <a:lstStyle/>
          <a:p>
            <a:pPr algn="l" indent="0" marL="0">
              <a:lnSpc>
                <a:spcPct val="133000"/>
              </a:lnSpc>
              <a:buNone/>
            </a:pPr>
            <a:r>
              <a:rPr lang="ko-KR" altLang="en-US" sz="950" b="1" spc="-20" kern="0" dirty="0">
                <a:solidFill>
                  <a:srgbClr val="272525"/>
                </a:solidFill>
                <a:latin typeface="Inter Bold" pitchFamily="34" charset="0"/>
                <a:ea typeface="Inter Bold" pitchFamily="34" charset="-122"/>
                <a:cs typeface="Inter Bold" pitchFamily="34" charset="-120"/>
              </a:rPr>
              <a:t>모수</a:t>
            </a:r>
            <a:endParaRPr lang="ko-KR" sz="950" dirty="0"/>
          </a:p>
        </p:txBody>
      </p:sp>
      <p:sp>
        <p:nvSpPr>
          <p:cNvPr id="13" name="Text 11"/>
          <p:cNvSpPr/>
          <p:nvPr/>
        </p:nvSpPr>
        <p:spPr>
          <a:xfrm>
            <a:off x="2255862" y="1125289"/>
            <a:ext cx="1832893" cy="198462"/>
          </a:xfrm>
          <a:prstGeom prst="rect">
            <a:avLst/>
          </a:prstGeom>
          <a:noFill/>
          <a:ln/>
        </p:spPr>
        <p:txBody>
          <a:bodyPr wrap="none" lIns="0" tIns="0" rIns="0" bIns="0" rtlCol="0" anchor="t"/>
          <a:lstStyle/>
          <a:p>
            <a:pPr algn="l" indent="0" marL="0">
              <a:lnSpc>
                <a:spcPct val="133000"/>
              </a:lnSpc>
              <a:buNone/>
            </a:pPr>
            <a:r>
              <a:rPr lang="ko-KR" altLang="en-US" sz="950" b="1" spc="-20" kern="0" dirty="0">
                <a:solidFill>
                  <a:srgbClr val="272525"/>
                </a:solidFill>
                <a:latin typeface="Inter Bold" pitchFamily="34" charset="0"/>
                <a:ea typeface="Inter Bold" pitchFamily="34" charset="-122"/>
                <a:cs typeface="Inter Bold" pitchFamily="34" charset="-120"/>
              </a:rPr>
              <a:t>전국</a:t>
            </a:r>
            <a:endParaRPr lang="ko-KR" sz="950" dirty="0"/>
          </a:p>
        </p:txBody>
      </p:sp>
      <p:sp>
        <p:nvSpPr>
          <p:cNvPr id="14" name="Text 12"/>
          <p:cNvSpPr/>
          <p:nvPr/>
        </p:nvSpPr>
        <p:spPr>
          <a:xfrm>
            <a:off x="3884265" y="1125289"/>
            <a:ext cx="1832893" cy="198462"/>
          </a:xfrm>
          <a:prstGeom prst="rect">
            <a:avLst/>
          </a:prstGeom>
          <a:noFill/>
          <a:ln/>
        </p:spPr>
        <p:txBody>
          <a:bodyPr wrap="none" lIns="0" tIns="0" rIns="0" bIns="0" rtlCol="0" anchor="t"/>
          <a:lstStyle/>
          <a:p>
            <a:pPr algn="l" indent="0" marL="0">
              <a:lnSpc>
                <a:spcPct val="133000"/>
              </a:lnSpc>
              <a:buNone/>
            </a:pPr>
            <a:r>
              <a:rPr lang="ko-KR" altLang="en-US" sz="950" b="1" spc="-20" kern="0" dirty="0">
                <a:solidFill>
                  <a:srgbClr val="272525"/>
                </a:solidFill>
                <a:latin typeface="Inter Bold" pitchFamily="34" charset="0"/>
                <a:ea typeface="Inter Bold" pitchFamily="34" charset="-122"/>
                <a:cs typeface="Inter Bold" pitchFamily="34" charset="-120"/>
              </a:rPr>
              <a:t>서울</a:t>
            </a:r>
            <a:endParaRPr lang="ko-KR" sz="950" dirty="0"/>
          </a:p>
        </p:txBody>
      </p:sp>
      <p:sp>
        <p:nvSpPr>
          <p:cNvPr id="15" name="Text 13"/>
          <p:cNvSpPr/>
          <p:nvPr/>
        </p:nvSpPr>
        <p:spPr>
          <a:xfrm>
            <a:off x="5512668" y="1125289"/>
            <a:ext cx="1832893" cy="198462"/>
          </a:xfrm>
          <a:prstGeom prst="rect">
            <a:avLst/>
          </a:prstGeom>
          <a:noFill/>
          <a:ln/>
        </p:spPr>
        <p:txBody>
          <a:bodyPr wrap="none" lIns="0" tIns="0" rIns="0" bIns="0" rtlCol="0" anchor="t"/>
          <a:lstStyle/>
          <a:p>
            <a:pPr algn="l" indent="0" marL="0">
              <a:lnSpc>
                <a:spcPct val="133000"/>
              </a:lnSpc>
              <a:buNone/>
            </a:pPr>
            <a:r>
              <a:rPr lang="ko-KR" altLang="en-US" sz="950" b="1" spc="-20" kern="0" dirty="0">
                <a:solidFill>
                  <a:srgbClr val="272525"/>
                </a:solidFill>
                <a:latin typeface="Inter Bold" pitchFamily="34" charset="0"/>
                <a:ea typeface="Inter Bold" pitchFamily="34" charset="-122"/>
                <a:cs typeface="Inter Bold" pitchFamily="34" charset="-120"/>
              </a:rPr>
              <a:t>수도권</a:t>
            </a:r>
            <a:endParaRPr lang="ko-KR" sz="950" dirty="0"/>
          </a:p>
        </p:txBody>
      </p:sp>
      <p:sp>
        <p:nvSpPr>
          <p:cNvPr id="16" name="Text 14"/>
          <p:cNvSpPr/>
          <p:nvPr/>
        </p:nvSpPr>
        <p:spPr>
          <a:xfrm>
            <a:off x="7141071" y="1125289"/>
            <a:ext cx="1835274" cy="198462"/>
          </a:xfrm>
          <a:prstGeom prst="rect">
            <a:avLst/>
          </a:prstGeom>
          <a:noFill/>
          <a:ln/>
        </p:spPr>
        <p:txBody>
          <a:bodyPr wrap="none" lIns="0" tIns="0" rIns="0" bIns="0" rtlCol="0" anchor="t"/>
          <a:lstStyle/>
          <a:p>
            <a:pPr algn="l" indent="0" marL="0">
              <a:lnSpc>
                <a:spcPct val="133000"/>
              </a:lnSpc>
              <a:buNone/>
            </a:pPr>
            <a:r>
              <a:rPr lang="ko-KR" altLang="en-US" sz="950" b="1" spc="-20" kern="0" dirty="0">
                <a:solidFill>
                  <a:srgbClr val="272525"/>
                </a:solidFill>
                <a:latin typeface="Inter Bold" pitchFamily="34" charset="0"/>
                <a:ea typeface="Inter Bold" pitchFamily="34" charset="-122"/>
                <a:cs typeface="Inter Bold" pitchFamily="34" charset="-120"/>
              </a:rPr>
              <a:t>5대광역시</a:t>
            </a:r>
            <a:endParaRPr lang="ko-KR" sz="950" dirty="0"/>
          </a:p>
        </p:txBody>
      </p:sp>
      <p:sp>
        <p:nvSpPr>
          <p:cNvPr id="17" name="Text 15"/>
          <p:cNvSpPr/>
          <p:nvPr/>
        </p:nvSpPr>
        <p:spPr>
          <a:xfrm>
            <a:off x="625078" y="1486867"/>
            <a:ext cx="1835274" cy="198462"/>
          </a:xfrm>
          <a:prstGeom prst="rect">
            <a:avLst/>
          </a:prstGeom>
          <a:noFill/>
          <a:ln/>
        </p:spPr>
        <p:txBody>
          <a:bodyPr wrap="none" lIns="0" tIns="0" rIns="0" bIns="0" rtlCol="0" anchor="t"/>
          <a:lstStyle/>
          <a:p>
            <a:pPr algn="l" indent="0" marL="0">
              <a:lnSpc>
                <a:spcPct val="133000"/>
              </a:lnSpc>
              <a:buNone/>
            </a:pPr>
            <a:r>
              <a:rPr lang="ko-KR" altLang="en-US" sz="950" spc="-20" kern="0" dirty="0">
                <a:solidFill>
                  <a:srgbClr val="272525"/>
                </a:solidFill>
                <a:latin typeface="Inter" pitchFamily="34" charset="0"/>
                <a:ea typeface="Inter" pitchFamily="34" charset="-122"/>
                <a:cs typeface="Inter" pitchFamily="34" charset="-120"/>
              </a:rPr>
              <a:t>상수항</a:t>
            </a:r>
            <a:endParaRPr lang="ko-KR" sz="950" dirty="0"/>
          </a:p>
        </p:txBody>
      </p:sp>
      <p:sp>
        <p:nvSpPr>
          <p:cNvPr id="18" name="Text 16"/>
          <p:cNvSpPr/>
          <p:nvPr/>
        </p:nvSpPr>
        <p:spPr>
          <a:xfrm>
            <a:off x="2255862" y="1486867"/>
            <a:ext cx="1832893" cy="198462"/>
          </a:xfrm>
          <a:prstGeom prst="rect">
            <a:avLst/>
          </a:prstGeom>
          <a:noFill/>
          <a:ln/>
        </p:spPr>
        <p:txBody>
          <a:bodyPr wrap="none" lIns="0" tIns="0" rIns="0" bIns="0" rtlCol="0" anchor="t"/>
          <a:lstStyle/>
          <a:p>
            <a:pPr algn="l" indent="0" marL="0">
              <a:lnSpc>
                <a:spcPct val="133000"/>
              </a:lnSpc>
              <a:buNone/>
            </a:pPr>
            <a:r>
              <a:rPr lang="en-US" sz="950" spc="-20" kern="0" dirty="0">
                <a:solidFill>
                  <a:srgbClr val="272525"/>
                </a:solidFill>
                <a:latin typeface="Inter" pitchFamily="34" charset="0"/>
                <a:ea typeface="Inter" pitchFamily="34" charset="-122"/>
                <a:cs typeface="Inter" pitchFamily="34" charset="-120"/>
              </a:rPr>
              <a:t>-0.7047***</a:t>
            </a:r>
            <a:endParaRPr lang="en-US" sz="950" dirty="0"/>
          </a:p>
        </p:txBody>
      </p:sp>
      <p:sp>
        <p:nvSpPr>
          <p:cNvPr id="19" name="Text 17"/>
          <p:cNvSpPr/>
          <p:nvPr/>
        </p:nvSpPr>
        <p:spPr>
          <a:xfrm>
            <a:off x="3884265" y="1486867"/>
            <a:ext cx="1832893" cy="198462"/>
          </a:xfrm>
          <a:prstGeom prst="rect">
            <a:avLst/>
          </a:prstGeom>
          <a:noFill/>
          <a:ln/>
        </p:spPr>
        <p:txBody>
          <a:bodyPr wrap="none" lIns="0" tIns="0" rIns="0" bIns="0" rtlCol="0" anchor="t"/>
          <a:lstStyle/>
          <a:p>
            <a:pPr algn="l" indent="0" marL="0">
              <a:lnSpc>
                <a:spcPct val="133000"/>
              </a:lnSpc>
              <a:buNone/>
            </a:pPr>
            <a:r>
              <a:rPr lang="en-US" sz="950" spc="-20" kern="0" dirty="0">
                <a:solidFill>
                  <a:srgbClr val="272525"/>
                </a:solidFill>
                <a:latin typeface="Inter" pitchFamily="34" charset="0"/>
                <a:ea typeface="Inter" pitchFamily="34" charset="-122"/>
                <a:cs typeface="Inter" pitchFamily="34" charset="-120"/>
              </a:rPr>
              <a:t>0.0157</a:t>
            </a:r>
            <a:endParaRPr lang="en-US" sz="950" dirty="0"/>
          </a:p>
        </p:txBody>
      </p:sp>
      <p:sp>
        <p:nvSpPr>
          <p:cNvPr id="20" name="Text 18"/>
          <p:cNvSpPr/>
          <p:nvPr/>
        </p:nvSpPr>
        <p:spPr>
          <a:xfrm>
            <a:off x="5512668" y="1486867"/>
            <a:ext cx="1832893" cy="198462"/>
          </a:xfrm>
          <a:prstGeom prst="rect">
            <a:avLst/>
          </a:prstGeom>
          <a:noFill/>
          <a:ln/>
        </p:spPr>
        <p:txBody>
          <a:bodyPr wrap="none" lIns="0" tIns="0" rIns="0" bIns="0" rtlCol="0" anchor="t"/>
          <a:lstStyle/>
          <a:p>
            <a:pPr algn="l" indent="0" marL="0">
              <a:lnSpc>
                <a:spcPct val="133000"/>
              </a:lnSpc>
              <a:buNone/>
            </a:pPr>
            <a:r>
              <a:rPr lang="en-US" sz="950" spc="-20" kern="0" dirty="0">
                <a:solidFill>
                  <a:srgbClr val="272525"/>
                </a:solidFill>
                <a:latin typeface="Inter" pitchFamily="34" charset="0"/>
                <a:ea typeface="Inter" pitchFamily="34" charset="-122"/>
                <a:cs typeface="Inter" pitchFamily="34" charset="-120"/>
              </a:rPr>
              <a:t>-0.3375</a:t>
            </a:r>
            <a:endParaRPr lang="en-US" sz="950" dirty="0"/>
          </a:p>
        </p:txBody>
      </p:sp>
      <p:sp>
        <p:nvSpPr>
          <p:cNvPr id="21" name="Text 19"/>
          <p:cNvSpPr/>
          <p:nvPr/>
        </p:nvSpPr>
        <p:spPr>
          <a:xfrm>
            <a:off x="7141071" y="1486867"/>
            <a:ext cx="1835274" cy="198462"/>
          </a:xfrm>
          <a:prstGeom prst="rect">
            <a:avLst/>
          </a:prstGeom>
          <a:noFill/>
          <a:ln/>
        </p:spPr>
        <p:txBody>
          <a:bodyPr wrap="none" lIns="0" tIns="0" rIns="0" bIns="0" rtlCol="0" anchor="t"/>
          <a:lstStyle/>
          <a:p>
            <a:pPr algn="l" indent="0" marL="0">
              <a:lnSpc>
                <a:spcPct val="133000"/>
              </a:lnSpc>
              <a:buNone/>
            </a:pPr>
            <a:r>
              <a:rPr lang="en-US" sz="950" spc="-20" kern="0" dirty="0">
                <a:solidFill>
                  <a:srgbClr val="272525"/>
                </a:solidFill>
                <a:latin typeface="Inter" pitchFamily="34" charset="0"/>
                <a:ea typeface="Inter" pitchFamily="34" charset="-122"/>
                <a:cs typeface="Inter" pitchFamily="34" charset="-120"/>
              </a:rPr>
              <a:t>-0.9148***</a:t>
            </a:r>
            <a:endParaRPr lang="en-US" sz="950" dirty="0"/>
          </a:p>
        </p:txBody>
      </p:sp>
      <p:sp>
        <p:nvSpPr>
          <p:cNvPr id="22" name="Text 20"/>
          <p:cNvSpPr/>
          <p:nvPr/>
        </p:nvSpPr>
        <p:spPr>
          <a:xfrm>
            <a:off x="625078" y="1848445"/>
            <a:ext cx="1835274" cy="198462"/>
          </a:xfrm>
          <a:prstGeom prst="rect">
            <a:avLst/>
          </a:prstGeom>
          <a:noFill/>
          <a:ln/>
        </p:spPr>
        <p:txBody>
          <a:bodyPr wrap="none" lIns="0" tIns="0" rIns="0" bIns="0" rtlCol="0" anchor="t"/>
          <a:lstStyle/>
          <a:p>
            <a:pPr algn="l" indent="0" marL="0">
              <a:lnSpc>
                <a:spcPct val="133000"/>
              </a:lnSpc>
              <a:buNone/>
            </a:pPr>
            <a:r>
              <a:rPr lang="ko-KR" altLang="en-US" sz="950" b="1" spc="-20" kern="0" dirty="0">
                <a:solidFill>
                  <a:srgbClr val="272525"/>
                </a:solidFill>
                <a:latin typeface="Inter Bold" pitchFamily="34" charset="0"/>
                <a:ea typeface="Inter Bold" pitchFamily="34" charset="-122"/>
                <a:cs typeface="Inter Bold" pitchFamily="34" charset="-120"/>
              </a:rPr>
              <a:t>β (시장베타)</a:t>
            </a:r>
            <a:endParaRPr lang="ko-KR" sz="950" dirty="0"/>
          </a:p>
        </p:txBody>
      </p:sp>
      <p:sp>
        <p:nvSpPr>
          <p:cNvPr id="23" name="Text 21"/>
          <p:cNvSpPr/>
          <p:nvPr/>
        </p:nvSpPr>
        <p:spPr>
          <a:xfrm>
            <a:off x="2255862" y="1848445"/>
            <a:ext cx="1832893" cy="198462"/>
          </a:xfrm>
          <a:prstGeom prst="rect">
            <a:avLst/>
          </a:prstGeom>
          <a:noFill/>
          <a:ln/>
        </p:spPr>
        <p:txBody>
          <a:bodyPr wrap="none" lIns="0" tIns="0" rIns="0" bIns="0" rtlCol="0" anchor="t"/>
          <a:lstStyle/>
          <a:p>
            <a:pPr algn="l" indent="0" marL="0">
              <a:lnSpc>
                <a:spcPct val="133000"/>
              </a:lnSpc>
              <a:buNone/>
            </a:pPr>
            <a:r>
              <a:rPr lang="en-US" sz="950" b="1" spc="-20" kern="0" dirty="0">
                <a:solidFill>
                  <a:srgbClr val="272525"/>
                </a:solidFill>
                <a:latin typeface="Inter Bold" pitchFamily="34" charset="0"/>
                <a:ea typeface="Inter Bold" pitchFamily="34" charset="-122"/>
                <a:cs typeface="Inter Bold" pitchFamily="34" charset="-120"/>
              </a:rPr>
              <a:t>0.6065***</a:t>
            </a:r>
            <a:endParaRPr lang="en-US" sz="950" dirty="0"/>
          </a:p>
        </p:txBody>
      </p:sp>
      <p:sp>
        <p:nvSpPr>
          <p:cNvPr id="24" name="Text 22"/>
          <p:cNvSpPr/>
          <p:nvPr/>
        </p:nvSpPr>
        <p:spPr>
          <a:xfrm>
            <a:off x="3884265" y="1848445"/>
            <a:ext cx="1832893" cy="198462"/>
          </a:xfrm>
          <a:prstGeom prst="rect">
            <a:avLst/>
          </a:prstGeom>
          <a:noFill/>
          <a:ln/>
        </p:spPr>
        <p:txBody>
          <a:bodyPr wrap="none" lIns="0" tIns="0" rIns="0" bIns="0" rtlCol="0" anchor="t"/>
          <a:lstStyle/>
          <a:p>
            <a:pPr algn="l" indent="0" marL="0">
              <a:lnSpc>
                <a:spcPct val="133000"/>
              </a:lnSpc>
              <a:buNone/>
            </a:pPr>
            <a:r>
              <a:rPr lang="en-US" sz="950" b="1" spc="-20" kern="0" dirty="0">
                <a:solidFill>
                  <a:srgbClr val="272525"/>
                </a:solidFill>
                <a:latin typeface="Inter Bold" pitchFamily="34" charset="0"/>
                <a:ea typeface="Inter Bold" pitchFamily="34" charset="-122"/>
                <a:cs typeface="Inter Bold" pitchFamily="34" charset="-120"/>
              </a:rPr>
              <a:t>0.5308***</a:t>
            </a:r>
            <a:endParaRPr lang="en-US" sz="950" dirty="0"/>
          </a:p>
        </p:txBody>
      </p:sp>
      <p:sp>
        <p:nvSpPr>
          <p:cNvPr id="25" name="Text 23"/>
          <p:cNvSpPr/>
          <p:nvPr/>
        </p:nvSpPr>
        <p:spPr>
          <a:xfrm>
            <a:off x="5512668" y="1848445"/>
            <a:ext cx="1832893" cy="198462"/>
          </a:xfrm>
          <a:prstGeom prst="rect">
            <a:avLst/>
          </a:prstGeom>
          <a:noFill/>
          <a:ln/>
        </p:spPr>
        <p:txBody>
          <a:bodyPr wrap="none" lIns="0" tIns="0" rIns="0" bIns="0" rtlCol="0" anchor="t"/>
          <a:lstStyle/>
          <a:p>
            <a:pPr algn="l" indent="0" marL="0">
              <a:lnSpc>
                <a:spcPct val="133000"/>
              </a:lnSpc>
              <a:buNone/>
            </a:pPr>
            <a:r>
              <a:rPr lang="en-US" sz="950" b="1" spc="-20" kern="0" dirty="0">
                <a:solidFill>
                  <a:srgbClr val="272525"/>
                </a:solidFill>
                <a:latin typeface="Inter Bold" pitchFamily="34" charset="0"/>
                <a:ea typeface="Inter Bold" pitchFamily="34" charset="-122"/>
                <a:cs typeface="Inter Bold" pitchFamily="34" charset="-120"/>
              </a:rPr>
              <a:t>0.7519***</a:t>
            </a:r>
            <a:endParaRPr lang="en-US" sz="950" dirty="0"/>
          </a:p>
        </p:txBody>
      </p:sp>
      <p:sp>
        <p:nvSpPr>
          <p:cNvPr id="26" name="Text 24"/>
          <p:cNvSpPr/>
          <p:nvPr/>
        </p:nvSpPr>
        <p:spPr>
          <a:xfrm>
            <a:off x="7141071" y="1848445"/>
            <a:ext cx="1835274" cy="198462"/>
          </a:xfrm>
          <a:prstGeom prst="rect">
            <a:avLst/>
          </a:prstGeom>
          <a:noFill/>
          <a:ln/>
        </p:spPr>
        <p:txBody>
          <a:bodyPr wrap="none" lIns="0" tIns="0" rIns="0" bIns="0" rtlCol="0" anchor="t"/>
          <a:lstStyle/>
          <a:p>
            <a:pPr algn="l" indent="0" marL="0">
              <a:lnSpc>
                <a:spcPct val="133000"/>
              </a:lnSpc>
              <a:buNone/>
            </a:pPr>
            <a:r>
              <a:rPr lang="en-US" sz="950" b="1" spc="-20" kern="0" dirty="0">
                <a:solidFill>
                  <a:srgbClr val="272525"/>
                </a:solidFill>
                <a:latin typeface="Inter Bold" pitchFamily="34" charset="0"/>
                <a:ea typeface="Inter Bold" pitchFamily="34" charset="-122"/>
                <a:cs typeface="Inter Bold" pitchFamily="34" charset="-120"/>
              </a:rPr>
              <a:t>0.5620***</a:t>
            </a:r>
            <a:endParaRPr lang="en-US" sz="950" dirty="0"/>
          </a:p>
        </p:txBody>
      </p:sp>
      <p:sp>
        <p:nvSpPr>
          <p:cNvPr id="27" name="Text 25"/>
          <p:cNvSpPr/>
          <p:nvPr/>
        </p:nvSpPr>
        <p:spPr>
          <a:xfrm>
            <a:off x="625078" y="2210023"/>
            <a:ext cx="1835274" cy="198462"/>
          </a:xfrm>
          <a:prstGeom prst="rect">
            <a:avLst/>
          </a:prstGeom>
          <a:noFill/>
          <a:ln/>
        </p:spPr>
        <p:txBody>
          <a:bodyPr wrap="none" lIns="0" tIns="0" rIns="0" bIns="0" rtlCol="0" anchor="t"/>
          <a:lstStyle/>
          <a:p>
            <a:pPr algn="l" indent="0" marL="0">
              <a:lnSpc>
                <a:spcPct val="133000"/>
              </a:lnSpc>
              <a:buNone/>
            </a:pPr>
            <a:r>
              <a:rPr lang="en-US" sz="950" spc="-20" kern="0" dirty="0">
                <a:solidFill>
                  <a:srgbClr val="272525"/>
                </a:solidFill>
                <a:latin typeface="Inter" pitchFamily="34" charset="0"/>
                <a:ea typeface="Inter" pitchFamily="34" charset="-122"/>
                <a:cs typeface="Inter" pitchFamily="34" charset="-120"/>
              </a:rPr>
              <a:t>AIC</a:t>
            </a:r>
            <a:endParaRPr lang="en-US" sz="950" dirty="0"/>
          </a:p>
        </p:txBody>
      </p:sp>
      <p:sp>
        <p:nvSpPr>
          <p:cNvPr id="28" name="Text 26"/>
          <p:cNvSpPr/>
          <p:nvPr/>
        </p:nvSpPr>
        <p:spPr>
          <a:xfrm>
            <a:off x="2255862" y="2210023"/>
            <a:ext cx="1832893" cy="198462"/>
          </a:xfrm>
          <a:prstGeom prst="rect">
            <a:avLst/>
          </a:prstGeom>
          <a:noFill/>
          <a:ln/>
        </p:spPr>
        <p:txBody>
          <a:bodyPr wrap="none" lIns="0" tIns="0" rIns="0" bIns="0" rtlCol="0" anchor="t"/>
          <a:lstStyle/>
          <a:p>
            <a:pPr algn="l" indent="0" marL="0">
              <a:lnSpc>
                <a:spcPct val="133000"/>
              </a:lnSpc>
              <a:buNone/>
            </a:pPr>
            <a:r>
              <a:rPr lang="en-US" sz="950" spc="-20" kern="0" dirty="0">
                <a:solidFill>
                  <a:srgbClr val="272525"/>
                </a:solidFill>
                <a:latin typeface="Inter" pitchFamily="34" charset="0"/>
                <a:ea typeface="Inter" pitchFamily="34" charset="-122"/>
                <a:cs typeface="Inter" pitchFamily="34" charset="-120"/>
              </a:rPr>
              <a:t>5.2033</a:t>
            </a:r>
            <a:endParaRPr lang="en-US" sz="950" dirty="0"/>
          </a:p>
        </p:txBody>
      </p:sp>
      <p:sp>
        <p:nvSpPr>
          <p:cNvPr id="29" name="Text 27"/>
          <p:cNvSpPr/>
          <p:nvPr/>
        </p:nvSpPr>
        <p:spPr>
          <a:xfrm>
            <a:off x="3884265" y="2210023"/>
            <a:ext cx="1832893" cy="198462"/>
          </a:xfrm>
          <a:prstGeom prst="rect">
            <a:avLst/>
          </a:prstGeom>
          <a:noFill/>
          <a:ln/>
        </p:spPr>
        <p:txBody>
          <a:bodyPr wrap="none" lIns="0" tIns="0" rIns="0" bIns="0" rtlCol="0" anchor="t"/>
          <a:lstStyle/>
          <a:p>
            <a:pPr algn="l" indent="0" marL="0">
              <a:lnSpc>
                <a:spcPct val="133000"/>
              </a:lnSpc>
              <a:buNone/>
            </a:pPr>
            <a:r>
              <a:rPr lang="en-US" sz="950" spc="-20" kern="0" dirty="0">
                <a:solidFill>
                  <a:srgbClr val="272525"/>
                </a:solidFill>
                <a:latin typeface="Inter" pitchFamily="34" charset="0"/>
                <a:ea typeface="Inter" pitchFamily="34" charset="-122"/>
                <a:cs typeface="Inter" pitchFamily="34" charset="-120"/>
              </a:rPr>
              <a:t>5.9911</a:t>
            </a:r>
            <a:endParaRPr lang="en-US" sz="950" dirty="0"/>
          </a:p>
        </p:txBody>
      </p:sp>
      <p:sp>
        <p:nvSpPr>
          <p:cNvPr id="30" name="Text 28"/>
          <p:cNvSpPr/>
          <p:nvPr/>
        </p:nvSpPr>
        <p:spPr>
          <a:xfrm>
            <a:off x="5512668" y="2210023"/>
            <a:ext cx="1832893" cy="198462"/>
          </a:xfrm>
          <a:prstGeom prst="rect">
            <a:avLst/>
          </a:prstGeom>
          <a:noFill/>
          <a:ln/>
        </p:spPr>
        <p:txBody>
          <a:bodyPr wrap="none" lIns="0" tIns="0" rIns="0" bIns="0" rtlCol="0" anchor="t"/>
          <a:lstStyle/>
          <a:p>
            <a:pPr algn="l" indent="0" marL="0">
              <a:lnSpc>
                <a:spcPct val="133000"/>
              </a:lnSpc>
              <a:buNone/>
            </a:pPr>
            <a:r>
              <a:rPr lang="en-US" sz="950" spc="-20" kern="0" dirty="0">
                <a:solidFill>
                  <a:srgbClr val="272525"/>
                </a:solidFill>
                <a:latin typeface="Inter" pitchFamily="34" charset="0"/>
                <a:ea typeface="Inter" pitchFamily="34" charset="-122"/>
                <a:cs typeface="Inter" pitchFamily="34" charset="-120"/>
              </a:rPr>
              <a:t>6.0885</a:t>
            </a:r>
            <a:endParaRPr lang="en-US" sz="950" dirty="0"/>
          </a:p>
        </p:txBody>
      </p:sp>
      <p:sp>
        <p:nvSpPr>
          <p:cNvPr id="31" name="Text 29"/>
          <p:cNvSpPr/>
          <p:nvPr/>
        </p:nvSpPr>
        <p:spPr>
          <a:xfrm>
            <a:off x="7141071" y="2210023"/>
            <a:ext cx="1835274" cy="198462"/>
          </a:xfrm>
          <a:prstGeom prst="rect">
            <a:avLst/>
          </a:prstGeom>
          <a:noFill/>
          <a:ln/>
        </p:spPr>
        <p:txBody>
          <a:bodyPr wrap="none" lIns="0" tIns="0" rIns="0" bIns="0" rtlCol="0" anchor="t"/>
          <a:lstStyle/>
          <a:p>
            <a:pPr algn="l" indent="0" marL="0">
              <a:lnSpc>
                <a:spcPct val="133000"/>
              </a:lnSpc>
              <a:buNone/>
            </a:pPr>
            <a:r>
              <a:rPr lang="en-US" sz="950" spc="-20" kern="0" dirty="0">
                <a:solidFill>
                  <a:srgbClr val="272525"/>
                </a:solidFill>
                <a:latin typeface="Inter" pitchFamily="34" charset="0"/>
                <a:ea typeface="Inter" pitchFamily="34" charset="-122"/>
                <a:cs typeface="Inter" pitchFamily="34" charset="-120"/>
              </a:rPr>
              <a:t>5.9639</a:t>
            </a:r>
            <a:endParaRPr lang="en-US" sz="950" dirty="0"/>
          </a:p>
        </p:txBody>
      </p:sp>
      <p:sp>
        <p:nvSpPr>
          <p:cNvPr id="32" name="Text 30"/>
          <p:cNvSpPr/>
          <p:nvPr/>
        </p:nvSpPr>
        <p:spPr>
          <a:xfrm>
            <a:off x="625078" y="2571601"/>
            <a:ext cx="1835274" cy="198462"/>
          </a:xfrm>
          <a:prstGeom prst="rect">
            <a:avLst/>
          </a:prstGeom>
          <a:noFill/>
          <a:ln/>
        </p:spPr>
        <p:txBody>
          <a:bodyPr wrap="none" lIns="0" tIns="0" rIns="0" bIns="0" rtlCol="0" anchor="t"/>
          <a:lstStyle/>
          <a:p>
            <a:pPr algn="l" indent="0" marL="0">
              <a:lnSpc>
                <a:spcPct val="133000"/>
              </a:lnSpc>
              <a:buNone/>
            </a:pPr>
            <a:r>
              <a:rPr lang="ko-KR" altLang="en-US" sz="950" spc="-20" kern="0" dirty="0">
                <a:solidFill>
                  <a:srgbClr val="272525"/>
                </a:solidFill>
                <a:latin typeface="Inter" pitchFamily="34" charset="0"/>
                <a:ea typeface="Inter" pitchFamily="34" charset="-122"/>
                <a:cs typeface="Inter" pitchFamily="34" charset="-120"/>
              </a:rPr>
              <a:t>F-통계량</a:t>
            </a:r>
            <a:endParaRPr lang="ko-KR" sz="950" dirty="0"/>
          </a:p>
        </p:txBody>
      </p:sp>
      <p:sp>
        <p:nvSpPr>
          <p:cNvPr id="33" name="Text 31"/>
          <p:cNvSpPr/>
          <p:nvPr/>
        </p:nvSpPr>
        <p:spPr>
          <a:xfrm>
            <a:off x="2255862" y="2571601"/>
            <a:ext cx="1832893" cy="198462"/>
          </a:xfrm>
          <a:prstGeom prst="rect">
            <a:avLst/>
          </a:prstGeom>
          <a:noFill/>
          <a:ln/>
        </p:spPr>
        <p:txBody>
          <a:bodyPr wrap="none" lIns="0" tIns="0" rIns="0" bIns="0" rtlCol="0" anchor="t"/>
          <a:lstStyle/>
          <a:p>
            <a:pPr algn="l" indent="0" marL="0">
              <a:lnSpc>
                <a:spcPct val="133000"/>
              </a:lnSpc>
              <a:buNone/>
            </a:pPr>
            <a:r>
              <a:rPr lang="en-US" sz="950" spc="-20" kern="0" dirty="0">
                <a:solidFill>
                  <a:srgbClr val="272525"/>
                </a:solidFill>
                <a:latin typeface="Inter" pitchFamily="34" charset="0"/>
                <a:ea typeface="Inter" pitchFamily="34" charset="-122"/>
                <a:cs typeface="Inter" pitchFamily="34" charset="-120"/>
              </a:rPr>
              <a:t>362.93</a:t>
            </a:r>
            <a:endParaRPr lang="en-US" sz="950" dirty="0"/>
          </a:p>
        </p:txBody>
      </p:sp>
      <p:sp>
        <p:nvSpPr>
          <p:cNvPr id="34" name="Text 32"/>
          <p:cNvSpPr/>
          <p:nvPr/>
        </p:nvSpPr>
        <p:spPr>
          <a:xfrm>
            <a:off x="3884265" y="2571601"/>
            <a:ext cx="1832893" cy="198462"/>
          </a:xfrm>
          <a:prstGeom prst="rect">
            <a:avLst/>
          </a:prstGeom>
          <a:noFill/>
          <a:ln/>
        </p:spPr>
        <p:txBody>
          <a:bodyPr wrap="none" lIns="0" tIns="0" rIns="0" bIns="0" rtlCol="0" anchor="t"/>
          <a:lstStyle/>
          <a:p>
            <a:pPr algn="l" indent="0" marL="0">
              <a:lnSpc>
                <a:spcPct val="133000"/>
              </a:lnSpc>
              <a:buNone/>
            </a:pPr>
            <a:r>
              <a:rPr lang="en-US" sz="950" spc="-20" kern="0" dirty="0">
                <a:solidFill>
                  <a:srgbClr val="272525"/>
                </a:solidFill>
                <a:latin typeface="Inter" pitchFamily="34" charset="0"/>
                <a:ea typeface="Inter" pitchFamily="34" charset="-122"/>
                <a:cs typeface="Inter" pitchFamily="34" charset="-120"/>
              </a:rPr>
              <a:t>126.48</a:t>
            </a:r>
            <a:endParaRPr lang="en-US" sz="950" dirty="0"/>
          </a:p>
        </p:txBody>
      </p:sp>
      <p:sp>
        <p:nvSpPr>
          <p:cNvPr id="35" name="Text 33"/>
          <p:cNvSpPr/>
          <p:nvPr/>
        </p:nvSpPr>
        <p:spPr>
          <a:xfrm>
            <a:off x="5512668" y="2571601"/>
            <a:ext cx="1832893" cy="198462"/>
          </a:xfrm>
          <a:prstGeom prst="rect">
            <a:avLst/>
          </a:prstGeom>
          <a:noFill/>
          <a:ln/>
        </p:spPr>
        <p:txBody>
          <a:bodyPr wrap="none" lIns="0" tIns="0" rIns="0" bIns="0" rtlCol="0" anchor="t"/>
          <a:lstStyle/>
          <a:p>
            <a:pPr algn="l" indent="0" marL="0">
              <a:lnSpc>
                <a:spcPct val="133000"/>
              </a:lnSpc>
              <a:buNone/>
            </a:pPr>
            <a:r>
              <a:rPr lang="en-US" sz="950" spc="-20" kern="0" dirty="0">
                <a:solidFill>
                  <a:srgbClr val="272525"/>
                </a:solidFill>
                <a:latin typeface="Inter" pitchFamily="34" charset="0"/>
                <a:ea typeface="Inter" pitchFamily="34" charset="-122"/>
                <a:cs typeface="Inter" pitchFamily="34" charset="-120"/>
              </a:rPr>
              <a:t>230.16</a:t>
            </a:r>
            <a:endParaRPr lang="en-US" sz="950" dirty="0"/>
          </a:p>
        </p:txBody>
      </p:sp>
      <p:sp>
        <p:nvSpPr>
          <p:cNvPr id="36" name="Text 34"/>
          <p:cNvSpPr/>
          <p:nvPr/>
        </p:nvSpPr>
        <p:spPr>
          <a:xfrm>
            <a:off x="7141071" y="2571601"/>
            <a:ext cx="1835274" cy="198462"/>
          </a:xfrm>
          <a:prstGeom prst="rect">
            <a:avLst/>
          </a:prstGeom>
          <a:noFill/>
          <a:ln/>
        </p:spPr>
        <p:txBody>
          <a:bodyPr wrap="none" lIns="0" tIns="0" rIns="0" bIns="0" rtlCol="0" anchor="t"/>
          <a:lstStyle/>
          <a:p>
            <a:pPr algn="l" indent="0" marL="0">
              <a:lnSpc>
                <a:spcPct val="133000"/>
              </a:lnSpc>
              <a:buNone/>
            </a:pPr>
            <a:r>
              <a:rPr lang="en-US" sz="950" spc="-20" kern="0" dirty="0">
                <a:solidFill>
                  <a:srgbClr val="272525"/>
                </a:solidFill>
                <a:latin typeface="Inter" pitchFamily="34" charset="0"/>
                <a:ea typeface="Inter" pitchFamily="34" charset="-122"/>
                <a:cs typeface="Inter" pitchFamily="34" charset="-120"/>
              </a:rPr>
              <a:t>145.66</a:t>
            </a:r>
            <a:endParaRPr lang="en-US" sz="950" dirty="0"/>
          </a:p>
        </p:txBody>
      </p:sp>
      <p:sp>
        <p:nvSpPr>
          <p:cNvPr id="37" name="Text 35"/>
          <p:cNvSpPr/>
          <p:nvPr/>
        </p:nvSpPr>
        <p:spPr>
          <a:xfrm>
            <a:off x="496119" y="3117503"/>
            <a:ext cx="3924598" cy="193849"/>
          </a:xfrm>
          <a:prstGeom prst="rect">
            <a:avLst/>
          </a:prstGeom>
          <a:noFill/>
          <a:ln/>
        </p:spPr>
        <p:txBody>
          <a:bodyPr wrap="none" lIns="0" tIns="0" rIns="0" bIns="0" rtlCol="0" anchor="t"/>
          <a:lstStyle/>
          <a:p>
            <a:pPr algn="l" indent="0" marL="0">
              <a:lnSpc>
                <a:spcPct val="104000"/>
              </a:lnSpc>
              <a:buNone/>
            </a:pPr>
            <a:r>
              <a:rPr lang="ko-KR" altLang="en-US" sz="1200" b="1" spc="-37" kern="0" dirty="0">
                <a:solidFill>
                  <a:srgbClr val="000000"/>
                </a:solidFill>
                <a:latin typeface="Inter Bold" pitchFamily="34" charset="0"/>
                <a:ea typeface="Inter Bold" pitchFamily="34" charset="-122"/>
                <a:cs typeface="Inter Bold" pitchFamily="34" charset="-120"/>
              </a:rPr>
              <a:t>전국 아파트 시장: β = 0.6065</a:t>
            </a:r>
            <a:endParaRPr lang="ko-KR" sz="1200" dirty="0"/>
          </a:p>
        </p:txBody>
      </p:sp>
      <p:sp>
        <p:nvSpPr>
          <p:cNvPr id="38" name="Text 36"/>
          <p:cNvSpPr/>
          <p:nvPr/>
        </p:nvSpPr>
        <p:spPr>
          <a:xfrm>
            <a:off x="496119" y="3435325"/>
            <a:ext cx="3924598" cy="595387"/>
          </a:xfrm>
          <a:prstGeom prst="rect">
            <a:avLst/>
          </a:prstGeom>
          <a:noFill/>
          <a:ln/>
        </p:spPr>
        <p:txBody>
          <a:bodyPr wrap="square" lIns="0" tIns="0" rIns="0" bIns="0" rtlCol="0" anchor="t">
            <a:normAutofit/>
          </a:bodyPr>
          <a:lstStyle/>
          <a:p>
            <a:pPr algn="l" indent="0" marL="0">
              <a:lnSpc>
                <a:spcPct val="133000"/>
              </a:lnSpc>
              <a:buNone/>
            </a:pPr>
            <a:r>
              <a:rPr lang="ko-KR" altLang="en-US" sz="950" spc="-20" kern="0" dirty="0">
                <a:solidFill>
                  <a:srgbClr val="272525"/>
                </a:solidFill>
                <a:latin typeface="Inter" pitchFamily="34" charset="0"/>
                <a:ea typeface="Inter" pitchFamily="34" charset="-122"/>
                <a:cs typeface="Inter" pitchFamily="34" charset="-120"/>
              </a:rPr>
              <a:t>시장포트폴리오 초과수익률이 1%p 증가할 경우 전국 아파트 초과수익률이 평균적으로 약 0.61%p 반응함을 의미한다. 전국 주택시장은 자산시장 공통요인에 대해 비교적 높은 민감도를 가지는 통합적 시장 구조를 형성하고 있다.</a:t>
            </a:r>
            <a:endParaRPr lang="ko-KR" sz="950" dirty="0"/>
          </a:p>
        </p:txBody>
      </p:sp>
      <p:sp>
        <p:nvSpPr>
          <p:cNvPr id="39" name="Shape 37"/>
          <p:cNvSpPr/>
          <p:nvPr/>
        </p:nvSpPr>
        <p:spPr>
          <a:xfrm>
            <a:off x="4638749" y="2993529"/>
            <a:ext cx="4103191" cy="1744191"/>
          </a:xfrm>
          <a:prstGeom prst="roundRect">
            <a:avLst>
              <a:gd name="adj" fmla="val 5121"/>
            </a:avLst>
          </a:prstGeom>
          <a:solidFill>
            <a:srgbClr val="4950BC"/>
          </a:solidFill>
          <a:ln/>
        </p:spPr>
      </p:sp>
      <p:sp>
        <p:nvSpPr>
          <p:cNvPr id="40" name="Text 38"/>
          <p:cNvSpPr/>
          <p:nvPr/>
        </p:nvSpPr>
        <p:spPr>
          <a:xfrm>
            <a:off x="4762723" y="3117503"/>
            <a:ext cx="3855244" cy="193849"/>
          </a:xfrm>
          <a:prstGeom prst="rect">
            <a:avLst/>
          </a:prstGeom>
          <a:noFill/>
          <a:ln/>
        </p:spPr>
        <p:txBody>
          <a:bodyPr wrap="none" lIns="0" tIns="0" rIns="0" bIns="0" rtlCol="0" anchor="t"/>
          <a:lstStyle/>
          <a:p>
            <a:pPr algn="l" indent="0" marL="0">
              <a:lnSpc>
                <a:spcPct val="104000"/>
              </a:lnSpc>
              <a:buNone/>
            </a:pPr>
            <a:r>
              <a:rPr lang="ko-KR" altLang="en-US" sz="1200" b="1" spc="-37" kern="0" dirty="0">
                <a:solidFill>
                  <a:srgbClr val="FFFFFF"/>
                </a:solidFill>
                <a:latin typeface="Inter Bold" pitchFamily="34" charset="0"/>
                <a:ea typeface="Inter Bold" pitchFamily="34" charset="-122"/>
                <a:cs typeface="Inter Bold" pitchFamily="34" charset="-120"/>
              </a:rPr>
              <a:t>지역별 이질성</a:t>
            </a:r>
            <a:endParaRPr lang="ko-KR" sz="1200" dirty="0"/>
          </a:p>
        </p:txBody>
      </p:sp>
      <p:sp>
        <p:nvSpPr>
          <p:cNvPr id="41" name="Text 39"/>
          <p:cNvSpPr/>
          <p:nvPr/>
        </p:nvSpPr>
        <p:spPr>
          <a:xfrm>
            <a:off x="4762723" y="3435325"/>
            <a:ext cx="3855244" cy="1190774"/>
          </a:xfrm>
          <a:prstGeom prst="rect">
            <a:avLst/>
          </a:prstGeom>
          <a:noFill/>
          <a:ln/>
        </p:spPr>
        <p:txBody>
          <a:bodyPr wrap="square" lIns="0" tIns="0" rIns="0" bIns="0" rtlCol="0" anchor="t">
            <a:normAutofit/>
          </a:bodyPr>
          <a:lstStyle/>
          <a:p>
            <a:pPr algn="l" indent="0" marL="0">
              <a:lnSpc>
                <a:spcPct val="133000"/>
              </a:lnSpc>
              <a:buNone/>
            </a:pPr>
            <a:r>
              <a:rPr lang="ko-KR" altLang="en-US" sz="950" spc="-20" kern="0" dirty="0">
                <a:solidFill>
                  <a:srgbClr val="FFFFFF"/>
                </a:solidFill>
                <a:latin typeface="Inter" pitchFamily="34" charset="0"/>
                <a:ea typeface="Inter" pitchFamily="34" charset="-122"/>
                <a:cs typeface="Inter" pitchFamily="34" charset="-120"/>
              </a:rPr>
              <a:t>수도권의 베타값이 0.7519로 가장 높게 추정되어 금융시장 변동과 유동성 변화에 가장 민감하게 반응하는 구조를 보인다. 서울은 0.5308로 수도권 대비 낮은 수준이며, 서울 내부에서도 강남구(0.6380), 서초구(0.6185), 송파구(0.7122), 마포구(0.5202) 간에 뚜렷한 이질성이 확인된다. 대부분 지역에서 β &lt; 1로 추정된 점은 주택시장이 거래비용·정보 비대칭성·낮은 유동성 등 실물자산 특유의 구조적 제약을 동시에 가짐을 시사한다.</a:t>
            </a:r>
            <a:endParaRPr lang="ko-KR"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96119" y="370136"/>
            <a:ext cx="8151763" cy="333077"/>
          </a:xfrm>
          <a:prstGeom prst="rect">
            <a:avLst/>
          </a:prstGeom>
          <a:noFill/>
          <a:ln/>
        </p:spPr>
        <p:txBody>
          <a:bodyPr wrap="none" lIns="0" tIns="0" rIns="0" bIns="0" rtlCol="0" anchor="t"/>
          <a:lstStyle/>
          <a:p>
            <a:pPr algn="l" indent="0" marL="0">
              <a:lnSpc>
                <a:spcPct val="104000"/>
              </a:lnSpc>
              <a:buNone/>
            </a:pPr>
            <a:r>
              <a:rPr lang="ko-KR" altLang="en-US" sz="2050" b="1" spc="-63" kern="0" dirty="0">
                <a:solidFill>
                  <a:srgbClr val="000000"/>
                </a:solidFill>
                <a:latin typeface="Inter Bold" pitchFamily="34" charset="0"/>
                <a:ea typeface="Inter Bold" pitchFamily="34" charset="-122"/>
                <a:cs typeface="Inter Bold" pitchFamily="34" charset="-120"/>
              </a:rPr>
              <a:t>EGARCH-in-Mean 모형 추정결과</a:t>
            </a:r>
            <a:endParaRPr lang="ko-KR" sz="2050" dirty="0"/>
          </a:p>
        </p:txBody>
      </p:sp>
      <p:sp>
        <p:nvSpPr>
          <p:cNvPr id="3" name="Text 1"/>
          <p:cNvSpPr/>
          <p:nvPr/>
        </p:nvSpPr>
        <p:spPr>
          <a:xfrm>
            <a:off x="496119" y="886420"/>
            <a:ext cx="8608963" cy="158576"/>
          </a:xfrm>
          <a:prstGeom prst="rect">
            <a:avLst/>
          </a:prstGeom>
          <a:noFill/>
          <a:ln/>
        </p:spPr>
        <p:txBody>
          <a:bodyPr wrap="none" lIns="0" tIns="0" rIns="0" bIns="0" rtlCol="0" anchor="t"/>
          <a:lstStyle/>
          <a:p>
            <a:pPr algn="l" indent="0" marL="0">
              <a:lnSpc>
                <a:spcPct val="124000"/>
              </a:lnSpc>
              <a:buNone/>
            </a:pPr>
            <a:r>
              <a:rPr lang="ko-KR" altLang="en-US" sz="800" spc="-17" kern="0" dirty="0">
                <a:solidFill>
                  <a:srgbClr val="272525"/>
                </a:solidFill>
                <a:latin typeface="Inter" pitchFamily="34" charset="0"/>
                <a:ea typeface="Inter" pitchFamily="34" charset="-122"/>
                <a:cs typeface="Inter" pitchFamily="34" charset="-120"/>
              </a:rPr>
              <a:t>전국, 서울, 수도권, 5대광역시를 대상으로 추정한 EGARCH-in-Mean 모형의 결과이다. 평균방정식과 분산방정식 모두에서 지역별 뚜렷한 차이가 확인된다.</a:t>
            </a:r>
            <a:endParaRPr lang="ko-KR" sz="800" dirty="0"/>
          </a:p>
        </p:txBody>
      </p:sp>
      <p:sp>
        <p:nvSpPr>
          <p:cNvPr id="4" name="Shape 2"/>
          <p:cNvSpPr/>
          <p:nvPr/>
        </p:nvSpPr>
        <p:spPr>
          <a:xfrm>
            <a:off x="496119" y="1147986"/>
            <a:ext cx="8151763" cy="2266355"/>
          </a:xfrm>
          <a:prstGeom prst="roundRect">
            <a:avLst>
              <a:gd name="adj" fmla="val 1976"/>
            </a:avLst>
          </a:prstGeom>
          <a:noFill/>
          <a:ln w="4763">
            <a:solidFill>
              <a:srgbClr val="000000">
                <a:alpha val="8000"/>
              </a:srgbClr>
            </a:solidFill>
            <a:prstDash val="solid"/>
          </a:ln>
        </p:spPr>
      </p:sp>
      <p:sp>
        <p:nvSpPr>
          <p:cNvPr id="5" name="Shape 3"/>
          <p:cNvSpPr/>
          <p:nvPr/>
        </p:nvSpPr>
        <p:spPr>
          <a:xfrm>
            <a:off x="496119" y="1433066"/>
            <a:ext cx="8151763" cy="6663"/>
          </a:xfrm>
          <a:prstGeom prst="rect">
            <a:avLst/>
          </a:prstGeom>
          <a:solidFill>
            <a:srgbClr val="000000">
              <a:alpha val="8000"/>
            </a:srgbClr>
          </a:solidFill>
          <a:ln/>
        </p:spPr>
      </p:sp>
      <p:sp>
        <p:nvSpPr>
          <p:cNvPr id="6" name="Shape 4"/>
          <p:cNvSpPr/>
          <p:nvPr/>
        </p:nvSpPr>
        <p:spPr>
          <a:xfrm>
            <a:off x="496119" y="1715765"/>
            <a:ext cx="8151763" cy="6663"/>
          </a:xfrm>
          <a:prstGeom prst="rect">
            <a:avLst/>
          </a:prstGeom>
          <a:solidFill>
            <a:srgbClr val="000000">
              <a:alpha val="8000"/>
            </a:srgbClr>
          </a:solidFill>
          <a:ln/>
        </p:spPr>
      </p:sp>
      <p:sp>
        <p:nvSpPr>
          <p:cNvPr id="7" name="Shape 5"/>
          <p:cNvSpPr/>
          <p:nvPr/>
        </p:nvSpPr>
        <p:spPr>
          <a:xfrm>
            <a:off x="496119" y="1998464"/>
            <a:ext cx="8151763" cy="6663"/>
          </a:xfrm>
          <a:prstGeom prst="rect">
            <a:avLst/>
          </a:prstGeom>
          <a:solidFill>
            <a:srgbClr val="000000">
              <a:alpha val="8000"/>
            </a:srgbClr>
          </a:solidFill>
          <a:ln/>
        </p:spPr>
      </p:sp>
      <p:sp>
        <p:nvSpPr>
          <p:cNvPr id="8" name="Shape 6"/>
          <p:cNvSpPr/>
          <p:nvPr/>
        </p:nvSpPr>
        <p:spPr>
          <a:xfrm>
            <a:off x="496119" y="2281163"/>
            <a:ext cx="8151763" cy="6663"/>
          </a:xfrm>
          <a:prstGeom prst="rect">
            <a:avLst/>
          </a:prstGeom>
          <a:solidFill>
            <a:srgbClr val="000000">
              <a:alpha val="8000"/>
            </a:srgbClr>
          </a:solidFill>
          <a:ln/>
        </p:spPr>
      </p:sp>
      <p:sp>
        <p:nvSpPr>
          <p:cNvPr id="9" name="Shape 7"/>
          <p:cNvSpPr/>
          <p:nvPr/>
        </p:nvSpPr>
        <p:spPr>
          <a:xfrm>
            <a:off x="496119" y="2563862"/>
            <a:ext cx="8151763" cy="6663"/>
          </a:xfrm>
          <a:prstGeom prst="rect">
            <a:avLst/>
          </a:prstGeom>
          <a:solidFill>
            <a:srgbClr val="000000">
              <a:alpha val="8000"/>
            </a:srgbClr>
          </a:solidFill>
          <a:ln/>
        </p:spPr>
      </p:sp>
      <p:sp>
        <p:nvSpPr>
          <p:cNvPr id="10" name="Shape 8"/>
          <p:cNvSpPr/>
          <p:nvPr/>
        </p:nvSpPr>
        <p:spPr>
          <a:xfrm>
            <a:off x="496119" y="2846561"/>
            <a:ext cx="8151763" cy="6663"/>
          </a:xfrm>
          <a:prstGeom prst="rect">
            <a:avLst/>
          </a:prstGeom>
          <a:solidFill>
            <a:srgbClr val="000000">
              <a:alpha val="8000"/>
            </a:srgbClr>
          </a:solidFill>
          <a:ln/>
        </p:spPr>
      </p:sp>
      <p:sp>
        <p:nvSpPr>
          <p:cNvPr id="11" name="Shape 9"/>
          <p:cNvSpPr/>
          <p:nvPr/>
        </p:nvSpPr>
        <p:spPr>
          <a:xfrm>
            <a:off x="496119" y="3129260"/>
            <a:ext cx="8151763" cy="6663"/>
          </a:xfrm>
          <a:prstGeom prst="rect">
            <a:avLst/>
          </a:prstGeom>
          <a:solidFill>
            <a:srgbClr val="000000">
              <a:alpha val="8000"/>
            </a:srgbClr>
          </a:solidFill>
          <a:ln/>
        </p:spPr>
      </p:sp>
      <p:sp>
        <p:nvSpPr>
          <p:cNvPr id="12" name="Shape 10"/>
          <p:cNvSpPr/>
          <p:nvPr/>
        </p:nvSpPr>
        <p:spPr>
          <a:xfrm>
            <a:off x="2129507" y="1147986"/>
            <a:ext cx="6663" cy="2266355"/>
          </a:xfrm>
          <a:prstGeom prst="rect">
            <a:avLst/>
          </a:prstGeom>
          <a:solidFill>
            <a:srgbClr val="000000">
              <a:alpha val="8000"/>
            </a:srgbClr>
          </a:solidFill>
          <a:ln/>
        </p:spPr>
      </p:sp>
      <p:sp>
        <p:nvSpPr>
          <p:cNvPr id="13" name="Shape 11"/>
          <p:cNvSpPr/>
          <p:nvPr/>
        </p:nvSpPr>
        <p:spPr>
          <a:xfrm>
            <a:off x="3757910" y="1147986"/>
            <a:ext cx="6663" cy="2266355"/>
          </a:xfrm>
          <a:prstGeom prst="rect">
            <a:avLst/>
          </a:prstGeom>
          <a:solidFill>
            <a:srgbClr val="000000">
              <a:alpha val="8000"/>
            </a:srgbClr>
          </a:solidFill>
          <a:ln/>
        </p:spPr>
      </p:sp>
      <p:sp>
        <p:nvSpPr>
          <p:cNvPr id="14" name="Shape 12"/>
          <p:cNvSpPr/>
          <p:nvPr/>
        </p:nvSpPr>
        <p:spPr>
          <a:xfrm>
            <a:off x="5386313" y="1147986"/>
            <a:ext cx="6663" cy="2266355"/>
          </a:xfrm>
          <a:prstGeom prst="rect">
            <a:avLst/>
          </a:prstGeom>
          <a:solidFill>
            <a:srgbClr val="000000">
              <a:alpha val="8000"/>
            </a:srgbClr>
          </a:solidFill>
          <a:ln/>
        </p:spPr>
      </p:sp>
      <p:sp>
        <p:nvSpPr>
          <p:cNvPr id="15" name="Shape 13"/>
          <p:cNvSpPr/>
          <p:nvPr/>
        </p:nvSpPr>
        <p:spPr>
          <a:xfrm>
            <a:off x="7014716" y="1147986"/>
            <a:ext cx="6663" cy="2266355"/>
          </a:xfrm>
          <a:prstGeom prst="rect">
            <a:avLst/>
          </a:prstGeom>
          <a:solidFill>
            <a:srgbClr val="000000">
              <a:alpha val="8000"/>
            </a:srgbClr>
          </a:solidFill>
          <a:ln/>
        </p:spPr>
      </p:sp>
      <p:sp>
        <p:nvSpPr>
          <p:cNvPr id="16" name="Text 14"/>
          <p:cNvSpPr/>
          <p:nvPr/>
        </p:nvSpPr>
        <p:spPr>
          <a:xfrm>
            <a:off x="607665" y="1212428"/>
            <a:ext cx="1870100" cy="158576"/>
          </a:xfrm>
          <a:prstGeom prst="rect">
            <a:avLst/>
          </a:prstGeom>
          <a:noFill/>
          <a:ln/>
        </p:spPr>
        <p:txBody>
          <a:bodyPr wrap="none" lIns="0" tIns="0" rIns="0" bIns="0" rtlCol="0" anchor="t"/>
          <a:lstStyle/>
          <a:p>
            <a:pPr algn="l" indent="0" marL="0">
              <a:lnSpc>
                <a:spcPct val="124000"/>
              </a:lnSpc>
              <a:buNone/>
            </a:pPr>
            <a:r>
              <a:rPr lang="ko-KR" altLang="en-US" sz="800" b="1" spc="-17" kern="0" dirty="0">
                <a:solidFill>
                  <a:srgbClr val="272525"/>
                </a:solidFill>
                <a:latin typeface="Inter Bold" pitchFamily="34" charset="0"/>
                <a:ea typeface="Inter Bold" pitchFamily="34" charset="-122"/>
                <a:cs typeface="Inter Bold" pitchFamily="34" charset="-120"/>
              </a:rPr>
              <a:t>Panel A. 평균방정식</a:t>
            </a:r>
            <a:endParaRPr lang="ko-KR" sz="800" dirty="0"/>
          </a:p>
        </p:txBody>
      </p:sp>
      <p:sp>
        <p:nvSpPr>
          <p:cNvPr id="17" name="Text 15"/>
          <p:cNvSpPr/>
          <p:nvPr/>
        </p:nvSpPr>
        <p:spPr>
          <a:xfrm>
            <a:off x="2238449" y="1212428"/>
            <a:ext cx="1867719" cy="158576"/>
          </a:xfrm>
          <a:prstGeom prst="rect">
            <a:avLst/>
          </a:prstGeom>
          <a:noFill/>
          <a:ln/>
        </p:spPr>
        <p:txBody>
          <a:bodyPr wrap="none" lIns="0" tIns="0" rIns="0" bIns="0" rtlCol="0" anchor="t"/>
          <a:lstStyle/>
          <a:p>
            <a:pPr algn="l" indent="0" marL="0">
              <a:lnSpc>
                <a:spcPct val="124000"/>
              </a:lnSpc>
              <a:buNone/>
            </a:pPr>
            <a:r>
              <a:rPr lang="ko-KR" altLang="en-US" sz="800" b="1" spc="-17" kern="0" dirty="0">
                <a:solidFill>
                  <a:srgbClr val="272525"/>
                </a:solidFill>
                <a:latin typeface="Inter Bold" pitchFamily="34" charset="0"/>
                <a:ea typeface="Inter Bold" pitchFamily="34" charset="-122"/>
                <a:cs typeface="Inter Bold" pitchFamily="34" charset="-120"/>
              </a:rPr>
              <a:t>전국</a:t>
            </a:r>
            <a:endParaRPr lang="ko-KR" sz="800" dirty="0"/>
          </a:p>
        </p:txBody>
      </p:sp>
      <p:sp>
        <p:nvSpPr>
          <p:cNvPr id="18" name="Text 16"/>
          <p:cNvSpPr/>
          <p:nvPr/>
        </p:nvSpPr>
        <p:spPr>
          <a:xfrm>
            <a:off x="3866852" y="1212428"/>
            <a:ext cx="1867719" cy="158576"/>
          </a:xfrm>
          <a:prstGeom prst="rect">
            <a:avLst/>
          </a:prstGeom>
          <a:noFill/>
          <a:ln/>
        </p:spPr>
        <p:txBody>
          <a:bodyPr wrap="none" lIns="0" tIns="0" rIns="0" bIns="0" rtlCol="0" anchor="t"/>
          <a:lstStyle/>
          <a:p>
            <a:pPr algn="l" indent="0" marL="0">
              <a:lnSpc>
                <a:spcPct val="124000"/>
              </a:lnSpc>
              <a:buNone/>
            </a:pPr>
            <a:r>
              <a:rPr lang="ko-KR" altLang="en-US" sz="800" b="1" spc="-17" kern="0" dirty="0">
                <a:solidFill>
                  <a:srgbClr val="272525"/>
                </a:solidFill>
                <a:latin typeface="Inter Bold" pitchFamily="34" charset="0"/>
                <a:ea typeface="Inter Bold" pitchFamily="34" charset="-122"/>
                <a:cs typeface="Inter Bold" pitchFamily="34" charset="-120"/>
              </a:rPr>
              <a:t>서울</a:t>
            </a:r>
            <a:endParaRPr lang="ko-KR" sz="800" dirty="0"/>
          </a:p>
        </p:txBody>
      </p:sp>
      <p:sp>
        <p:nvSpPr>
          <p:cNvPr id="19" name="Text 17"/>
          <p:cNvSpPr/>
          <p:nvPr/>
        </p:nvSpPr>
        <p:spPr>
          <a:xfrm>
            <a:off x="5495255" y="1212428"/>
            <a:ext cx="1867719" cy="158576"/>
          </a:xfrm>
          <a:prstGeom prst="rect">
            <a:avLst/>
          </a:prstGeom>
          <a:noFill/>
          <a:ln/>
        </p:spPr>
        <p:txBody>
          <a:bodyPr wrap="none" lIns="0" tIns="0" rIns="0" bIns="0" rtlCol="0" anchor="t"/>
          <a:lstStyle/>
          <a:p>
            <a:pPr algn="l" indent="0" marL="0">
              <a:lnSpc>
                <a:spcPct val="124000"/>
              </a:lnSpc>
              <a:buNone/>
            </a:pPr>
            <a:r>
              <a:rPr lang="ko-KR" altLang="en-US" sz="800" b="1" spc="-17" kern="0" dirty="0">
                <a:solidFill>
                  <a:srgbClr val="272525"/>
                </a:solidFill>
                <a:latin typeface="Inter Bold" pitchFamily="34" charset="0"/>
                <a:ea typeface="Inter Bold" pitchFamily="34" charset="-122"/>
                <a:cs typeface="Inter Bold" pitchFamily="34" charset="-120"/>
              </a:rPr>
              <a:t>수도권</a:t>
            </a:r>
            <a:endParaRPr lang="ko-KR" sz="800" dirty="0"/>
          </a:p>
        </p:txBody>
      </p:sp>
      <p:sp>
        <p:nvSpPr>
          <p:cNvPr id="20" name="Text 18"/>
          <p:cNvSpPr/>
          <p:nvPr/>
        </p:nvSpPr>
        <p:spPr>
          <a:xfrm>
            <a:off x="7123658" y="1212428"/>
            <a:ext cx="1870100" cy="158576"/>
          </a:xfrm>
          <a:prstGeom prst="rect">
            <a:avLst/>
          </a:prstGeom>
          <a:noFill/>
          <a:ln/>
        </p:spPr>
        <p:txBody>
          <a:bodyPr wrap="none" lIns="0" tIns="0" rIns="0" bIns="0" rtlCol="0" anchor="t"/>
          <a:lstStyle/>
          <a:p>
            <a:pPr algn="l" indent="0" marL="0">
              <a:lnSpc>
                <a:spcPct val="124000"/>
              </a:lnSpc>
              <a:buNone/>
            </a:pPr>
            <a:r>
              <a:rPr lang="ko-KR" altLang="en-US" sz="800" b="1" spc="-17" kern="0" dirty="0">
                <a:solidFill>
                  <a:srgbClr val="272525"/>
                </a:solidFill>
                <a:latin typeface="Inter Bold" pitchFamily="34" charset="0"/>
                <a:ea typeface="Inter Bold" pitchFamily="34" charset="-122"/>
                <a:cs typeface="Inter Bold" pitchFamily="34" charset="-120"/>
              </a:rPr>
              <a:t>5대광역시</a:t>
            </a:r>
            <a:endParaRPr lang="ko-KR" sz="800" dirty="0"/>
          </a:p>
        </p:txBody>
      </p:sp>
      <p:sp>
        <p:nvSpPr>
          <p:cNvPr id="21" name="Text 19"/>
          <p:cNvSpPr/>
          <p:nvPr/>
        </p:nvSpPr>
        <p:spPr>
          <a:xfrm>
            <a:off x="607665" y="1495127"/>
            <a:ext cx="1870100" cy="158576"/>
          </a:xfrm>
          <a:prstGeom prst="rect">
            <a:avLst/>
          </a:prstGeom>
          <a:noFill/>
          <a:ln/>
        </p:spPr>
        <p:txBody>
          <a:bodyPr wrap="none" lIns="0" tIns="0" rIns="0" bIns="0" rtlCol="0" anchor="t"/>
          <a:lstStyle/>
          <a:p>
            <a:pPr algn="l" indent="0" marL="0">
              <a:lnSpc>
                <a:spcPct val="124000"/>
              </a:lnSpc>
              <a:buNone/>
            </a:pPr>
            <a:r>
              <a:rPr lang="ko-KR" altLang="en-US" sz="800" spc="-17" kern="0" dirty="0">
                <a:solidFill>
                  <a:srgbClr val="272525"/>
                </a:solidFill>
                <a:latin typeface="Inter" pitchFamily="34" charset="0"/>
                <a:ea typeface="Inter" pitchFamily="34" charset="-122"/>
                <a:cs typeface="Inter" pitchFamily="34" charset="-120"/>
              </a:rPr>
              <a:t>δ (변동성-리스크프리미엄)</a:t>
            </a:r>
            <a:endParaRPr lang="ko-KR" sz="800" dirty="0"/>
          </a:p>
        </p:txBody>
      </p:sp>
      <p:sp>
        <p:nvSpPr>
          <p:cNvPr id="22" name="Text 20"/>
          <p:cNvSpPr/>
          <p:nvPr/>
        </p:nvSpPr>
        <p:spPr>
          <a:xfrm>
            <a:off x="2238449" y="1495127"/>
            <a:ext cx="1867719" cy="158576"/>
          </a:xfrm>
          <a:prstGeom prst="rect">
            <a:avLst/>
          </a:prstGeom>
          <a:noFill/>
          <a:ln/>
        </p:spPr>
        <p:txBody>
          <a:bodyPr wrap="none" lIns="0" tIns="0" rIns="0" bIns="0" rtlCol="0" anchor="t"/>
          <a:lstStyle/>
          <a:p>
            <a:pPr algn="l" indent="0" marL="0">
              <a:lnSpc>
                <a:spcPct val="124000"/>
              </a:lnSpc>
              <a:buNone/>
            </a:pPr>
            <a:r>
              <a:rPr lang="en-US" sz="800" spc="-17" kern="0" dirty="0">
                <a:solidFill>
                  <a:srgbClr val="272525"/>
                </a:solidFill>
                <a:latin typeface="Inter" pitchFamily="34" charset="0"/>
                <a:ea typeface="Inter" pitchFamily="34" charset="-122"/>
                <a:cs typeface="Inter" pitchFamily="34" charset="-120"/>
              </a:rPr>
              <a:t>0.1856**</a:t>
            </a:r>
            <a:endParaRPr lang="en-US" sz="800" dirty="0"/>
          </a:p>
        </p:txBody>
      </p:sp>
      <p:sp>
        <p:nvSpPr>
          <p:cNvPr id="23" name="Text 21"/>
          <p:cNvSpPr/>
          <p:nvPr/>
        </p:nvSpPr>
        <p:spPr>
          <a:xfrm>
            <a:off x="3866852" y="1495127"/>
            <a:ext cx="1867719" cy="158576"/>
          </a:xfrm>
          <a:prstGeom prst="rect">
            <a:avLst/>
          </a:prstGeom>
          <a:noFill/>
          <a:ln/>
        </p:spPr>
        <p:txBody>
          <a:bodyPr wrap="none" lIns="0" tIns="0" rIns="0" bIns="0" rtlCol="0" anchor="t"/>
          <a:lstStyle/>
          <a:p>
            <a:pPr algn="l" indent="0" marL="0">
              <a:lnSpc>
                <a:spcPct val="124000"/>
              </a:lnSpc>
              <a:buNone/>
            </a:pPr>
            <a:r>
              <a:rPr lang="en-US" sz="800" spc="-17" kern="0" dirty="0">
                <a:solidFill>
                  <a:srgbClr val="272525"/>
                </a:solidFill>
                <a:latin typeface="Inter" pitchFamily="34" charset="0"/>
                <a:ea typeface="Inter" pitchFamily="34" charset="-122"/>
                <a:cs typeface="Inter" pitchFamily="34" charset="-120"/>
              </a:rPr>
              <a:t>7.9554***</a:t>
            </a:r>
            <a:endParaRPr lang="en-US" sz="800" dirty="0"/>
          </a:p>
        </p:txBody>
      </p:sp>
      <p:sp>
        <p:nvSpPr>
          <p:cNvPr id="24" name="Text 22"/>
          <p:cNvSpPr/>
          <p:nvPr/>
        </p:nvSpPr>
        <p:spPr>
          <a:xfrm>
            <a:off x="5495255" y="1495127"/>
            <a:ext cx="1867719" cy="158576"/>
          </a:xfrm>
          <a:prstGeom prst="rect">
            <a:avLst/>
          </a:prstGeom>
          <a:noFill/>
          <a:ln/>
        </p:spPr>
        <p:txBody>
          <a:bodyPr wrap="none" lIns="0" tIns="0" rIns="0" bIns="0" rtlCol="0" anchor="t"/>
          <a:lstStyle/>
          <a:p>
            <a:pPr algn="l" indent="0" marL="0">
              <a:lnSpc>
                <a:spcPct val="124000"/>
              </a:lnSpc>
              <a:buNone/>
            </a:pPr>
            <a:r>
              <a:rPr lang="en-US" sz="800" spc="-17" kern="0" dirty="0">
                <a:solidFill>
                  <a:srgbClr val="272525"/>
                </a:solidFill>
                <a:latin typeface="Inter" pitchFamily="34" charset="0"/>
                <a:ea typeface="Inter" pitchFamily="34" charset="-122"/>
                <a:cs typeface="Inter" pitchFamily="34" charset="-120"/>
              </a:rPr>
              <a:t>0.1980**</a:t>
            </a:r>
            <a:endParaRPr lang="en-US" sz="800" dirty="0"/>
          </a:p>
        </p:txBody>
      </p:sp>
      <p:sp>
        <p:nvSpPr>
          <p:cNvPr id="25" name="Text 23"/>
          <p:cNvSpPr/>
          <p:nvPr/>
        </p:nvSpPr>
        <p:spPr>
          <a:xfrm>
            <a:off x="7123658" y="1495127"/>
            <a:ext cx="1870100" cy="158576"/>
          </a:xfrm>
          <a:prstGeom prst="rect">
            <a:avLst/>
          </a:prstGeom>
          <a:noFill/>
          <a:ln/>
        </p:spPr>
        <p:txBody>
          <a:bodyPr wrap="none" lIns="0" tIns="0" rIns="0" bIns="0" rtlCol="0" anchor="t"/>
          <a:lstStyle/>
          <a:p>
            <a:pPr algn="l" indent="0" marL="0">
              <a:lnSpc>
                <a:spcPct val="124000"/>
              </a:lnSpc>
              <a:buNone/>
            </a:pPr>
            <a:r>
              <a:rPr lang="en-US" sz="800" spc="-17" kern="0" dirty="0">
                <a:solidFill>
                  <a:srgbClr val="272525"/>
                </a:solidFill>
                <a:latin typeface="Inter" pitchFamily="34" charset="0"/>
                <a:ea typeface="Inter" pitchFamily="34" charset="-122"/>
                <a:cs typeface="Inter" pitchFamily="34" charset="-120"/>
              </a:rPr>
              <a:t>0.1046*</a:t>
            </a:r>
            <a:endParaRPr lang="en-US" sz="800" dirty="0"/>
          </a:p>
        </p:txBody>
      </p:sp>
      <p:sp>
        <p:nvSpPr>
          <p:cNvPr id="26" name="Text 24"/>
          <p:cNvSpPr/>
          <p:nvPr/>
        </p:nvSpPr>
        <p:spPr>
          <a:xfrm>
            <a:off x="607665" y="1777826"/>
            <a:ext cx="1870100" cy="158576"/>
          </a:xfrm>
          <a:prstGeom prst="rect">
            <a:avLst/>
          </a:prstGeom>
          <a:noFill/>
          <a:ln/>
        </p:spPr>
        <p:txBody>
          <a:bodyPr wrap="none" lIns="0" tIns="0" rIns="0" bIns="0" rtlCol="0" anchor="t"/>
          <a:lstStyle/>
          <a:p>
            <a:pPr algn="l" indent="0" marL="0">
              <a:lnSpc>
                <a:spcPct val="124000"/>
              </a:lnSpc>
              <a:buNone/>
            </a:pPr>
            <a:r>
              <a:rPr lang="ko-KR" altLang="en-US" sz="800" spc="-17" kern="0" dirty="0">
                <a:solidFill>
                  <a:srgbClr val="272525"/>
                </a:solidFill>
                <a:latin typeface="Inter" pitchFamily="34" charset="0"/>
                <a:ea typeface="Inter" pitchFamily="34" charset="-122"/>
                <a:cs typeface="Inter" pitchFamily="34" charset="-120"/>
              </a:rPr>
              <a:t>β (시장베타)</a:t>
            </a:r>
            <a:endParaRPr lang="ko-KR" sz="800" dirty="0"/>
          </a:p>
        </p:txBody>
      </p:sp>
      <p:sp>
        <p:nvSpPr>
          <p:cNvPr id="27" name="Text 25"/>
          <p:cNvSpPr/>
          <p:nvPr/>
        </p:nvSpPr>
        <p:spPr>
          <a:xfrm>
            <a:off x="2238449" y="1777826"/>
            <a:ext cx="1867719" cy="158576"/>
          </a:xfrm>
          <a:prstGeom prst="rect">
            <a:avLst/>
          </a:prstGeom>
          <a:noFill/>
          <a:ln/>
        </p:spPr>
        <p:txBody>
          <a:bodyPr wrap="none" lIns="0" tIns="0" rIns="0" bIns="0" rtlCol="0" anchor="t"/>
          <a:lstStyle/>
          <a:p>
            <a:pPr algn="l" indent="0" marL="0">
              <a:lnSpc>
                <a:spcPct val="124000"/>
              </a:lnSpc>
              <a:buNone/>
            </a:pPr>
            <a:r>
              <a:rPr lang="en-US" sz="800" spc="-17" kern="0" dirty="0">
                <a:solidFill>
                  <a:srgbClr val="272525"/>
                </a:solidFill>
                <a:latin typeface="Inter" pitchFamily="34" charset="0"/>
                <a:ea typeface="Inter" pitchFamily="34" charset="-122"/>
                <a:cs typeface="Inter" pitchFamily="34" charset="-120"/>
              </a:rPr>
              <a:t>0.3419***</a:t>
            </a:r>
            <a:endParaRPr lang="en-US" sz="800" dirty="0"/>
          </a:p>
        </p:txBody>
      </p:sp>
      <p:sp>
        <p:nvSpPr>
          <p:cNvPr id="28" name="Text 26"/>
          <p:cNvSpPr/>
          <p:nvPr/>
        </p:nvSpPr>
        <p:spPr>
          <a:xfrm>
            <a:off x="3866852" y="1777826"/>
            <a:ext cx="1867719" cy="158576"/>
          </a:xfrm>
          <a:prstGeom prst="rect">
            <a:avLst/>
          </a:prstGeom>
          <a:noFill/>
          <a:ln/>
        </p:spPr>
        <p:txBody>
          <a:bodyPr wrap="none" lIns="0" tIns="0" rIns="0" bIns="0" rtlCol="0" anchor="t"/>
          <a:lstStyle/>
          <a:p>
            <a:pPr algn="l" indent="0" marL="0">
              <a:lnSpc>
                <a:spcPct val="124000"/>
              </a:lnSpc>
              <a:buNone/>
            </a:pPr>
            <a:r>
              <a:rPr lang="en-US" sz="800" spc="-17" kern="0" dirty="0">
                <a:solidFill>
                  <a:srgbClr val="272525"/>
                </a:solidFill>
                <a:latin typeface="Inter" pitchFamily="34" charset="0"/>
                <a:ea typeface="Inter" pitchFamily="34" charset="-122"/>
                <a:cs typeface="Inter" pitchFamily="34" charset="-120"/>
              </a:rPr>
              <a:t>0.3925***</a:t>
            </a:r>
            <a:endParaRPr lang="en-US" sz="800" dirty="0"/>
          </a:p>
        </p:txBody>
      </p:sp>
      <p:sp>
        <p:nvSpPr>
          <p:cNvPr id="29" name="Text 27"/>
          <p:cNvSpPr/>
          <p:nvPr/>
        </p:nvSpPr>
        <p:spPr>
          <a:xfrm>
            <a:off x="5495255" y="1777826"/>
            <a:ext cx="1867719" cy="158576"/>
          </a:xfrm>
          <a:prstGeom prst="rect">
            <a:avLst/>
          </a:prstGeom>
          <a:noFill/>
          <a:ln/>
        </p:spPr>
        <p:txBody>
          <a:bodyPr wrap="none" lIns="0" tIns="0" rIns="0" bIns="0" rtlCol="0" anchor="t"/>
          <a:lstStyle/>
          <a:p>
            <a:pPr algn="l" indent="0" marL="0">
              <a:lnSpc>
                <a:spcPct val="124000"/>
              </a:lnSpc>
              <a:buNone/>
            </a:pPr>
            <a:r>
              <a:rPr lang="en-US" sz="800" spc="-17" kern="0" dirty="0">
                <a:solidFill>
                  <a:srgbClr val="272525"/>
                </a:solidFill>
                <a:latin typeface="Inter" pitchFamily="34" charset="0"/>
                <a:ea typeface="Inter" pitchFamily="34" charset="-122"/>
                <a:cs typeface="Inter" pitchFamily="34" charset="-120"/>
              </a:rPr>
              <a:t>0.3919***</a:t>
            </a:r>
            <a:endParaRPr lang="en-US" sz="800" dirty="0"/>
          </a:p>
        </p:txBody>
      </p:sp>
      <p:sp>
        <p:nvSpPr>
          <p:cNvPr id="30" name="Text 28"/>
          <p:cNvSpPr/>
          <p:nvPr/>
        </p:nvSpPr>
        <p:spPr>
          <a:xfrm>
            <a:off x="7123658" y="1777826"/>
            <a:ext cx="1870100" cy="158576"/>
          </a:xfrm>
          <a:prstGeom prst="rect">
            <a:avLst/>
          </a:prstGeom>
          <a:noFill/>
          <a:ln/>
        </p:spPr>
        <p:txBody>
          <a:bodyPr wrap="none" lIns="0" tIns="0" rIns="0" bIns="0" rtlCol="0" anchor="t"/>
          <a:lstStyle/>
          <a:p>
            <a:pPr algn="l" indent="0" marL="0">
              <a:lnSpc>
                <a:spcPct val="124000"/>
              </a:lnSpc>
              <a:buNone/>
            </a:pPr>
            <a:r>
              <a:rPr lang="en-US" sz="800" spc="-17" kern="0" dirty="0">
                <a:solidFill>
                  <a:srgbClr val="272525"/>
                </a:solidFill>
                <a:latin typeface="Inter" pitchFamily="34" charset="0"/>
                <a:ea typeface="Inter" pitchFamily="34" charset="-122"/>
                <a:cs typeface="Inter" pitchFamily="34" charset="-120"/>
              </a:rPr>
              <a:t>0.1425***</a:t>
            </a:r>
            <a:endParaRPr lang="en-US" sz="800" dirty="0"/>
          </a:p>
        </p:txBody>
      </p:sp>
      <p:sp>
        <p:nvSpPr>
          <p:cNvPr id="31" name="Text 29"/>
          <p:cNvSpPr/>
          <p:nvPr/>
        </p:nvSpPr>
        <p:spPr>
          <a:xfrm>
            <a:off x="607665" y="2060525"/>
            <a:ext cx="1870100" cy="158576"/>
          </a:xfrm>
          <a:prstGeom prst="rect">
            <a:avLst/>
          </a:prstGeom>
          <a:noFill/>
          <a:ln/>
        </p:spPr>
        <p:txBody>
          <a:bodyPr wrap="none" lIns="0" tIns="0" rIns="0" bIns="0" rtlCol="0" anchor="t"/>
          <a:lstStyle/>
          <a:p>
            <a:pPr algn="l" indent="0" marL="0">
              <a:lnSpc>
                <a:spcPct val="124000"/>
              </a:lnSpc>
              <a:buNone/>
            </a:pPr>
            <a:r>
              <a:rPr lang="ko-KR" altLang="en-US" sz="800" spc="-17" kern="0" dirty="0">
                <a:solidFill>
                  <a:srgbClr val="272525"/>
                </a:solidFill>
                <a:latin typeface="Inter" pitchFamily="34" charset="0"/>
                <a:ea typeface="Inter" pitchFamily="34" charset="-122"/>
                <a:cs typeface="Inter" pitchFamily="34" charset="-120"/>
              </a:rPr>
              <a:t>η (COVID-19 더미)</a:t>
            </a:r>
            <a:endParaRPr lang="ko-KR" sz="800" dirty="0"/>
          </a:p>
        </p:txBody>
      </p:sp>
      <p:sp>
        <p:nvSpPr>
          <p:cNvPr id="32" name="Text 30"/>
          <p:cNvSpPr/>
          <p:nvPr/>
        </p:nvSpPr>
        <p:spPr>
          <a:xfrm>
            <a:off x="2238449" y="2060525"/>
            <a:ext cx="1867719" cy="158576"/>
          </a:xfrm>
          <a:prstGeom prst="rect">
            <a:avLst/>
          </a:prstGeom>
          <a:noFill/>
          <a:ln/>
        </p:spPr>
        <p:txBody>
          <a:bodyPr wrap="none" lIns="0" tIns="0" rIns="0" bIns="0" rtlCol="0" anchor="t"/>
          <a:lstStyle/>
          <a:p>
            <a:pPr algn="l" indent="0" marL="0">
              <a:lnSpc>
                <a:spcPct val="124000"/>
              </a:lnSpc>
              <a:buNone/>
            </a:pPr>
            <a:r>
              <a:rPr lang="en-US" sz="800" spc="-17" kern="0" dirty="0">
                <a:solidFill>
                  <a:srgbClr val="272525"/>
                </a:solidFill>
                <a:latin typeface="Inter" pitchFamily="34" charset="0"/>
                <a:ea typeface="Inter" pitchFamily="34" charset="-122"/>
                <a:cs typeface="Inter" pitchFamily="34" charset="-120"/>
              </a:rPr>
              <a:t>3.7686***</a:t>
            </a:r>
            <a:endParaRPr lang="en-US" sz="800" dirty="0"/>
          </a:p>
        </p:txBody>
      </p:sp>
      <p:sp>
        <p:nvSpPr>
          <p:cNvPr id="33" name="Text 31"/>
          <p:cNvSpPr/>
          <p:nvPr/>
        </p:nvSpPr>
        <p:spPr>
          <a:xfrm>
            <a:off x="3866852" y="2060525"/>
            <a:ext cx="1867719" cy="158576"/>
          </a:xfrm>
          <a:prstGeom prst="rect">
            <a:avLst/>
          </a:prstGeom>
          <a:noFill/>
          <a:ln/>
        </p:spPr>
        <p:txBody>
          <a:bodyPr wrap="none" lIns="0" tIns="0" rIns="0" bIns="0" rtlCol="0" anchor="t"/>
          <a:lstStyle/>
          <a:p>
            <a:pPr algn="l" indent="0" marL="0">
              <a:lnSpc>
                <a:spcPct val="124000"/>
              </a:lnSpc>
              <a:buNone/>
            </a:pPr>
            <a:r>
              <a:rPr lang="en-US" sz="800" spc="-17" kern="0" dirty="0">
                <a:solidFill>
                  <a:srgbClr val="272525"/>
                </a:solidFill>
                <a:latin typeface="Inter" pitchFamily="34" charset="0"/>
                <a:ea typeface="Inter" pitchFamily="34" charset="-122"/>
                <a:cs typeface="Inter" pitchFamily="34" charset="-120"/>
              </a:rPr>
              <a:t>1.0190</a:t>
            </a:r>
            <a:endParaRPr lang="en-US" sz="800" dirty="0"/>
          </a:p>
        </p:txBody>
      </p:sp>
      <p:sp>
        <p:nvSpPr>
          <p:cNvPr id="34" name="Text 32"/>
          <p:cNvSpPr/>
          <p:nvPr/>
        </p:nvSpPr>
        <p:spPr>
          <a:xfrm>
            <a:off x="5495255" y="2060525"/>
            <a:ext cx="1867719" cy="158576"/>
          </a:xfrm>
          <a:prstGeom prst="rect">
            <a:avLst/>
          </a:prstGeom>
          <a:noFill/>
          <a:ln/>
        </p:spPr>
        <p:txBody>
          <a:bodyPr wrap="none" lIns="0" tIns="0" rIns="0" bIns="0" rtlCol="0" anchor="t"/>
          <a:lstStyle/>
          <a:p>
            <a:pPr algn="l" indent="0" marL="0">
              <a:lnSpc>
                <a:spcPct val="124000"/>
              </a:lnSpc>
              <a:buNone/>
            </a:pPr>
            <a:r>
              <a:rPr lang="en-US" sz="800" spc="-17" kern="0" dirty="0">
                <a:solidFill>
                  <a:srgbClr val="272525"/>
                </a:solidFill>
                <a:latin typeface="Inter" pitchFamily="34" charset="0"/>
                <a:ea typeface="Inter" pitchFamily="34" charset="-122"/>
                <a:cs typeface="Inter" pitchFamily="34" charset="-120"/>
              </a:rPr>
              <a:t>4.6729***</a:t>
            </a:r>
            <a:endParaRPr lang="en-US" sz="800" dirty="0"/>
          </a:p>
        </p:txBody>
      </p:sp>
      <p:sp>
        <p:nvSpPr>
          <p:cNvPr id="35" name="Text 33"/>
          <p:cNvSpPr/>
          <p:nvPr/>
        </p:nvSpPr>
        <p:spPr>
          <a:xfrm>
            <a:off x="7123658" y="2060525"/>
            <a:ext cx="1870100" cy="158576"/>
          </a:xfrm>
          <a:prstGeom prst="rect">
            <a:avLst/>
          </a:prstGeom>
          <a:noFill/>
          <a:ln/>
        </p:spPr>
        <p:txBody>
          <a:bodyPr wrap="none" lIns="0" tIns="0" rIns="0" bIns="0" rtlCol="0" anchor="t"/>
          <a:lstStyle/>
          <a:p>
            <a:pPr algn="l" indent="0" marL="0">
              <a:lnSpc>
                <a:spcPct val="124000"/>
              </a:lnSpc>
              <a:buNone/>
            </a:pPr>
            <a:r>
              <a:rPr lang="en-US" sz="800" spc="-17" kern="0" dirty="0">
                <a:solidFill>
                  <a:srgbClr val="272525"/>
                </a:solidFill>
                <a:latin typeface="Inter" pitchFamily="34" charset="0"/>
                <a:ea typeface="Inter" pitchFamily="34" charset="-122"/>
                <a:cs typeface="Inter" pitchFamily="34" charset="-120"/>
              </a:rPr>
              <a:t>3.1046***</a:t>
            </a:r>
            <a:endParaRPr lang="en-US" sz="800" dirty="0"/>
          </a:p>
        </p:txBody>
      </p:sp>
      <p:sp>
        <p:nvSpPr>
          <p:cNvPr id="36" name="Text 34"/>
          <p:cNvSpPr/>
          <p:nvPr/>
        </p:nvSpPr>
        <p:spPr>
          <a:xfrm>
            <a:off x="607665" y="2343224"/>
            <a:ext cx="1870100" cy="158576"/>
          </a:xfrm>
          <a:prstGeom prst="rect">
            <a:avLst/>
          </a:prstGeom>
          <a:noFill/>
          <a:ln/>
        </p:spPr>
        <p:txBody>
          <a:bodyPr wrap="none" lIns="0" tIns="0" rIns="0" bIns="0" rtlCol="0" anchor="t"/>
          <a:lstStyle/>
          <a:p>
            <a:pPr algn="l" indent="0" marL="0">
              <a:lnSpc>
                <a:spcPct val="124000"/>
              </a:lnSpc>
              <a:buNone/>
            </a:pPr>
            <a:r>
              <a:rPr lang="ko-KR" altLang="en-US" sz="800" b="1" spc="-17" kern="0" dirty="0">
                <a:solidFill>
                  <a:srgbClr val="272525"/>
                </a:solidFill>
                <a:latin typeface="Inter Bold" pitchFamily="34" charset="0"/>
                <a:ea typeface="Inter Bold" pitchFamily="34" charset="-122"/>
                <a:cs typeface="Inter Bold" pitchFamily="34" charset="-120"/>
              </a:rPr>
              <a:t>Panel B. 분산방정식</a:t>
            </a:r>
            <a:endParaRPr lang="ko-KR" sz="800" dirty="0"/>
          </a:p>
        </p:txBody>
      </p:sp>
      <p:sp>
        <p:nvSpPr>
          <p:cNvPr id="37" name="Text 35"/>
          <p:cNvSpPr/>
          <p:nvPr/>
        </p:nvSpPr>
        <p:spPr>
          <a:xfrm>
            <a:off x="2238449" y="2343224"/>
            <a:ext cx="1867719" cy="158576"/>
          </a:xfrm>
          <a:prstGeom prst="rect">
            <a:avLst/>
          </a:prstGeom>
          <a:noFill/>
          <a:ln/>
        </p:spPr>
        <p:txBody>
          <a:bodyPr wrap="none" lIns="0" tIns="0" rIns="0" bIns="0" rtlCol="0" anchor="t"/>
          <a:lstStyle/>
          <a:p>
            <a:pPr algn="l" indent="0" marL="0">
              <a:lnSpc>
                <a:spcPct val="124000"/>
              </a:lnSpc>
              <a:buNone/>
            </a:pPr>
            <a:endParaRPr lang="en-US" sz="800" dirty="0"/>
          </a:p>
        </p:txBody>
      </p:sp>
      <p:sp>
        <p:nvSpPr>
          <p:cNvPr id="38" name="Text 36"/>
          <p:cNvSpPr/>
          <p:nvPr/>
        </p:nvSpPr>
        <p:spPr>
          <a:xfrm>
            <a:off x="3866852" y="2343224"/>
            <a:ext cx="1867719" cy="158576"/>
          </a:xfrm>
          <a:prstGeom prst="rect">
            <a:avLst/>
          </a:prstGeom>
          <a:noFill/>
          <a:ln/>
        </p:spPr>
        <p:txBody>
          <a:bodyPr wrap="none" lIns="0" tIns="0" rIns="0" bIns="0" rtlCol="0" anchor="t"/>
          <a:lstStyle/>
          <a:p>
            <a:pPr algn="l" indent="0" marL="0">
              <a:lnSpc>
                <a:spcPct val="124000"/>
              </a:lnSpc>
              <a:buNone/>
            </a:pPr>
            <a:endParaRPr lang="en-US" sz="800" dirty="0"/>
          </a:p>
        </p:txBody>
      </p:sp>
      <p:sp>
        <p:nvSpPr>
          <p:cNvPr id="39" name="Text 37"/>
          <p:cNvSpPr/>
          <p:nvPr/>
        </p:nvSpPr>
        <p:spPr>
          <a:xfrm>
            <a:off x="5495255" y="2343224"/>
            <a:ext cx="1867719" cy="158576"/>
          </a:xfrm>
          <a:prstGeom prst="rect">
            <a:avLst/>
          </a:prstGeom>
          <a:noFill/>
          <a:ln/>
        </p:spPr>
        <p:txBody>
          <a:bodyPr wrap="none" lIns="0" tIns="0" rIns="0" bIns="0" rtlCol="0" anchor="t"/>
          <a:lstStyle/>
          <a:p>
            <a:pPr algn="l" indent="0" marL="0">
              <a:lnSpc>
                <a:spcPct val="124000"/>
              </a:lnSpc>
              <a:buNone/>
            </a:pPr>
            <a:endParaRPr lang="en-US" sz="800" dirty="0"/>
          </a:p>
        </p:txBody>
      </p:sp>
      <p:sp>
        <p:nvSpPr>
          <p:cNvPr id="40" name="Text 38"/>
          <p:cNvSpPr/>
          <p:nvPr/>
        </p:nvSpPr>
        <p:spPr>
          <a:xfrm>
            <a:off x="7123658" y="2343224"/>
            <a:ext cx="1870100" cy="158576"/>
          </a:xfrm>
          <a:prstGeom prst="rect">
            <a:avLst/>
          </a:prstGeom>
          <a:noFill/>
          <a:ln/>
        </p:spPr>
        <p:txBody>
          <a:bodyPr wrap="none" lIns="0" tIns="0" rIns="0" bIns="0" rtlCol="0" anchor="t"/>
          <a:lstStyle/>
          <a:p>
            <a:pPr algn="l" indent="0" marL="0">
              <a:lnSpc>
                <a:spcPct val="124000"/>
              </a:lnSpc>
              <a:buNone/>
            </a:pPr>
            <a:endParaRPr lang="en-US" sz="800" dirty="0"/>
          </a:p>
        </p:txBody>
      </p:sp>
      <p:sp>
        <p:nvSpPr>
          <p:cNvPr id="41" name="Text 39"/>
          <p:cNvSpPr/>
          <p:nvPr/>
        </p:nvSpPr>
        <p:spPr>
          <a:xfrm>
            <a:off x="607665" y="2625923"/>
            <a:ext cx="1870100" cy="158576"/>
          </a:xfrm>
          <a:prstGeom prst="rect">
            <a:avLst/>
          </a:prstGeom>
          <a:noFill/>
          <a:ln/>
        </p:spPr>
        <p:txBody>
          <a:bodyPr wrap="none" lIns="0" tIns="0" rIns="0" bIns="0" rtlCol="0" anchor="t"/>
          <a:lstStyle/>
          <a:p>
            <a:pPr algn="l" indent="0" marL="0">
              <a:lnSpc>
                <a:spcPct val="124000"/>
              </a:lnSpc>
              <a:buNone/>
            </a:pPr>
            <a:r>
              <a:rPr lang="ko-KR" altLang="en-US" sz="800" spc="-17" kern="0" dirty="0">
                <a:solidFill>
                  <a:srgbClr val="272525"/>
                </a:solidFill>
                <a:latin typeface="Inter" pitchFamily="34" charset="0"/>
                <a:ea typeface="Inter" pitchFamily="34" charset="-122"/>
                <a:cs typeface="Inter" pitchFamily="34" charset="-120"/>
              </a:rPr>
              <a:t>γ (충격 크기)</a:t>
            </a:r>
            <a:endParaRPr lang="ko-KR" sz="800" dirty="0"/>
          </a:p>
        </p:txBody>
      </p:sp>
      <p:sp>
        <p:nvSpPr>
          <p:cNvPr id="42" name="Text 40"/>
          <p:cNvSpPr/>
          <p:nvPr/>
        </p:nvSpPr>
        <p:spPr>
          <a:xfrm>
            <a:off x="2238449" y="2625923"/>
            <a:ext cx="1867719" cy="158576"/>
          </a:xfrm>
          <a:prstGeom prst="rect">
            <a:avLst/>
          </a:prstGeom>
          <a:noFill/>
          <a:ln/>
        </p:spPr>
        <p:txBody>
          <a:bodyPr wrap="none" lIns="0" tIns="0" rIns="0" bIns="0" rtlCol="0" anchor="t"/>
          <a:lstStyle/>
          <a:p>
            <a:pPr algn="l" indent="0" marL="0">
              <a:lnSpc>
                <a:spcPct val="124000"/>
              </a:lnSpc>
              <a:buNone/>
            </a:pPr>
            <a:r>
              <a:rPr lang="en-US" sz="800" spc="-17" kern="0" dirty="0">
                <a:solidFill>
                  <a:srgbClr val="272525"/>
                </a:solidFill>
                <a:latin typeface="Inter" pitchFamily="34" charset="0"/>
                <a:ea typeface="Inter" pitchFamily="34" charset="-122"/>
                <a:cs typeface="Inter" pitchFamily="34" charset="-120"/>
              </a:rPr>
              <a:t>1.6791***</a:t>
            </a:r>
            <a:endParaRPr lang="en-US" sz="800" dirty="0"/>
          </a:p>
        </p:txBody>
      </p:sp>
      <p:sp>
        <p:nvSpPr>
          <p:cNvPr id="43" name="Text 41"/>
          <p:cNvSpPr/>
          <p:nvPr/>
        </p:nvSpPr>
        <p:spPr>
          <a:xfrm>
            <a:off x="3866852" y="2625923"/>
            <a:ext cx="1867719" cy="158576"/>
          </a:xfrm>
          <a:prstGeom prst="rect">
            <a:avLst/>
          </a:prstGeom>
          <a:noFill/>
          <a:ln/>
        </p:spPr>
        <p:txBody>
          <a:bodyPr wrap="none" lIns="0" tIns="0" rIns="0" bIns="0" rtlCol="0" anchor="t"/>
          <a:lstStyle/>
          <a:p>
            <a:pPr algn="l" indent="0" marL="0">
              <a:lnSpc>
                <a:spcPct val="124000"/>
              </a:lnSpc>
              <a:buNone/>
            </a:pPr>
            <a:r>
              <a:rPr lang="en-US" sz="800" spc="-17" kern="0" dirty="0">
                <a:solidFill>
                  <a:srgbClr val="272525"/>
                </a:solidFill>
                <a:latin typeface="Inter" pitchFamily="34" charset="0"/>
                <a:ea typeface="Inter" pitchFamily="34" charset="-122"/>
                <a:cs typeface="Inter" pitchFamily="34" charset="-120"/>
              </a:rPr>
              <a:t>-0.1166***</a:t>
            </a:r>
            <a:endParaRPr lang="en-US" sz="800" dirty="0"/>
          </a:p>
        </p:txBody>
      </p:sp>
      <p:sp>
        <p:nvSpPr>
          <p:cNvPr id="44" name="Text 42"/>
          <p:cNvSpPr/>
          <p:nvPr/>
        </p:nvSpPr>
        <p:spPr>
          <a:xfrm>
            <a:off x="5495255" y="2625923"/>
            <a:ext cx="1867719" cy="158576"/>
          </a:xfrm>
          <a:prstGeom prst="rect">
            <a:avLst/>
          </a:prstGeom>
          <a:noFill/>
          <a:ln/>
        </p:spPr>
        <p:txBody>
          <a:bodyPr wrap="none" lIns="0" tIns="0" rIns="0" bIns="0" rtlCol="0" anchor="t"/>
          <a:lstStyle/>
          <a:p>
            <a:pPr algn="l" indent="0" marL="0">
              <a:lnSpc>
                <a:spcPct val="124000"/>
              </a:lnSpc>
              <a:buNone/>
            </a:pPr>
            <a:r>
              <a:rPr lang="en-US" sz="800" spc="-17" kern="0" dirty="0">
                <a:solidFill>
                  <a:srgbClr val="272525"/>
                </a:solidFill>
                <a:latin typeface="Inter" pitchFamily="34" charset="0"/>
                <a:ea typeface="Inter" pitchFamily="34" charset="-122"/>
                <a:cs typeface="Inter" pitchFamily="34" charset="-120"/>
              </a:rPr>
              <a:t>2.0955***</a:t>
            </a:r>
            <a:endParaRPr lang="en-US" sz="800" dirty="0"/>
          </a:p>
        </p:txBody>
      </p:sp>
      <p:sp>
        <p:nvSpPr>
          <p:cNvPr id="45" name="Text 43"/>
          <p:cNvSpPr/>
          <p:nvPr/>
        </p:nvSpPr>
        <p:spPr>
          <a:xfrm>
            <a:off x="7123658" y="2625923"/>
            <a:ext cx="1870100" cy="158576"/>
          </a:xfrm>
          <a:prstGeom prst="rect">
            <a:avLst/>
          </a:prstGeom>
          <a:noFill/>
          <a:ln/>
        </p:spPr>
        <p:txBody>
          <a:bodyPr wrap="none" lIns="0" tIns="0" rIns="0" bIns="0" rtlCol="0" anchor="t"/>
          <a:lstStyle/>
          <a:p>
            <a:pPr algn="l" indent="0" marL="0">
              <a:lnSpc>
                <a:spcPct val="124000"/>
              </a:lnSpc>
              <a:buNone/>
            </a:pPr>
            <a:r>
              <a:rPr lang="en-US" sz="800" spc="-17" kern="0" dirty="0">
                <a:solidFill>
                  <a:srgbClr val="272525"/>
                </a:solidFill>
                <a:latin typeface="Inter" pitchFamily="34" charset="0"/>
                <a:ea typeface="Inter" pitchFamily="34" charset="-122"/>
                <a:cs typeface="Inter" pitchFamily="34" charset="-120"/>
              </a:rPr>
              <a:t>2.3105***</a:t>
            </a:r>
            <a:endParaRPr lang="en-US" sz="800" dirty="0"/>
          </a:p>
        </p:txBody>
      </p:sp>
      <p:sp>
        <p:nvSpPr>
          <p:cNvPr id="46" name="Text 44"/>
          <p:cNvSpPr/>
          <p:nvPr/>
        </p:nvSpPr>
        <p:spPr>
          <a:xfrm>
            <a:off x="607665" y="2908622"/>
            <a:ext cx="1870100" cy="158576"/>
          </a:xfrm>
          <a:prstGeom prst="rect">
            <a:avLst/>
          </a:prstGeom>
          <a:noFill/>
          <a:ln/>
        </p:spPr>
        <p:txBody>
          <a:bodyPr wrap="none" lIns="0" tIns="0" rIns="0" bIns="0" rtlCol="0" anchor="t"/>
          <a:lstStyle/>
          <a:p>
            <a:pPr algn="l" indent="0" marL="0">
              <a:lnSpc>
                <a:spcPct val="124000"/>
              </a:lnSpc>
              <a:buNone/>
            </a:pPr>
            <a:r>
              <a:rPr lang="ko-KR" altLang="en-US" sz="800" spc="-17" kern="0" dirty="0">
                <a:solidFill>
                  <a:srgbClr val="272525"/>
                </a:solidFill>
                <a:latin typeface="Inter" pitchFamily="34" charset="0"/>
                <a:ea typeface="Inter" pitchFamily="34" charset="-122"/>
                <a:cs typeface="Inter" pitchFamily="34" charset="-120"/>
              </a:rPr>
              <a:t>λ (비대칭성)</a:t>
            </a:r>
            <a:endParaRPr lang="ko-KR" sz="800" dirty="0"/>
          </a:p>
        </p:txBody>
      </p:sp>
      <p:sp>
        <p:nvSpPr>
          <p:cNvPr id="47" name="Text 45"/>
          <p:cNvSpPr/>
          <p:nvPr/>
        </p:nvSpPr>
        <p:spPr>
          <a:xfrm>
            <a:off x="2238449" y="2908622"/>
            <a:ext cx="1867719" cy="158576"/>
          </a:xfrm>
          <a:prstGeom prst="rect">
            <a:avLst/>
          </a:prstGeom>
          <a:noFill/>
          <a:ln/>
        </p:spPr>
        <p:txBody>
          <a:bodyPr wrap="none" lIns="0" tIns="0" rIns="0" bIns="0" rtlCol="0" anchor="t"/>
          <a:lstStyle/>
          <a:p>
            <a:pPr algn="l" indent="0" marL="0">
              <a:lnSpc>
                <a:spcPct val="124000"/>
              </a:lnSpc>
              <a:buNone/>
            </a:pPr>
            <a:r>
              <a:rPr lang="en-US" sz="800" spc="-17" kern="0" dirty="0">
                <a:solidFill>
                  <a:srgbClr val="272525"/>
                </a:solidFill>
                <a:latin typeface="Inter" pitchFamily="34" charset="0"/>
                <a:ea typeface="Inter" pitchFamily="34" charset="-122"/>
                <a:cs typeface="Inter" pitchFamily="34" charset="-120"/>
              </a:rPr>
              <a:t>0.2205</a:t>
            </a:r>
            <a:endParaRPr lang="en-US" sz="800" dirty="0"/>
          </a:p>
        </p:txBody>
      </p:sp>
      <p:sp>
        <p:nvSpPr>
          <p:cNvPr id="48" name="Text 46"/>
          <p:cNvSpPr/>
          <p:nvPr/>
        </p:nvSpPr>
        <p:spPr>
          <a:xfrm>
            <a:off x="3866852" y="2908622"/>
            <a:ext cx="1867719" cy="158576"/>
          </a:xfrm>
          <a:prstGeom prst="rect">
            <a:avLst/>
          </a:prstGeom>
          <a:noFill/>
          <a:ln/>
        </p:spPr>
        <p:txBody>
          <a:bodyPr wrap="none" lIns="0" tIns="0" rIns="0" bIns="0" rtlCol="0" anchor="t"/>
          <a:lstStyle/>
          <a:p>
            <a:pPr algn="l" indent="0" marL="0">
              <a:lnSpc>
                <a:spcPct val="124000"/>
              </a:lnSpc>
              <a:buNone/>
            </a:pPr>
            <a:r>
              <a:rPr lang="en-US" sz="800" spc="-17" kern="0" dirty="0">
                <a:solidFill>
                  <a:srgbClr val="272525"/>
                </a:solidFill>
                <a:latin typeface="Inter" pitchFamily="34" charset="0"/>
                <a:ea typeface="Inter" pitchFamily="34" charset="-122"/>
                <a:cs typeface="Inter" pitchFamily="34" charset="-120"/>
              </a:rPr>
              <a:t>0.3805***</a:t>
            </a:r>
            <a:endParaRPr lang="en-US" sz="800" dirty="0"/>
          </a:p>
        </p:txBody>
      </p:sp>
      <p:sp>
        <p:nvSpPr>
          <p:cNvPr id="49" name="Text 47"/>
          <p:cNvSpPr/>
          <p:nvPr/>
        </p:nvSpPr>
        <p:spPr>
          <a:xfrm>
            <a:off x="5495255" y="2908622"/>
            <a:ext cx="1867719" cy="158576"/>
          </a:xfrm>
          <a:prstGeom prst="rect">
            <a:avLst/>
          </a:prstGeom>
          <a:noFill/>
          <a:ln/>
        </p:spPr>
        <p:txBody>
          <a:bodyPr wrap="none" lIns="0" tIns="0" rIns="0" bIns="0" rtlCol="0" anchor="t"/>
          <a:lstStyle/>
          <a:p>
            <a:pPr algn="l" indent="0" marL="0">
              <a:lnSpc>
                <a:spcPct val="124000"/>
              </a:lnSpc>
              <a:buNone/>
            </a:pPr>
            <a:r>
              <a:rPr lang="en-US" sz="800" spc="-17" kern="0" dirty="0">
                <a:solidFill>
                  <a:srgbClr val="272525"/>
                </a:solidFill>
                <a:latin typeface="Inter" pitchFamily="34" charset="0"/>
                <a:ea typeface="Inter" pitchFamily="34" charset="-122"/>
                <a:cs typeface="Inter" pitchFamily="34" charset="-120"/>
              </a:rPr>
              <a:t>0.2461</a:t>
            </a:r>
            <a:endParaRPr lang="en-US" sz="800" dirty="0"/>
          </a:p>
        </p:txBody>
      </p:sp>
      <p:sp>
        <p:nvSpPr>
          <p:cNvPr id="50" name="Text 48"/>
          <p:cNvSpPr/>
          <p:nvPr/>
        </p:nvSpPr>
        <p:spPr>
          <a:xfrm>
            <a:off x="7123658" y="2908622"/>
            <a:ext cx="1870100" cy="158576"/>
          </a:xfrm>
          <a:prstGeom prst="rect">
            <a:avLst/>
          </a:prstGeom>
          <a:noFill/>
          <a:ln/>
        </p:spPr>
        <p:txBody>
          <a:bodyPr wrap="none" lIns="0" tIns="0" rIns="0" bIns="0" rtlCol="0" anchor="t"/>
          <a:lstStyle/>
          <a:p>
            <a:pPr algn="l" indent="0" marL="0">
              <a:lnSpc>
                <a:spcPct val="124000"/>
              </a:lnSpc>
              <a:buNone/>
            </a:pPr>
            <a:r>
              <a:rPr lang="en-US" sz="800" spc="-17" kern="0" dirty="0">
                <a:solidFill>
                  <a:srgbClr val="272525"/>
                </a:solidFill>
                <a:latin typeface="Inter" pitchFamily="34" charset="0"/>
                <a:ea typeface="Inter" pitchFamily="34" charset="-122"/>
                <a:cs typeface="Inter" pitchFamily="34" charset="-120"/>
              </a:rPr>
              <a:t>0.2008</a:t>
            </a:r>
            <a:endParaRPr lang="en-US" sz="800" dirty="0"/>
          </a:p>
        </p:txBody>
      </p:sp>
      <p:sp>
        <p:nvSpPr>
          <p:cNvPr id="51" name="Text 49"/>
          <p:cNvSpPr/>
          <p:nvPr/>
        </p:nvSpPr>
        <p:spPr>
          <a:xfrm>
            <a:off x="607665" y="3191321"/>
            <a:ext cx="1870100" cy="158576"/>
          </a:xfrm>
          <a:prstGeom prst="rect">
            <a:avLst/>
          </a:prstGeom>
          <a:noFill/>
          <a:ln/>
        </p:spPr>
        <p:txBody>
          <a:bodyPr wrap="none" lIns="0" tIns="0" rIns="0" bIns="0" rtlCol="0" anchor="t"/>
          <a:lstStyle/>
          <a:p>
            <a:pPr algn="l" indent="0" marL="0">
              <a:lnSpc>
                <a:spcPct val="124000"/>
              </a:lnSpc>
              <a:buNone/>
            </a:pPr>
            <a:r>
              <a:rPr lang="ko-KR" altLang="en-US" sz="800" spc="-17" kern="0" dirty="0">
                <a:solidFill>
                  <a:srgbClr val="272525"/>
                </a:solidFill>
                <a:latin typeface="Inter" pitchFamily="34" charset="0"/>
                <a:ea typeface="Inter" pitchFamily="34" charset="-122"/>
                <a:cs typeface="Inter" pitchFamily="34" charset="-120"/>
              </a:rPr>
              <a:t>φ (지속성)</a:t>
            </a:r>
            <a:endParaRPr lang="ko-KR" sz="800" dirty="0"/>
          </a:p>
        </p:txBody>
      </p:sp>
      <p:sp>
        <p:nvSpPr>
          <p:cNvPr id="52" name="Text 50"/>
          <p:cNvSpPr/>
          <p:nvPr/>
        </p:nvSpPr>
        <p:spPr>
          <a:xfrm>
            <a:off x="2238449" y="3191321"/>
            <a:ext cx="1867719" cy="158576"/>
          </a:xfrm>
          <a:prstGeom prst="rect">
            <a:avLst/>
          </a:prstGeom>
          <a:noFill/>
          <a:ln/>
        </p:spPr>
        <p:txBody>
          <a:bodyPr wrap="none" lIns="0" tIns="0" rIns="0" bIns="0" rtlCol="0" anchor="t"/>
          <a:lstStyle/>
          <a:p>
            <a:pPr algn="l" indent="0" marL="0">
              <a:lnSpc>
                <a:spcPct val="124000"/>
              </a:lnSpc>
              <a:buNone/>
            </a:pPr>
            <a:r>
              <a:rPr lang="en-US" sz="800" spc="-17" kern="0" dirty="0">
                <a:solidFill>
                  <a:srgbClr val="272525"/>
                </a:solidFill>
                <a:latin typeface="Inter" pitchFamily="34" charset="0"/>
                <a:ea typeface="Inter" pitchFamily="34" charset="-122"/>
                <a:cs typeface="Inter" pitchFamily="34" charset="-120"/>
              </a:rPr>
              <a:t>0.8106***</a:t>
            </a:r>
            <a:endParaRPr lang="en-US" sz="800" dirty="0"/>
          </a:p>
        </p:txBody>
      </p:sp>
      <p:sp>
        <p:nvSpPr>
          <p:cNvPr id="53" name="Text 51"/>
          <p:cNvSpPr/>
          <p:nvPr/>
        </p:nvSpPr>
        <p:spPr>
          <a:xfrm>
            <a:off x="3866852" y="3191321"/>
            <a:ext cx="1867719" cy="158576"/>
          </a:xfrm>
          <a:prstGeom prst="rect">
            <a:avLst/>
          </a:prstGeom>
          <a:noFill/>
          <a:ln/>
        </p:spPr>
        <p:txBody>
          <a:bodyPr wrap="none" lIns="0" tIns="0" rIns="0" bIns="0" rtlCol="0" anchor="t"/>
          <a:lstStyle/>
          <a:p>
            <a:pPr algn="l" indent="0" marL="0">
              <a:lnSpc>
                <a:spcPct val="124000"/>
              </a:lnSpc>
              <a:buNone/>
            </a:pPr>
            <a:r>
              <a:rPr lang="en-US" sz="800" spc="-17" kern="0" dirty="0">
                <a:solidFill>
                  <a:srgbClr val="272525"/>
                </a:solidFill>
                <a:latin typeface="Inter" pitchFamily="34" charset="0"/>
                <a:ea typeface="Inter" pitchFamily="34" charset="-122"/>
                <a:cs typeface="Inter" pitchFamily="34" charset="-120"/>
              </a:rPr>
              <a:t>0.8205***</a:t>
            </a:r>
            <a:endParaRPr lang="en-US" sz="800" dirty="0"/>
          </a:p>
        </p:txBody>
      </p:sp>
      <p:sp>
        <p:nvSpPr>
          <p:cNvPr id="54" name="Text 52"/>
          <p:cNvSpPr/>
          <p:nvPr/>
        </p:nvSpPr>
        <p:spPr>
          <a:xfrm>
            <a:off x="5495255" y="3191321"/>
            <a:ext cx="1867719" cy="158576"/>
          </a:xfrm>
          <a:prstGeom prst="rect">
            <a:avLst/>
          </a:prstGeom>
          <a:noFill/>
          <a:ln/>
        </p:spPr>
        <p:txBody>
          <a:bodyPr wrap="none" lIns="0" tIns="0" rIns="0" bIns="0" rtlCol="0" anchor="t"/>
          <a:lstStyle/>
          <a:p>
            <a:pPr algn="l" indent="0" marL="0">
              <a:lnSpc>
                <a:spcPct val="124000"/>
              </a:lnSpc>
              <a:buNone/>
            </a:pPr>
            <a:r>
              <a:rPr lang="en-US" sz="800" spc="-17" kern="0" dirty="0">
                <a:solidFill>
                  <a:srgbClr val="272525"/>
                </a:solidFill>
                <a:latin typeface="Inter" pitchFamily="34" charset="0"/>
                <a:ea typeface="Inter" pitchFamily="34" charset="-122"/>
                <a:cs typeface="Inter" pitchFamily="34" charset="-120"/>
              </a:rPr>
              <a:t>0.7284***</a:t>
            </a:r>
            <a:endParaRPr lang="en-US" sz="800" dirty="0"/>
          </a:p>
        </p:txBody>
      </p:sp>
      <p:sp>
        <p:nvSpPr>
          <p:cNvPr id="55" name="Text 53"/>
          <p:cNvSpPr/>
          <p:nvPr/>
        </p:nvSpPr>
        <p:spPr>
          <a:xfrm>
            <a:off x="7123658" y="3191321"/>
            <a:ext cx="1870100" cy="158576"/>
          </a:xfrm>
          <a:prstGeom prst="rect">
            <a:avLst/>
          </a:prstGeom>
          <a:noFill/>
          <a:ln/>
        </p:spPr>
        <p:txBody>
          <a:bodyPr wrap="none" lIns="0" tIns="0" rIns="0" bIns="0" rtlCol="0" anchor="t"/>
          <a:lstStyle/>
          <a:p>
            <a:pPr algn="l" indent="0" marL="0">
              <a:lnSpc>
                <a:spcPct val="124000"/>
              </a:lnSpc>
              <a:buNone/>
            </a:pPr>
            <a:r>
              <a:rPr lang="en-US" sz="800" spc="-17" kern="0" dirty="0">
                <a:solidFill>
                  <a:srgbClr val="272525"/>
                </a:solidFill>
                <a:latin typeface="Inter" pitchFamily="34" charset="0"/>
                <a:ea typeface="Inter" pitchFamily="34" charset="-122"/>
                <a:cs typeface="Inter" pitchFamily="34" charset="-120"/>
              </a:rPr>
              <a:t>0.8631***</a:t>
            </a:r>
            <a:endParaRPr lang="en-US" sz="800" dirty="0"/>
          </a:p>
        </p:txBody>
      </p:sp>
      <p:pic>
        <p:nvPicPr>
          <p:cNvPr id="56"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6119" y="3517329"/>
            <a:ext cx="4030042" cy="1256035"/>
          </a:xfrm>
          <a:prstGeom prst="rect">
            <a:avLst/>
          </a:prstGeom>
        </p:spPr>
      </p:pic>
      <p:sp>
        <p:nvSpPr>
          <p:cNvPr id="57" name="Text 54"/>
          <p:cNvSpPr/>
          <p:nvPr/>
        </p:nvSpPr>
        <p:spPr>
          <a:xfrm>
            <a:off x="674117" y="3638178"/>
            <a:ext cx="3731196" cy="166539"/>
          </a:xfrm>
          <a:prstGeom prst="rect">
            <a:avLst/>
          </a:prstGeom>
          <a:noFill/>
          <a:ln/>
        </p:spPr>
        <p:txBody>
          <a:bodyPr wrap="none" lIns="0" tIns="0" rIns="0" bIns="0" rtlCol="0" anchor="t"/>
          <a:lstStyle/>
          <a:p>
            <a:pPr algn="l" indent="0" marL="0">
              <a:lnSpc>
                <a:spcPct val="104000"/>
              </a:lnSpc>
              <a:buNone/>
            </a:pPr>
            <a:r>
              <a:rPr lang="ko-KR" altLang="en-US" sz="1000" b="1" spc="-31" kern="0" dirty="0">
                <a:solidFill>
                  <a:srgbClr val="272525"/>
                </a:solidFill>
                <a:latin typeface="Inter Bold" pitchFamily="34" charset="0"/>
                <a:ea typeface="Inter Bold" pitchFamily="34" charset="-122"/>
                <a:cs typeface="Inter Bold" pitchFamily="34" charset="-120"/>
              </a:rPr>
              <a:t>전국·수도권·5대광역시: 정(+)의 위험-수익 관계</a:t>
            </a:r>
            <a:endParaRPr lang="ko-KR" sz="1000" dirty="0"/>
          </a:p>
        </p:txBody>
      </p:sp>
      <p:sp>
        <p:nvSpPr>
          <p:cNvPr id="58" name="Text 55"/>
          <p:cNvSpPr/>
          <p:nvPr/>
        </p:nvSpPr>
        <p:spPr>
          <a:xfrm>
            <a:off x="674117" y="3859634"/>
            <a:ext cx="3731196" cy="634305"/>
          </a:xfrm>
          <a:prstGeom prst="rect">
            <a:avLst/>
          </a:prstGeom>
          <a:noFill/>
          <a:ln/>
        </p:spPr>
        <p:txBody>
          <a:bodyPr wrap="square" lIns="0" tIns="0" rIns="0" bIns="0" rtlCol="0" anchor="t">
            <a:normAutofit/>
          </a:bodyPr>
          <a:lstStyle/>
          <a:p>
            <a:pPr algn="l" indent="0" marL="0">
              <a:lnSpc>
                <a:spcPct val="124000"/>
              </a:lnSpc>
              <a:buNone/>
            </a:pPr>
            <a:r>
              <a:rPr lang="ko-KR" altLang="en-US" sz="800" spc="-17" kern="0" dirty="0">
                <a:solidFill>
                  <a:srgbClr val="272525"/>
                </a:solidFill>
                <a:latin typeface="Inter" pitchFamily="34" charset="0"/>
                <a:ea typeface="Inter" pitchFamily="34" charset="-122"/>
                <a:cs typeface="Inter" pitchFamily="34" charset="-120"/>
              </a:rPr>
              <a:t>조건부 변동성 계수(δ)가 양(+)으로 유의하게 나타나 시장 불확실성이 확대될수록 투자자들이 보다 높은 기대수익률을 요구하는 일반적인 위험-수익 관계가 존재한다. 충격 크기 계수(γ)도 양(+)으로 유의하여 외부 충격 발생 시 변동성이 확대되는 전형적인 EGARCH 특성이 확인되었다.</a:t>
            </a:r>
            <a:endParaRPr lang="ko-KR" sz="800" dirty="0"/>
          </a:p>
        </p:txBody>
      </p:sp>
      <p:pic>
        <p:nvPicPr>
          <p:cNvPr id="59"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617765" y="3517329"/>
            <a:ext cx="4030117" cy="1256035"/>
          </a:xfrm>
          <a:prstGeom prst="rect">
            <a:avLst/>
          </a:prstGeom>
        </p:spPr>
      </p:pic>
      <p:sp>
        <p:nvSpPr>
          <p:cNvPr id="60" name="Text 56"/>
          <p:cNvSpPr/>
          <p:nvPr/>
        </p:nvSpPr>
        <p:spPr>
          <a:xfrm>
            <a:off x="4795763" y="3638178"/>
            <a:ext cx="3731270" cy="166539"/>
          </a:xfrm>
          <a:prstGeom prst="rect">
            <a:avLst/>
          </a:prstGeom>
          <a:noFill/>
          <a:ln/>
        </p:spPr>
        <p:txBody>
          <a:bodyPr wrap="none" lIns="0" tIns="0" rIns="0" bIns="0" rtlCol="0" anchor="t"/>
          <a:lstStyle/>
          <a:p>
            <a:pPr algn="l" indent="0" marL="0">
              <a:lnSpc>
                <a:spcPct val="104000"/>
              </a:lnSpc>
              <a:buNone/>
            </a:pPr>
            <a:r>
              <a:rPr lang="ko-KR" altLang="en-US" sz="1000" b="1" spc="-31" kern="0" dirty="0">
                <a:solidFill>
                  <a:srgbClr val="272525"/>
                </a:solidFill>
                <a:latin typeface="Inter Bold" pitchFamily="34" charset="0"/>
                <a:ea typeface="Inter Bold" pitchFamily="34" charset="-122"/>
                <a:cs typeface="Inter Bold" pitchFamily="34" charset="-120"/>
              </a:rPr>
              <a:t>서울: 비대칭적 반응 구조</a:t>
            </a:r>
            <a:endParaRPr lang="ko-KR" sz="1000" dirty="0"/>
          </a:p>
        </p:txBody>
      </p:sp>
      <p:sp>
        <p:nvSpPr>
          <p:cNvPr id="61" name="Text 57"/>
          <p:cNvSpPr/>
          <p:nvPr/>
        </p:nvSpPr>
        <p:spPr>
          <a:xfrm>
            <a:off x="4795763" y="3859634"/>
            <a:ext cx="3731270" cy="792882"/>
          </a:xfrm>
          <a:prstGeom prst="rect">
            <a:avLst/>
          </a:prstGeom>
          <a:noFill/>
          <a:ln/>
        </p:spPr>
        <p:txBody>
          <a:bodyPr wrap="square" lIns="0" tIns="0" rIns="0" bIns="0" rtlCol="0" anchor="t">
            <a:normAutofit/>
          </a:bodyPr>
          <a:lstStyle/>
          <a:p>
            <a:pPr algn="l" indent="0" marL="0">
              <a:lnSpc>
                <a:spcPct val="124000"/>
              </a:lnSpc>
              <a:buNone/>
            </a:pPr>
            <a:r>
              <a:rPr lang="ko-KR" altLang="en-US" sz="800" spc="-17" kern="0" dirty="0">
                <a:solidFill>
                  <a:srgbClr val="272525"/>
                </a:solidFill>
                <a:latin typeface="Inter" pitchFamily="34" charset="0"/>
                <a:ea typeface="Inter" pitchFamily="34" charset="-122"/>
                <a:cs typeface="Inter" pitchFamily="34" charset="-120"/>
              </a:rPr>
              <a:t>서울은 충격 크기 계수(γ)가 음(-)으로 유의하고, 비대칭성 계수(λ)가 정(+)으로 유일하게 유의하게 나타났다. 이는 주택가격 상승 충격에는 변동성과 리스크 프리미엄이 증가하는 반면, 하락 충격에는 오히려 변동성과 리스크 프리미엄이 축소되는 비대칭적 상태 의존성을 의미한다. 서울 핵심지역에서는 가격조정보다 거래 감소와 관망세가 우선하여 변동성이 제한되는 구조가 나타난다.</a:t>
            </a:r>
            <a:endParaRPr lang="ko-KR"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96119" y="760140"/>
            <a:ext cx="8151763" cy="387548"/>
          </a:xfrm>
          <a:prstGeom prst="rect">
            <a:avLst/>
          </a:prstGeom>
          <a:noFill/>
          <a:ln/>
        </p:spPr>
        <p:txBody>
          <a:bodyPr wrap="none" lIns="0" tIns="0" rIns="0" bIns="0" rtlCol="0" anchor="t"/>
          <a:lstStyle/>
          <a:p>
            <a:pPr algn="l" indent="0" marL="0">
              <a:lnSpc>
                <a:spcPct val="104000"/>
              </a:lnSpc>
              <a:buNone/>
            </a:pPr>
            <a:r>
              <a:rPr lang="ko-KR" altLang="en-US" sz="2400" b="1" spc="-73" kern="0" dirty="0">
                <a:solidFill>
                  <a:srgbClr val="000000"/>
                </a:solidFill>
                <a:latin typeface="Inter Bold" pitchFamily="34" charset="0"/>
                <a:ea typeface="Inter Bold" pitchFamily="34" charset="-122"/>
                <a:cs typeface="Inter Bold" pitchFamily="34" charset="-120"/>
              </a:rPr>
              <a:t>충격-반응 분석: 서울의 비대칭적 특성</a:t>
            </a:r>
            <a:endParaRPr lang="ko-KR" sz="2400" dirty="0"/>
          </a:p>
        </p:txBody>
      </p:sp>
      <p:sp>
        <p:nvSpPr>
          <p:cNvPr id="3" name="Text 1"/>
          <p:cNvSpPr/>
          <p:nvPr/>
        </p:nvSpPr>
        <p:spPr>
          <a:xfrm>
            <a:off x="496119" y="1395710"/>
            <a:ext cx="8151763" cy="396925"/>
          </a:xfrm>
          <a:prstGeom prst="rect">
            <a:avLst/>
          </a:prstGeom>
          <a:noFill/>
          <a:ln/>
        </p:spPr>
        <p:txBody>
          <a:bodyPr wrap="square" lIns="0" tIns="0" rIns="0" bIns="0" rtlCol="0" anchor="t">
            <a:normAutofit/>
          </a:bodyPr>
          <a:lstStyle/>
          <a:p>
            <a:pPr algn="l" indent="0" marL="0">
              <a:lnSpc>
                <a:spcPct val="133000"/>
              </a:lnSpc>
              <a:buNone/>
            </a:pPr>
            <a:r>
              <a:rPr lang="ko-KR" altLang="en-US" sz="950" spc="-20" kern="0" dirty="0">
                <a:solidFill>
                  <a:srgbClr val="272525"/>
                </a:solidFill>
                <a:latin typeface="Inter" pitchFamily="34" charset="0"/>
                <a:ea typeface="Inter" pitchFamily="34" charset="-122"/>
                <a:cs typeface="Inter" pitchFamily="34" charset="-120"/>
              </a:rPr>
              <a:t>EGARCH-in-Mean 모형 추정 결과를 바탕으로 표준화된 양(+), 음(-) 충격이 조건부 변동성(SD)과 리스크 프리미엄(RP)에 미치는 동태적 반응 경로를 20개월까지 분석하였다.</a:t>
            </a:r>
            <a:endParaRPr lang="ko-KR" sz="950" dirty="0"/>
          </a:p>
        </p:txBody>
      </p:sp>
      <p:sp>
        <p:nvSpPr>
          <p:cNvPr id="4" name="Shape 2"/>
          <p:cNvSpPr/>
          <p:nvPr/>
        </p:nvSpPr>
        <p:spPr>
          <a:xfrm>
            <a:off x="406822" y="1932161"/>
            <a:ext cx="4103191" cy="2451199"/>
          </a:xfrm>
          <a:prstGeom prst="roundRect">
            <a:avLst>
              <a:gd name="adj" fmla="val 3644"/>
            </a:avLst>
          </a:prstGeom>
          <a:solidFill>
            <a:srgbClr val="4950BC"/>
          </a:solidFill>
          <a:ln/>
        </p:spPr>
      </p:sp>
      <p:sp>
        <p:nvSpPr>
          <p:cNvPr id="5" name="Text 3"/>
          <p:cNvSpPr/>
          <p:nvPr/>
        </p:nvSpPr>
        <p:spPr>
          <a:xfrm>
            <a:off x="530796" y="2056135"/>
            <a:ext cx="3855244" cy="193849"/>
          </a:xfrm>
          <a:prstGeom prst="rect">
            <a:avLst/>
          </a:prstGeom>
          <a:noFill/>
          <a:ln/>
        </p:spPr>
        <p:txBody>
          <a:bodyPr wrap="none" lIns="0" tIns="0" rIns="0" bIns="0" rtlCol="0" anchor="t"/>
          <a:lstStyle/>
          <a:p>
            <a:pPr algn="l" indent="0" marL="0">
              <a:lnSpc>
                <a:spcPct val="104000"/>
              </a:lnSpc>
              <a:buNone/>
            </a:pPr>
            <a:r>
              <a:rPr lang="ko-KR" altLang="en-US" sz="1200" b="1" spc="-37" kern="0" dirty="0">
                <a:solidFill>
                  <a:srgbClr val="FFFFFF"/>
                </a:solidFill>
                <a:latin typeface="Inter Bold" pitchFamily="34" charset="0"/>
                <a:ea typeface="Inter Bold" pitchFamily="34" charset="-122"/>
                <a:cs typeface="Inter Bold" pitchFamily="34" charset="-120"/>
              </a:rPr>
              <a:t>전국 및 수도권: 전형적 반응</a:t>
            </a:r>
            <a:endParaRPr lang="ko-KR" sz="1200" dirty="0"/>
          </a:p>
        </p:txBody>
      </p:sp>
      <p:sp>
        <p:nvSpPr>
          <p:cNvPr id="6" name="Text 4"/>
          <p:cNvSpPr/>
          <p:nvPr/>
        </p:nvSpPr>
        <p:spPr>
          <a:xfrm>
            <a:off x="530796" y="2373957"/>
            <a:ext cx="3855244" cy="992312"/>
          </a:xfrm>
          <a:prstGeom prst="rect">
            <a:avLst/>
          </a:prstGeom>
          <a:noFill/>
          <a:ln/>
        </p:spPr>
        <p:txBody>
          <a:bodyPr wrap="square" lIns="0" tIns="0" rIns="0" bIns="0" rtlCol="0" anchor="t">
            <a:normAutofit/>
          </a:bodyPr>
          <a:lstStyle/>
          <a:p>
            <a:pPr algn="l" indent="0" marL="0">
              <a:lnSpc>
                <a:spcPct val="133000"/>
              </a:lnSpc>
              <a:buNone/>
            </a:pPr>
            <a:r>
              <a:rPr lang="ko-KR" altLang="en-US" sz="950" spc="-20" kern="0" dirty="0">
                <a:solidFill>
                  <a:srgbClr val="FFFFFF"/>
                </a:solidFill>
                <a:latin typeface="Inter" pitchFamily="34" charset="0"/>
                <a:ea typeface="Inter" pitchFamily="34" charset="-122"/>
                <a:cs typeface="Inter" pitchFamily="34" charset="-120"/>
              </a:rPr>
              <a:t>양(+), 음(-) 충격 모두에 대해 조건부 변동성과 리스크 프리미엄이 초기에 확대된 이후 점차 감소하며 안정 수준으로 수렴하는 전형적인 반응이 관찰된다. 이는 EGARCH 추정에서 충격 크기 계수(γ)가 양(+)으로 유의하게 나타난 결과와 부합하며, 가격 충격 발생 이후 위험인식과 요구수익률이 동시에 확대되는 일반적인 자산시장 반응으로 해석할 수 있다.</a:t>
            </a:r>
            <a:endParaRPr lang="ko-KR" sz="950" dirty="0"/>
          </a:p>
        </p:txBody>
      </p:sp>
      <p:sp>
        <p:nvSpPr>
          <p:cNvPr id="7" name="Text 5"/>
          <p:cNvSpPr/>
          <p:nvPr/>
        </p:nvSpPr>
        <p:spPr>
          <a:xfrm>
            <a:off x="4728046" y="2056135"/>
            <a:ext cx="3924598" cy="193849"/>
          </a:xfrm>
          <a:prstGeom prst="rect">
            <a:avLst/>
          </a:prstGeom>
          <a:noFill/>
          <a:ln/>
        </p:spPr>
        <p:txBody>
          <a:bodyPr wrap="none" lIns="0" tIns="0" rIns="0" bIns="0" rtlCol="0" anchor="t"/>
          <a:lstStyle/>
          <a:p>
            <a:pPr algn="l" indent="0" marL="0">
              <a:lnSpc>
                <a:spcPct val="104000"/>
              </a:lnSpc>
              <a:buNone/>
            </a:pPr>
            <a:r>
              <a:rPr lang="ko-KR" altLang="en-US" sz="1200" b="1" spc="-37" kern="0" dirty="0">
                <a:solidFill>
                  <a:srgbClr val="000000"/>
                </a:solidFill>
                <a:latin typeface="Inter Bold" pitchFamily="34" charset="0"/>
                <a:ea typeface="Inter Bold" pitchFamily="34" charset="-122"/>
                <a:cs typeface="Inter Bold" pitchFamily="34" charset="-120"/>
              </a:rPr>
              <a:t>서울: 비대칭적 반응 구조</a:t>
            </a:r>
            <a:endParaRPr lang="ko-KR" sz="1200" dirty="0"/>
          </a:p>
        </p:txBody>
      </p:sp>
      <p:sp>
        <p:nvSpPr>
          <p:cNvPr id="8" name="Text 6"/>
          <p:cNvSpPr/>
          <p:nvPr/>
        </p:nvSpPr>
        <p:spPr>
          <a:xfrm>
            <a:off x="4728046" y="2373957"/>
            <a:ext cx="3924598" cy="1897782"/>
          </a:xfrm>
          <a:prstGeom prst="rect">
            <a:avLst/>
          </a:prstGeom>
          <a:noFill/>
          <a:ln/>
        </p:spPr>
        <p:txBody>
          <a:bodyPr wrap="square" lIns="0" tIns="0" rIns="0" bIns="0" rtlCol="0" anchor="t">
            <a:normAutofit/>
          </a:bodyPr>
          <a:lstStyle/>
          <a:p>
            <a:pPr algn="l" indent="0" marL="0">
              <a:lnSpc>
                <a:spcPct val="133000"/>
              </a:lnSpc>
              <a:spcAft>
                <a:spcPts val="850"/>
              </a:spcAft>
              <a:buNone/>
            </a:pPr>
            <a:r>
              <a:rPr lang="ko-KR" altLang="en-US" sz="950" spc="-20" kern="0" dirty="0">
                <a:solidFill>
                  <a:srgbClr val="272525"/>
                </a:solidFill>
                <a:latin typeface="Inter" pitchFamily="34" charset="0"/>
                <a:ea typeface="Inter" pitchFamily="34" charset="-122"/>
                <a:cs typeface="Inter" pitchFamily="34" charset="-120"/>
              </a:rPr>
              <a:t>서울은 양(+) 충격에 대해서는 변동성과 리스크 프리미엄이 확대되는 반면, 음(-) 충격에 대해서는 변동성과 리스크 프리미엄이 오히려 축소되는 특징이 나타났다. 이는 동일한 충격 크기에 대해서도 충격의 방향에 따라 위험 인식과 가격 보상 구조가 달라질 수 있음을 의미한다.</a:t>
            </a:r>
            <a:endParaRPr lang="ko-KR" sz="950" dirty="0"/>
          </a:p>
          <a:p>
            <a:pPr algn="l" indent="0" marL="0">
              <a:lnSpc>
                <a:spcPct val="133000"/>
              </a:lnSpc>
              <a:buNone/>
            </a:pPr>
            <a:r>
              <a:rPr lang="ko-KR" altLang="en-US" sz="950" spc="-20" kern="0" dirty="0">
                <a:solidFill>
                  <a:srgbClr val="272525"/>
                </a:solidFill>
                <a:latin typeface="Inter" pitchFamily="34" charset="0"/>
                <a:ea typeface="Inter" pitchFamily="34" charset="-122"/>
                <a:cs typeface="Inter" pitchFamily="34" charset="-120"/>
              </a:rPr>
              <a:t>한국부동산원 통계에 따르면, '22~'23년 가격하락기 서울 아파트 거래량은 전년 대비 -71.3%(22년)에서 +182.5%(23년) 급변한 반면, 가격은 -12.9%p 하락에 그쳐 거래량이 가격에 비해 민감하게 반응하는 모습을 보인다. 이는 Case and Shiller(1989)의 거래비용·가격조정 속도, Genesove and Mayer(2001)의 손실회피 행동과도 부합한다.</a:t>
            </a:r>
            <a:endParaRPr lang="ko-KR"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96119" y="360313"/>
            <a:ext cx="8151763" cy="314920"/>
          </a:xfrm>
          <a:prstGeom prst="rect">
            <a:avLst/>
          </a:prstGeom>
          <a:noFill/>
          <a:ln/>
        </p:spPr>
        <p:txBody>
          <a:bodyPr wrap="none" lIns="0" tIns="0" rIns="0" bIns="0" rtlCol="0" anchor="t"/>
          <a:lstStyle/>
          <a:p>
            <a:pPr algn="l" indent="0" marL="0">
              <a:lnSpc>
                <a:spcPct val="104000"/>
              </a:lnSpc>
              <a:buNone/>
            </a:pPr>
            <a:r>
              <a:rPr lang="ko-KR" altLang="en-US" sz="1950" b="1" spc="-60" kern="0" dirty="0">
                <a:solidFill>
                  <a:srgbClr val="000000"/>
                </a:solidFill>
                <a:latin typeface="Inter Bold" pitchFamily="34" charset="0"/>
                <a:ea typeface="Inter Bold" pitchFamily="34" charset="-122"/>
                <a:cs typeface="Inter Bold" pitchFamily="34" charset="-120"/>
              </a:rPr>
              <a:t>리스크 프리미엄 시계열 추이 (전국)</a:t>
            </a:r>
            <a:endParaRPr lang="ko-KR" sz="1950" dirty="0"/>
          </a:p>
        </p:txBody>
      </p:sp>
      <p:pic>
        <p:nvPicPr>
          <p:cNvPr id="3" name="Image 0" descr="preencoded.png">    </p:cNvPr>
          <p:cNvPicPr>
            <a:picLocks noChangeAspect="1"/>
          </p:cNvPicPr>
          <p:nvPr/>
        </p:nvPicPr>
        <p:blipFill>
          <a:blip r:embed="rId1"/>
          <a:stretch>
            <a:fillRect/>
          </a:stretch>
        </p:blipFill>
        <p:spPr>
          <a:xfrm>
            <a:off x="496119" y="838944"/>
            <a:ext cx="2129135" cy="1133847"/>
          </a:xfrm>
          <a:prstGeom prst="rect">
            <a:avLst/>
          </a:prstGeom>
        </p:spPr>
      </p:pic>
      <p:sp>
        <p:nvSpPr>
          <p:cNvPr id="4" name="Text 1"/>
          <p:cNvSpPr/>
          <p:nvPr/>
        </p:nvSpPr>
        <p:spPr>
          <a:xfrm>
            <a:off x="496119" y="2064916"/>
            <a:ext cx="8151763" cy="438224"/>
          </a:xfrm>
          <a:prstGeom prst="rect">
            <a:avLst/>
          </a:prstGeom>
          <a:noFill/>
          <a:ln/>
        </p:spPr>
        <p:txBody>
          <a:bodyPr wrap="square" lIns="0" tIns="0" rIns="0" bIns="0" rtlCol="0" anchor="t">
            <a:normAutofit/>
          </a:bodyPr>
          <a:lstStyle/>
          <a:p>
            <a:pPr algn="l" indent="0" marL="0">
              <a:lnSpc>
                <a:spcPct val="121000"/>
              </a:lnSpc>
              <a:buNone/>
            </a:pPr>
            <a:r>
              <a:rPr lang="ko-KR" altLang="en-US" sz="750" spc="-16" kern="0" dirty="0">
                <a:solidFill>
                  <a:srgbClr val="272525"/>
                </a:solidFill>
                <a:latin typeface="Inter" pitchFamily="34" charset="0"/>
                <a:ea typeface="Inter" pitchFamily="34" charset="-122"/>
                <a:cs typeface="Inter" pitchFamily="34" charset="-120"/>
              </a:rPr>
              <a:t>전국 아파트 시장의 리스크 프리미엄은 거시경제 환경과 금융시장 충격에 따라 시기별로 상이한 변동 패턴을 보인다. 2008년 글로벌 금융위기 전후에는 리스크 프리미엄이 큰 폭으로 하락하였으며, 이는 금융시장 불안과 실물경제 둔화로 인해 주택시장 기대수익률이 약화되고 위험회피 성향이 확대된 결과로 해석할 수 있다. 2010~2016년에는 저금리와 완화적 통화정책 기조 속에서 비교적 안정적인 흐름을 보였다.</a:t>
            </a:r>
            <a:endParaRPr lang="ko-KR" sz="750" dirty="0"/>
          </a:p>
        </p:txBody>
      </p:sp>
      <p:sp>
        <p:nvSpPr>
          <p:cNvPr id="5" name="Shape 2"/>
          <p:cNvSpPr/>
          <p:nvPr/>
        </p:nvSpPr>
        <p:spPr>
          <a:xfrm>
            <a:off x="496119" y="3497089"/>
            <a:ext cx="8151763" cy="14288"/>
          </a:xfrm>
          <a:prstGeom prst="roundRect">
            <a:avLst>
              <a:gd name="adj" fmla="val 49998"/>
            </a:avLst>
          </a:prstGeom>
          <a:solidFill>
            <a:srgbClr val="C0C1D7"/>
          </a:solidFill>
          <a:ln/>
        </p:spPr>
      </p:sp>
      <p:sp>
        <p:nvSpPr>
          <p:cNvPr id="6" name="Shape 3"/>
          <p:cNvSpPr/>
          <p:nvPr/>
        </p:nvSpPr>
        <p:spPr>
          <a:xfrm>
            <a:off x="2088505" y="3194782"/>
            <a:ext cx="14288" cy="302344"/>
          </a:xfrm>
          <a:prstGeom prst="roundRect">
            <a:avLst>
              <a:gd name="adj" fmla="val 49998"/>
            </a:avLst>
          </a:prstGeom>
          <a:solidFill>
            <a:srgbClr val="C0C1D7"/>
          </a:solidFill>
          <a:ln/>
        </p:spPr>
      </p:sp>
      <p:sp>
        <p:nvSpPr>
          <p:cNvPr id="7" name="Shape 4"/>
          <p:cNvSpPr/>
          <p:nvPr/>
        </p:nvSpPr>
        <p:spPr>
          <a:xfrm>
            <a:off x="1982316" y="3383719"/>
            <a:ext cx="226740" cy="226740"/>
          </a:xfrm>
          <a:prstGeom prst="roundRect">
            <a:avLst>
              <a:gd name="adj" fmla="val 18669"/>
            </a:avLst>
          </a:prstGeom>
          <a:solidFill>
            <a:srgbClr val="DADBF1"/>
          </a:solidFill>
          <a:ln w="4763">
            <a:solidFill>
              <a:srgbClr val="C0C1D7"/>
            </a:solidFill>
            <a:prstDash val="solid"/>
          </a:ln>
        </p:spPr>
      </p:sp>
      <p:sp>
        <p:nvSpPr>
          <p:cNvPr id="8" name="Text 5"/>
          <p:cNvSpPr/>
          <p:nvPr/>
        </p:nvSpPr>
        <p:spPr>
          <a:xfrm>
            <a:off x="2020081" y="3402583"/>
            <a:ext cx="151135" cy="188937"/>
          </a:xfrm>
          <a:prstGeom prst="rect">
            <a:avLst/>
          </a:prstGeom>
          <a:noFill/>
          <a:ln/>
        </p:spPr>
        <p:txBody>
          <a:bodyPr wrap="none" lIns="0" tIns="0" rIns="0" bIns="0" rtlCol="0" anchor="ctr"/>
          <a:lstStyle/>
          <a:p>
            <a:pPr algn="ctr" indent="0" marL="0">
              <a:lnSpc>
                <a:spcPct val="100000"/>
              </a:lnSpc>
              <a:buNone/>
            </a:pPr>
            <a:r>
              <a:rPr lang="en-US" sz="1150" b="1" spc="-36" kern="0" dirty="0">
                <a:solidFill>
                  <a:srgbClr val="272525"/>
                </a:solidFill>
                <a:latin typeface="Inter Bold" pitchFamily="34" charset="0"/>
                <a:ea typeface="Inter Bold" pitchFamily="34" charset="-122"/>
                <a:cs typeface="Inter Bold" pitchFamily="34" charset="-120"/>
              </a:rPr>
              <a:t>1</a:t>
            </a:r>
            <a:endParaRPr lang="en-US" sz="1150" dirty="0"/>
          </a:p>
        </p:txBody>
      </p:sp>
      <p:sp>
        <p:nvSpPr>
          <p:cNvPr id="9" name="Text 6"/>
          <p:cNvSpPr/>
          <p:nvPr/>
        </p:nvSpPr>
        <p:spPr>
          <a:xfrm>
            <a:off x="596875" y="2595265"/>
            <a:ext cx="2997771" cy="157460"/>
          </a:xfrm>
          <a:prstGeom prst="rect">
            <a:avLst/>
          </a:prstGeom>
          <a:noFill/>
          <a:ln/>
        </p:spPr>
        <p:txBody>
          <a:bodyPr wrap="none" lIns="0" tIns="0" rIns="0" bIns="0" rtlCol="0" anchor="t"/>
          <a:lstStyle/>
          <a:p>
            <a:pPr algn="ctr" indent="0" marL="0">
              <a:lnSpc>
                <a:spcPct val="104000"/>
              </a:lnSpc>
              <a:buNone/>
            </a:pPr>
            <a:r>
              <a:rPr lang="ko-KR" altLang="en-US" sz="950" b="1" spc="-30" kern="0" dirty="0">
                <a:solidFill>
                  <a:srgbClr val="272525"/>
                </a:solidFill>
                <a:latin typeface="Inter Bold" pitchFamily="34" charset="0"/>
                <a:ea typeface="Inter Bold" pitchFamily="34" charset="-122"/>
                <a:cs typeface="Inter Bold" pitchFamily="34" charset="-120"/>
              </a:rPr>
              <a:t>2008년 글로벌 금융위기</a:t>
            </a:r>
            <a:endParaRPr lang="ko-KR" sz="950" dirty="0"/>
          </a:p>
        </p:txBody>
      </p:sp>
      <p:sp>
        <p:nvSpPr>
          <p:cNvPr id="10" name="Text 7"/>
          <p:cNvSpPr/>
          <p:nvPr/>
        </p:nvSpPr>
        <p:spPr>
          <a:xfrm>
            <a:off x="596875" y="2801838"/>
            <a:ext cx="2997771" cy="292150"/>
          </a:xfrm>
          <a:prstGeom prst="rect">
            <a:avLst/>
          </a:prstGeom>
          <a:noFill/>
          <a:ln/>
        </p:spPr>
        <p:txBody>
          <a:bodyPr wrap="square" lIns="0" tIns="0" rIns="0" bIns="0" rtlCol="0" anchor="t">
            <a:normAutofit/>
          </a:bodyPr>
          <a:lstStyle/>
          <a:p>
            <a:pPr algn="ctr" indent="0" marL="0">
              <a:lnSpc>
                <a:spcPct val="121000"/>
              </a:lnSpc>
              <a:buNone/>
            </a:pPr>
            <a:r>
              <a:rPr lang="ko-KR" altLang="en-US" sz="750" spc="-16" kern="0" dirty="0">
                <a:solidFill>
                  <a:srgbClr val="272525"/>
                </a:solidFill>
                <a:latin typeface="Inter" pitchFamily="34" charset="0"/>
                <a:ea typeface="Inter" pitchFamily="34" charset="-122"/>
                <a:cs typeface="Inter" pitchFamily="34" charset="-120"/>
              </a:rPr>
              <a:t>금융시장 불안과 실물경제 둔화로 리스크 프리미엄이 큰 폭으로 하락. 주택시장 기대수익률 약화 및 위험회피 성향 확대.</a:t>
            </a:r>
            <a:endParaRPr lang="ko-KR" sz="750" dirty="0"/>
          </a:p>
        </p:txBody>
      </p:sp>
      <p:sp>
        <p:nvSpPr>
          <p:cNvPr id="11" name="Shape 8"/>
          <p:cNvSpPr/>
          <p:nvPr/>
        </p:nvSpPr>
        <p:spPr>
          <a:xfrm>
            <a:off x="3739307" y="3497052"/>
            <a:ext cx="14288" cy="302344"/>
          </a:xfrm>
          <a:prstGeom prst="roundRect">
            <a:avLst>
              <a:gd name="adj" fmla="val 49998"/>
            </a:avLst>
          </a:prstGeom>
          <a:solidFill>
            <a:srgbClr val="C0C1D7"/>
          </a:solidFill>
          <a:ln/>
        </p:spPr>
      </p:sp>
      <p:sp>
        <p:nvSpPr>
          <p:cNvPr id="12" name="Shape 9"/>
          <p:cNvSpPr/>
          <p:nvPr/>
        </p:nvSpPr>
        <p:spPr>
          <a:xfrm>
            <a:off x="3633118" y="3383719"/>
            <a:ext cx="226740" cy="226740"/>
          </a:xfrm>
          <a:prstGeom prst="roundRect">
            <a:avLst>
              <a:gd name="adj" fmla="val 18669"/>
            </a:avLst>
          </a:prstGeom>
          <a:solidFill>
            <a:srgbClr val="DADBF1"/>
          </a:solidFill>
          <a:ln w="4763">
            <a:solidFill>
              <a:srgbClr val="C0C1D7"/>
            </a:solidFill>
            <a:prstDash val="solid"/>
          </a:ln>
        </p:spPr>
      </p:sp>
      <p:sp>
        <p:nvSpPr>
          <p:cNvPr id="13" name="Text 10"/>
          <p:cNvSpPr/>
          <p:nvPr/>
        </p:nvSpPr>
        <p:spPr>
          <a:xfrm>
            <a:off x="3670883" y="3402583"/>
            <a:ext cx="151135" cy="188937"/>
          </a:xfrm>
          <a:prstGeom prst="rect">
            <a:avLst/>
          </a:prstGeom>
          <a:noFill/>
          <a:ln/>
        </p:spPr>
        <p:txBody>
          <a:bodyPr wrap="none" lIns="0" tIns="0" rIns="0" bIns="0" rtlCol="0" anchor="ctr"/>
          <a:lstStyle/>
          <a:p>
            <a:pPr algn="ctr" indent="0" marL="0">
              <a:lnSpc>
                <a:spcPct val="100000"/>
              </a:lnSpc>
              <a:buNone/>
            </a:pPr>
            <a:r>
              <a:rPr lang="en-US" sz="1150" b="1" spc="-36" kern="0" dirty="0">
                <a:solidFill>
                  <a:srgbClr val="272525"/>
                </a:solidFill>
                <a:latin typeface="Inter Bold" pitchFamily="34" charset="0"/>
                <a:ea typeface="Inter Bold" pitchFamily="34" charset="-122"/>
                <a:cs typeface="Inter Bold" pitchFamily="34" charset="-120"/>
              </a:rPr>
              <a:t>2</a:t>
            </a:r>
            <a:endParaRPr lang="en-US" sz="1150" dirty="0"/>
          </a:p>
        </p:txBody>
      </p:sp>
      <p:sp>
        <p:nvSpPr>
          <p:cNvPr id="14" name="Text 11"/>
          <p:cNvSpPr/>
          <p:nvPr/>
        </p:nvSpPr>
        <p:spPr>
          <a:xfrm>
            <a:off x="2247677" y="3900190"/>
            <a:ext cx="2997771" cy="157460"/>
          </a:xfrm>
          <a:prstGeom prst="rect">
            <a:avLst/>
          </a:prstGeom>
          <a:noFill/>
          <a:ln/>
        </p:spPr>
        <p:txBody>
          <a:bodyPr wrap="none" lIns="0" tIns="0" rIns="0" bIns="0" rtlCol="0" anchor="t"/>
          <a:lstStyle/>
          <a:p>
            <a:pPr algn="ctr" indent="0" marL="0">
              <a:lnSpc>
                <a:spcPct val="104000"/>
              </a:lnSpc>
              <a:buNone/>
            </a:pPr>
            <a:r>
              <a:rPr lang="ko-KR" altLang="en-US" sz="950" b="1" spc="-30" kern="0" dirty="0">
                <a:solidFill>
                  <a:srgbClr val="272525"/>
                </a:solidFill>
                <a:latin typeface="Inter Bold" pitchFamily="34" charset="0"/>
                <a:ea typeface="Inter Bold" pitchFamily="34" charset="-122"/>
                <a:cs typeface="Inter Bold" pitchFamily="34" charset="-120"/>
              </a:rPr>
              <a:t>2010~2016년 저금리 기조</a:t>
            </a:r>
            <a:endParaRPr lang="ko-KR" sz="950" dirty="0"/>
          </a:p>
        </p:txBody>
      </p:sp>
      <p:sp>
        <p:nvSpPr>
          <p:cNvPr id="15" name="Text 12"/>
          <p:cNvSpPr/>
          <p:nvPr/>
        </p:nvSpPr>
        <p:spPr>
          <a:xfrm>
            <a:off x="2247677" y="4106763"/>
            <a:ext cx="2997771" cy="146075"/>
          </a:xfrm>
          <a:prstGeom prst="rect">
            <a:avLst/>
          </a:prstGeom>
          <a:noFill/>
          <a:ln/>
        </p:spPr>
        <p:txBody>
          <a:bodyPr wrap="none" lIns="0" tIns="0" rIns="0" bIns="0" rtlCol="0" anchor="t"/>
          <a:lstStyle/>
          <a:p>
            <a:pPr algn="ctr" indent="0" marL="0">
              <a:lnSpc>
                <a:spcPct val="121000"/>
              </a:lnSpc>
              <a:buNone/>
            </a:pPr>
            <a:r>
              <a:rPr lang="ko-KR" altLang="en-US" sz="750" spc="-16" kern="0" dirty="0">
                <a:solidFill>
                  <a:srgbClr val="272525"/>
                </a:solidFill>
                <a:latin typeface="Inter" pitchFamily="34" charset="0"/>
                <a:ea typeface="Inter" pitchFamily="34" charset="-122"/>
                <a:cs typeface="Inter" pitchFamily="34" charset="-120"/>
              </a:rPr>
              <a:t>완화적 통화정책 속에서 리스크 프리미엄이 비교적 안정적인 흐름을 보임.</a:t>
            </a:r>
            <a:endParaRPr lang="ko-KR" sz="750" dirty="0"/>
          </a:p>
        </p:txBody>
      </p:sp>
      <p:sp>
        <p:nvSpPr>
          <p:cNvPr id="16" name="Shape 13"/>
          <p:cNvSpPr/>
          <p:nvPr/>
        </p:nvSpPr>
        <p:spPr>
          <a:xfrm>
            <a:off x="5390108" y="3194782"/>
            <a:ext cx="14288" cy="302344"/>
          </a:xfrm>
          <a:prstGeom prst="roundRect">
            <a:avLst>
              <a:gd name="adj" fmla="val 49998"/>
            </a:avLst>
          </a:prstGeom>
          <a:solidFill>
            <a:srgbClr val="C0C1D7"/>
          </a:solidFill>
          <a:ln/>
        </p:spPr>
      </p:sp>
      <p:sp>
        <p:nvSpPr>
          <p:cNvPr id="17" name="Shape 14"/>
          <p:cNvSpPr/>
          <p:nvPr/>
        </p:nvSpPr>
        <p:spPr>
          <a:xfrm>
            <a:off x="5283919" y="3383719"/>
            <a:ext cx="226740" cy="226740"/>
          </a:xfrm>
          <a:prstGeom prst="roundRect">
            <a:avLst>
              <a:gd name="adj" fmla="val 18669"/>
            </a:avLst>
          </a:prstGeom>
          <a:solidFill>
            <a:srgbClr val="DADBF1"/>
          </a:solidFill>
          <a:ln w="4763">
            <a:solidFill>
              <a:srgbClr val="C0C1D7"/>
            </a:solidFill>
            <a:prstDash val="solid"/>
          </a:ln>
        </p:spPr>
      </p:sp>
      <p:sp>
        <p:nvSpPr>
          <p:cNvPr id="18" name="Text 15"/>
          <p:cNvSpPr/>
          <p:nvPr/>
        </p:nvSpPr>
        <p:spPr>
          <a:xfrm>
            <a:off x="5321684" y="3402583"/>
            <a:ext cx="151135" cy="188937"/>
          </a:xfrm>
          <a:prstGeom prst="rect">
            <a:avLst/>
          </a:prstGeom>
          <a:noFill/>
          <a:ln/>
        </p:spPr>
        <p:txBody>
          <a:bodyPr wrap="none" lIns="0" tIns="0" rIns="0" bIns="0" rtlCol="0" anchor="ctr"/>
          <a:lstStyle/>
          <a:p>
            <a:pPr algn="ctr" indent="0" marL="0">
              <a:lnSpc>
                <a:spcPct val="100000"/>
              </a:lnSpc>
              <a:buNone/>
            </a:pPr>
            <a:r>
              <a:rPr lang="en-US" sz="1150" b="1" spc="-36" kern="0" dirty="0">
                <a:solidFill>
                  <a:srgbClr val="272525"/>
                </a:solidFill>
                <a:latin typeface="Inter Bold" pitchFamily="34" charset="0"/>
                <a:ea typeface="Inter Bold" pitchFamily="34" charset="-122"/>
                <a:cs typeface="Inter Bold" pitchFamily="34" charset="-120"/>
              </a:rPr>
              <a:t>3</a:t>
            </a:r>
            <a:endParaRPr lang="en-US" sz="1150" dirty="0"/>
          </a:p>
        </p:txBody>
      </p:sp>
      <p:sp>
        <p:nvSpPr>
          <p:cNvPr id="19" name="Text 16"/>
          <p:cNvSpPr/>
          <p:nvPr/>
        </p:nvSpPr>
        <p:spPr>
          <a:xfrm>
            <a:off x="3898478" y="2595265"/>
            <a:ext cx="2997771" cy="157460"/>
          </a:xfrm>
          <a:prstGeom prst="rect">
            <a:avLst/>
          </a:prstGeom>
          <a:noFill/>
          <a:ln/>
        </p:spPr>
        <p:txBody>
          <a:bodyPr wrap="none" lIns="0" tIns="0" rIns="0" bIns="0" rtlCol="0" anchor="t"/>
          <a:lstStyle/>
          <a:p>
            <a:pPr algn="ctr" indent="0" marL="0">
              <a:lnSpc>
                <a:spcPct val="104000"/>
              </a:lnSpc>
              <a:buNone/>
            </a:pPr>
            <a:r>
              <a:rPr lang="ko-KR" altLang="en-US" sz="950" b="1" spc="-30" kern="0" dirty="0">
                <a:solidFill>
                  <a:srgbClr val="272525"/>
                </a:solidFill>
                <a:latin typeface="Inter Bold" pitchFamily="34" charset="0"/>
                <a:ea typeface="Inter Bold" pitchFamily="34" charset="-122"/>
                <a:cs typeface="Inter Bold" pitchFamily="34" charset="-120"/>
              </a:rPr>
              <a:t>2020년 COVID-19 팬데믹</a:t>
            </a:r>
            <a:endParaRPr lang="ko-KR" sz="950" dirty="0"/>
          </a:p>
        </p:txBody>
      </p:sp>
      <p:sp>
        <p:nvSpPr>
          <p:cNvPr id="20" name="Text 17"/>
          <p:cNvSpPr/>
          <p:nvPr/>
        </p:nvSpPr>
        <p:spPr>
          <a:xfrm>
            <a:off x="3898478" y="2801838"/>
            <a:ext cx="2997771" cy="292150"/>
          </a:xfrm>
          <a:prstGeom prst="rect">
            <a:avLst/>
          </a:prstGeom>
          <a:noFill/>
          <a:ln/>
        </p:spPr>
        <p:txBody>
          <a:bodyPr wrap="square" lIns="0" tIns="0" rIns="0" bIns="0" rtlCol="0" anchor="t">
            <a:normAutofit/>
          </a:bodyPr>
          <a:lstStyle/>
          <a:p>
            <a:pPr algn="ctr" indent="0" marL="0">
              <a:lnSpc>
                <a:spcPct val="121000"/>
              </a:lnSpc>
              <a:buNone/>
            </a:pPr>
            <a:r>
              <a:rPr lang="ko-KR" altLang="en-US" sz="750" spc="-16" kern="0" dirty="0">
                <a:solidFill>
                  <a:srgbClr val="272525"/>
                </a:solidFill>
                <a:latin typeface="Inter" pitchFamily="34" charset="0"/>
                <a:ea typeface="Inter" pitchFamily="34" charset="-122"/>
                <a:cs typeface="Inter" pitchFamily="34" charset="-120"/>
              </a:rPr>
              <a:t>경제활동 위축과 금융시장 불확실성 확대가 주택시장 기대수익률에 부정적 영향을 미쳐 리스크 프리미엄이 급격히 하락.</a:t>
            </a:r>
            <a:endParaRPr lang="ko-KR" sz="750" dirty="0"/>
          </a:p>
        </p:txBody>
      </p:sp>
      <p:sp>
        <p:nvSpPr>
          <p:cNvPr id="21" name="Shape 18"/>
          <p:cNvSpPr/>
          <p:nvPr/>
        </p:nvSpPr>
        <p:spPr>
          <a:xfrm>
            <a:off x="7040910" y="3497052"/>
            <a:ext cx="14288" cy="302344"/>
          </a:xfrm>
          <a:prstGeom prst="roundRect">
            <a:avLst>
              <a:gd name="adj" fmla="val 49998"/>
            </a:avLst>
          </a:prstGeom>
          <a:solidFill>
            <a:srgbClr val="C0C1D7"/>
          </a:solidFill>
          <a:ln/>
        </p:spPr>
      </p:sp>
      <p:sp>
        <p:nvSpPr>
          <p:cNvPr id="22" name="Shape 19"/>
          <p:cNvSpPr/>
          <p:nvPr/>
        </p:nvSpPr>
        <p:spPr>
          <a:xfrm>
            <a:off x="6934721" y="3383719"/>
            <a:ext cx="226740" cy="226740"/>
          </a:xfrm>
          <a:prstGeom prst="roundRect">
            <a:avLst>
              <a:gd name="adj" fmla="val 18669"/>
            </a:avLst>
          </a:prstGeom>
          <a:solidFill>
            <a:srgbClr val="DADBF1"/>
          </a:solidFill>
          <a:ln w="4763">
            <a:solidFill>
              <a:srgbClr val="C0C1D7"/>
            </a:solidFill>
            <a:prstDash val="solid"/>
          </a:ln>
        </p:spPr>
      </p:sp>
      <p:sp>
        <p:nvSpPr>
          <p:cNvPr id="23" name="Text 20"/>
          <p:cNvSpPr/>
          <p:nvPr/>
        </p:nvSpPr>
        <p:spPr>
          <a:xfrm>
            <a:off x="6972486" y="3402583"/>
            <a:ext cx="151135" cy="188937"/>
          </a:xfrm>
          <a:prstGeom prst="rect">
            <a:avLst/>
          </a:prstGeom>
          <a:noFill/>
          <a:ln/>
        </p:spPr>
        <p:txBody>
          <a:bodyPr wrap="none" lIns="0" tIns="0" rIns="0" bIns="0" rtlCol="0" anchor="ctr"/>
          <a:lstStyle/>
          <a:p>
            <a:pPr algn="ctr" indent="0" marL="0">
              <a:lnSpc>
                <a:spcPct val="100000"/>
              </a:lnSpc>
              <a:buNone/>
            </a:pPr>
            <a:r>
              <a:rPr lang="en-US" sz="1150" b="1" spc="-36" kern="0" dirty="0">
                <a:solidFill>
                  <a:srgbClr val="272525"/>
                </a:solidFill>
                <a:latin typeface="Inter Bold" pitchFamily="34" charset="0"/>
                <a:ea typeface="Inter Bold" pitchFamily="34" charset="-122"/>
                <a:cs typeface="Inter Bold" pitchFamily="34" charset="-120"/>
              </a:rPr>
              <a:t>4</a:t>
            </a:r>
            <a:endParaRPr lang="en-US" sz="1150" dirty="0"/>
          </a:p>
        </p:txBody>
      </p:sp>
      <p:sp>
        <p:nvSpPr>
          <p:cNvPr id="24" name="Text 21"/>
          <p:cNvSpPr/>
          <p:nvPr/>
        </p:nvSpPr>
        <p:spPr>
          <a:xfrm>
            <a:off x="5549280" y="3900190"/>
            <a:ext cx="2997771" cy="157460"/>
          </a:xfrm>
          <a:prstGeom prst="rect">
            <a:avLst/>
          </a:prstGeom>
          <a:noFill/>
          <a:ln/>
        </p:spPr>
        <p:txBody>
          <a:bodyPr wrap="none" lIns="0" tIns="0" rIns="0" bIns="0" rtlCol="0" anchor="t"/>
          <a:lstStyle/>
          <a:p>
            <a:pPr algn="ctr" indent="0" marL="0">
              <a:lnSpc>
                <a:spcPct val="104000"/>
              </a:lnSpc>
              <a:buNone/>
            </a:pPr>
            <a:r>
              <a:rPr lang="ko-KR" altLang="en-US" sz="950" b="1" spc="-30" kern="0" dirty="0">
                <a:solidFill>
                  <a:srgbClr val="272525"/>
                </a:solidFill>
                <a:latin typeface="Inter Bold" pitchFamily="34" charset="0"/>
                <a:ea typeface="Inter Bold" pitchFamily="34" charset="-122"/>
                <a:cs typeface="Inter Bold" pitchFamily="34" charset="-120"/>
              </a:rPr>
              <a:t>2021년 이후 통화긴축</a:t>
            </a:r>
            <a:endParaRPr lang="ko-KR" sz="950" dirty="0"/>
          </a:p>
        </p:txBody>
      </p:sp>
      <p:sp>
        <p:nvSpPr>
          <p:cNvPr id="25" name="Text 22"/>
          <p:cNvSpPr/>
          <p:nvPr/>
        </p:nvSpPr>
        <p:spPr>
          <a:xfrm>
            <a:off x="5549280" y="4106763"/>
            <a:ext cx="2997771" cy="438224"/>
          </a:xfrm>
          <a:prstGeom prst="rect">
            <a:avLst/>
          </a:prstGeom>
          <a:noFill/>
          <a:ln/>
        </p:spPr>
        <p:txBody>
          <a:bodyPr wrap="square" lIns="0" tIns="0" rIns="0" bIns="0" rtlCol="0" anchor="t">
            <a:normAutofit/>
          </a:bodyPr>
          <a:lstStyle/>
          <a:p>
            <a:pPr algn="ctr" indent="0" marL="0">
              <a:lnSpc>
                <a:spcPct val="121000"/>
              </a:lnSpc>
              <a:buNone/>
            </a:pPr>
            <a:r>
              <a:rPr lang="ko-KR" altLang="en-US" sz="750" spc="-16" kern="0" dirty="0">
                <a:solidFill>
                  <a:srgbClr val="272525"/>
                </a:solidFill>
                <a:latin typeface="Inter" pitchFamily="34" charset="0"/>
                <a:ea typeface="Inter" pitchFamily="34" charset="-122"/>
                <a:cs typeface="Inter" pitchFamily="34" charset="-120"/>
              </a:rPr>
              <a:t>기준금리 인상과 통화긴축 기조 전환 이후 리스크 프리미엄의 변동성이 다시 확대. 금리 상승은 자금조달 비용과 레버리지 부담을 증가시키며 위험보상 구조의 재조정을 유발.</a:t>
            </a:r>
            <a:endParaRPr lang="ko-KR" sz="750" dirty="0"/>
          </a:p>
        </p:txBody>
      </p:sp>
      <p:sp>
        <p:nvSpPr>
          <p:cNvPr id="26" name="Text 23"/>
          <p:cNvSpPr/>
          <p:nvPr/>
        </p:nvSpPr>
        <p:spPr>
          <a:xfrm>
            <a:off x="496119" y="4637112"/>
            <a:ext cx="8608963" cy="146075"/>
          </a:xfrm>
          <a:prstGeom prst="rect">
            <a:avLst/>
          </a:prstGeom>
          <a:noFill/>
          <a:ln/>
        </p:spPr>
        <p:txBody>
          <a:bodyPr wrap="none" lIns="0" tIns="0" rIns="0" bIns="0" rtlCol="0" anchor="t"/>
          <a:lstStyle/>
          <a:p>
            <a:pPr algn="l" indent="0" marL="0">
              <a:lnSpc>
                <a:spcPct val="121000"/>
              </a:lnSpc>
              <a:buNone/>
            </a:pPr>
            <a:r>
              <a:rPr lang="ko-KR" altLang="en-US" sz="750" spc="-16" kern="0" dirty="0">
                <a:solidFill>
                  <a:srgbClr val="272525"/>
                </a:solidFill>
                <a:latin typeface="Inter" pitchFamily="34" charset="0"/>
                <a:ea typeface="Inter" pitchFamily="34" charset="-122"/>
                <a:cs typeface="Inter" pitchFamily="34" charset="-120"/>
              </a:rPr>
              <a:t>한국 주택시장의 리스크 프리미엄은 거시경제 충격과 금융환경 변화에 따라 시간가변적으로 변화하는 특성을 가지며, 이는 주택시장이 금융시장과 연계된 자산시장적 특성을 가진다는 점을 시사한다.</a:t>
            </a:r>
            <a:endParaRPr lang="ko-KR" sz="7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96119" y="394990"/>
            <a:ext cx="8151763" cy="314920"/>
          </a:xfrm>
          <a:prstGeom prst="rect">
            <a:avLst/>
          </a:prstGeom>
          <a:noFill/>
          <a:ln/>
        </p:spPr>
        <p:txBody>
          <a:bodyPr wrap="none" lIns="0" tIns="0" rIns="0" bIns="0" rtlCol="0" anchor="t"/>
          <a:lstStyle/>
          <a:p>
            <a:pPr algn="l" indent="0" marL="0">
              <a:lnSpc>
                <a:spcPct val="104000"/>
              </a:lnSpc>
              <a:buNone/>
            </a:pPr>
            <a:r>
              <a:rPr lang="ko-KR" altLang="en-US" sz="1950" b="1" spc="-60" kern="0" dirty="0">
                <a:solidFill>
                  <a:srgbClr val="000000"/>
                </a:solidFill>
                <a:latin typeface="Inter Bold" pitchFamily="34" charset="0"/>
                <a:ea typeface="Inter Bold" pitchFamily="34" charset="-122"/>
                <a:cs typeface="Inter Bold" pitchFamily="34" charset="-120"/>
              </a:rPr>
              <a:t>예측력 분석: EGARCH-in-Mean 모형의 우수성</a:t>
            </a:r>
            <a:endParaRPr lang="ko-KR" sz="1950" dirty="0"/>
          </a:p>
        </p:txBody>
      </p:sp>
      <p:sp>
        <p:nvSpPr>
          <p:cNvPr id="3" name="Text 1"/>
          <p:cNvSpPr/>
          <p:nvPr/>
        </p:nvSpPr>
        <p:spPr>
          <a:xfrm>
            <a:off x="496119" y="873621"/>
            <a:ext cx="8151763" cy="292150"/>
          </a:xfrm>
          <a:prstGeom prst="rect">
            <a:avLst/>
          </a:prstGeom>
          <a:noFill/>
          <a:ln/>
        </p:spPr>
        <p:txBody>
          <a:bodyPr wrap="square" lIns="0" tIns="0" rIns="0" bIns="0" rtlCol="0" anchor="t">
            <a:normAutofit/>
          </a:bodyPr>
          <a:lstStyle/>
          <a:p>
            <a:pPr algn="l" indent="0" marL="0">
              <a:lnSpc>
                <a:spcPct val="121000"/>
              </a:lnSpc>
              <a:buNone/>
            </a:pPr>
            <a:r>
              <a:rPr lang="ko-KR" altLang="en-US" sz="750" spc="-16" kern="0" dirty="0">
                <a:solidFill>
                  <a:srgbClr val="272525"/>
                </a:solidFill>
                <a:latin typeface="Inter" pitchFamily="34" charset="0"/>
                <a:ea typeface="Inter" pitchFamily="34" charset="-122"/>
                <a:cs typeface="Inter" pitchFamily="34" charset="-120"/>
              </a:rPr>
              <a:t>Random Walk 모형, CAPM 모형, EGARCH-in-Mean 모형의 예측력을 RMSE와 MAE로 비교하였다. 표본 내 예측은 2005년 1월~2025년 12월 전체기간, 표본 외 예측은 2005~2016년 추정 후 2017~2019년 예측으로 실시하였다.</a:t>
            </a:r>
            <a:endParaRPr lang="ko-KR" sz="750" dirty="0"/>
          </a:p>
        </p:txBody>
      </p:sp>
      <p:sp>
        <p:nvSpPr>
          <p:cNvPr id="4" name="Shape 2"/>
          <p:cNvSpPr/>
          <p:nvPr/>
        </p:nvSpPr>
        <p:spPr>
          <a:xfrm>
            <a:off x="496119" y="1257895"/>
            <a:ext cx="8151763" cy="1814885"/>
          </a:xfrm>
          <a:prstGeom prst="roundRect">
            <a:avLst>
              <a:gd name="adj" fmla="val 2332"/>
            </a:avLst>
          </a:prstGeom>
          <a:noFill/>
          <a:ln w="4763">
            <a:solidFill>
              <a:srgbClr val="000000">
                <a:alpha val="8000"/>
              </a:srgbClr>
            </a:solidFill>
            <a:prstDash val="solid"/>
          </a:ln>
        </p:spPr>
      </p:sp>
      <p:sp>
        <p:nvSpPr>
          <p:cNvPr id="5" name="Shape 3"/>
          <p:cNvSpPr/>
          <p:nvPr/>
        </p:nvSpPr>
        <p:spPr>
          <a:xfrm>
            <a:off x="496119" y="1518865"/>
            <a:ext cx="8151763" cy="6299"/>
          </a:xfrm>
          <a:prstGeom prst="rect">
            <a:avLst/>
          </a:prstGeom>
          <a:solidFill>
            <a:srgbClr val="000000">
              <a:alpha val="8000"/>
            </a:srgbClr>
          </a:solidFill>
          <a:ln/>
        </p:spPr>
      </p:sp>
      <p:sp>
        <p:nvSpPr>
          <p:cNvPr id="6" name="Shape 4"/>
          <p:cNvSpPr/>
          <p:nvPr/>
        </p:nvSpPr>
        <p:spPr>
          <a:xfrm>
            <a:off x="496119" y="1777454"/>
            <a:ext cx="8151763" cy="6299"/>
          </a:xfrm>
          <a:prstGeom prst="rect">
            <a:avLst/>
          </a:prstGeom>
          <a:solidFill>
            <a:srgbClr val="000000">
              <a:alpha val="8000"/>
            </a:srgbClr>
          </a:solidFill>
          <a:ln/>
        </p:spPr>
      </p:sp>
      <p:sp>
        <p:nvSpPr>
          <p:cNvPr id="7" name="Shape 5"/>
          <p:cNvSpPr/>
          <p:nvPr/>
        </p:nvSpPr>
        <p:spPr>
          <a:xfrm>
            <a:off x="496119" y="2036043"/>
            <a:ext cx="8151763" cy="6299"/>
          </a:xfrm>
          <a:prstGeom prst="rect">
            <a:avLst/>
          </a:prstGeom>
          <a:solidFill>
            <a:srgbClr val="000000">
              <a:alpha val="8000"/>
            </a:srgbClr>
          </a:solidFill>
          <a:ln/>
        </p:spPr>
      </p:sp>
      <p:sp>
        <p:nvSpPr>
          <p:cNvPr id="8" name="Shape 6"/>
          <p:cNvSpPr/>
          <p:nvPr/>
        </p:nvSpPr>
        <p:spPr>
          <a:xfrm>
            <a:off x="496119" y="2294632"/>
            <a:ext cx="8151763" cy="6299"/>
          </a:xfrm>
          <a:prstGeom prst="rect">
            <a:avLst/>
          </a:prstGeom>
          <a:solidFill>
            <a:srgbClr val="000000">
              <a:alpha val="8000"/>
            </a:srgbClr>
          </a:solidFill>
          <a:ln/>
        </p:spPr>
      </p:sp>
      <p:sp>
        <p:nvSpPr>
          <p:cNvPr id="9" name="Shape 7"/>
          <p:cNvSpPr/>
          <p:nvPr/>
        </p:nvSpPr>
        <p:spPr>
          <a:xfrm>
            <a:off x="496119" y="2553221"/>
            <a:ext cx="8151763" cy="6299"/>
          </a:xfrm>
          <a:prstGeom prst="rect">
            <a:avLst/>
          </a:prstGeom>
          <a:solidFill>
            <a:srgbClr val="000000">
              <a:alpha val="8000"/>
            </a:srgbClr>
          </a:solidFill>
          <a:ln/>
        </p:spPr>
      </p:sp>
      <p:sp>
        <p:nvSpPr>
          <p:cNvPr id="10" name="Shape 8"/>
          <p:cNvSpPr/>
          <p:nvPr/>
        </p:nvSpPr>
        <p:spPr>
          <a:xfrm>
            <a:off x="496119" y="2811810"/>
            <a:ext cx="8151763" cy="6299"/>
          </a:xfrm>
          <a:prstGeom prst="rect">
            <a:avLst/>
          </a:prstGeom>
          <a:solidFill>
            <a:srgbClr val="000000">
              <a:alpha val="8000"/>
            </a:srgbClr>
          </a:solidFill>
          <a:ln/>
        </p:spPr>
      </p:sp>
      <p:sp>
        <p:nvSpPr>
          <p:cNvPr id="11" name="Shape 9"/>
          <p:cNvSpPr/>
          <p:nvPr/>
        </p:nvSpPr>
        <p:spPr>
          <a:xfrm>
            <a:off x="2536552" y="1257895"/>
            <a:ext cx="6299" cy="1814885"/>
          </a:xfrm>
          <a:prstGeom prst="rect">
            <a:avLst/>
          </a:prstGeom>
          <a:solidFill>
            <a:srgbClr val="000000">
              <a:alpha val="8000"/>
            </a:srgbClr>
          </a:solidFill>
          <a:ln/>
        </p:spPr>
      </p:sp>
      <p:sp>
        <p:nvSpPr>
          <p:cNvPr id="12" name="Shape 10"/>
          <p:cNvSpPr/>
          <p:nvPr/>
        </p:nvSpPr>
        <p:spPr>
          <a:xfrm>
            <a:off x="4572074" y="1257895"/>
            <a:ext cx="6299" cy="1814885"/>
          </a:xfrm>
          <a:prstGeom prst="rect">
            <a:avLst/>
          </a:prstGeom>
          <a:solidFill>
            <a:srgbClr val="000000">
              <a:alpha val="8000"/>
            </a:srgbClr>
          </a:solidFill>
          <a:ln/>
        </p:spPr>
      </p:sp>
      <p:sp>
        <p:nvSpPr>
          <p:cNvPr id="13" name="Shape 11"/>
          <p:cNvSpPr/>
          <p:nvPr/>
        </p:nvSpPr>
        <p:spPr>
          <a:xfrm>
            <a:off x="6607597" y="1257895"/>
            <a:ext cx="6299" cy="1814885"/>
          </a:xfrm>
          <a:prstGeom prst="rect">
            <a:avLst/>
          </a:prstGeom>
          <a:solidFill>
            <a:srgbClr val="000000">
              <a:alpha val="8000"/>
            </a:srgbClr>
          </a:solidFill>
          <a:ln/>
        </p:spPr>
      </p:sp>
      <p:sp>
        <p:nvSpPr>
          <p:cNvPr id="14" name="Text 12"/>
          <p:cNvSpPr/>
          <p:nvPr/>
        </p:nvSpPr>
        <p:spPr>
          <a:xfrm>
            <a:off x="601787" y="1316534"/>
            <a:ext cx="2288828" cy="146075"/>
          </a:xfrm>
          <a:prstGeom prst="rect">
            <a:avLst/>
          </a:prstGeom>
          <a:noFill/>
          <a:ln/>
        </p:spPr>
        <p:txBody>
          <a:bodyPr wrap="none" lIns="0" tIns="0" rIns="0" bIns="0" rtlCol="0" anchor="t"/>
          <a:lstStyle/>
          <a:p>
            <a:pPr algn="l" indent="0" marL="0">
              <a:lnSpc>
                <a:spcPct val="121000"/>
              </a:lnSpc>
              <a:buNone/>
            </a:pPr>
            <a:r>
              <a:rPr lang="ko-KR" altLang="en-US" sz="750" b="1" spc="-16" kern="0" dirty="0">
                <a:solidFill>
                  <a:srgbClr val="272525"/>
                </a:solidFill>
                <a:latin typeface="Inter Bold" pitchFamily="34" charset="0"/>
                <a:ea typeface="Inter Bold" pitchFamily="34" charset="-122"/>
                <a:cs typeface="Inter Bold" pitchFamily="34" charset="-120"/>
              </a:rPr>
              <a:t>모형</a:t>
            </a:r>
            <a:endParaRPr lang="ko-KR" sz="750" dirty="0"/>
          </a:p>
        </p:txBody>
      </p:sp>
      <p:sp>
        <p:nvSpPr>
          <p:cNvPr id="15" name="Text 13"/>
          <p:cNvSpPr/>
          <p:nvPr/>
        </p:nvSpPr>
        <p:spPr>
          <a:xfrm>
            <a:off x="2639690" y="1316534"/>
            <a:ext cx="2286446" cy="146075"/>
          </a:xfrm>
          <a:prstGeom prst="rect">
            <a:avLst/>
          </a:prstGeom>
          <a:noFill/>
          <a:ln/>
        </p:spPr>
        <p:txBody>
          <a:bodyPr wrap="none" lIns="0" tIns="0" rIns="0" bIns="0" rtlCol="0" anchor="t"/>
          <a:lstStyle/>
          <a:p>
            <a:pPr algn="l" indent="0" marL="0">
              <a:lnSpc>
                <a:spcPct val="121000"/>
              </a:lnSpc>
              <a:buNone/>
            </a:pPr>
            <a:r>
              <a:rPr lang="en-US" sz="750" b="1" spc="-16" kern="0" dirty="0">
                <a:solidFill>
                  <a:srgbClr val="272525"/>
                </a:solidFill>
                <a:latin typeface="Inter Bold" pitchFamily="34" charset="0"/>
                <a:ea typeface="Inter Bold" pitchFamily="34" charset="-122"/>
                <a:cs typeface="Inter Bold" pitchFamily="34" charset="-120"/>
              </a:rPr>
              <a:t>Random Walk</a:t>
            </a:r>
            <a:endParaRPr lang="en-US" sz="750" dirty="0"/>
          </a:p>
        </p:txBody>
      </p:sp>
      <p:sp>
        <p:nvSpPr>
          <p:cNvPr id="16" name="Text 14"/>
          <p:cNvSpPr/>
          <p:nvPr/>
        </p:nvSpPr>
        <p:spPr>
          <a:xfrm>
            <a:off x="4675212" y="1316534"/>
            <a:ext cx="2286446" cy="146075"/>
          </a:xfrm>
          <a:prstGeom prst="rect">
            <a:avLst/>
          </a:prstGeom>
          <a:noFill/>
          <a:ln/>
        </p:spPr>
        <p:txBody>
          <a:bodyPr wrap="none" lIns="0" tIns="0" rIns="0" bIns="0" rtlCol="0" anchor="t"/>
          <a:lstStyle/>
          <a:p>
            <a:pPr algn="l" indent="0" marL="0">
              <a:lnSpc>
                <a:spcPct val="121000"/>
              </a:lnSpc>
              <a:buNone/>
            </a:pPr>
            <a:r>
              <a:rPr lang="en-US" sz="750" b="1" spc="-16" kern="0" dirty="0">
                <a:solidFill>
                  <a:srgbClr val="272525"/>
                </a:solidFill>
                <a:latin typeface="Inter Bold" pitchFamily="34" charset="0"/>
                <a:ea typeface="Inter Bold" pitchFamily="34" charset="-122"/>
                <a:cs typeface="Inter Bold" pitchFamily="34" charset="-120"/>
              </a:rPr>
              <a:t>CAPM</a:t>
            </a:r>
            <a:endParaRPr lang="en-US" sz="750" dirty="0"/>
          </a:p>
        </p:txBody>
      </p:sp>
      <p:sp>
        <p:nvSpPr>
          <p:cNvPr id="17" name="Text 15"/>
          <p:cNvSpPr/>
          <p:nvPr/>
        </p:nvSpPr>
        <p:spPr>
          <a:xfrm>
            <a:off x="6710735" y="1316534"/>
            <a:ext cx="2288828" cy="146075"/>
          </a:xfrm>
          <a:prstGeom prst="rect">
            <a:avLst/>
          </a:prstGeom>
          <a:noFill/>
          <a:ln/>
        </p:spPr>
        <p:txBody>
          <a:bodyPr wrap="none" lIns="0" tIns="0" rIns="0" bIns="0" rtlCol="0" anchor="t"/>
          <a:lstStyle/>
          <a:p>
            <a:pPr algn="l" indent="0" marL="0">
              <a:lnSpc>
                <a:spcPct val="121000"/>
              </a:lnSpc>
              <a:buNone/>
            </a:pPr>
            <a:r>
              <a:rPr lang="en-US" sz="750" b="1" spc="-16" kern="0" dirty="0">
                <a:solidFill>
                  <a:srgbClr val="272525"/>
                </a:solidFill>
                <a:latin typeface="Inter Bold" pitchFamily="34" charset="0"/>
                <a:ea typeface="Inter Bold" pitchFamily="34" charset="-122"/>
                <a:cs typeface="Inter Bold" pitchFamily="34" charset="-120"/>
              </a:rPr>
              <a:t>EGARCH-in-Mean</a:t>
            </a:r>
            <a:endParaRPr lang="en-US" sz="750" dirty="0"/>
          </a:p>
        </p:txBody>
      </p:sp>
      <p:sp>
        <p:nvSpPr>
          <p:cNvPr id="18" name="Text 16"/>
          <p:cNvSpPr/>
          <p:nvPr/>
        </p:nvSpPr>
        <p:spPr>
          <a:xfrm>
            <a:off x="601787" y="1575122"/>
            <a:ext cx="8397776" cy="146075"/>
          </a:xfrm>
          <a:prstGeom prst="rect">
            <a:avLst/>
          </a:prstGeom>
          <a:noFill/>
          <a:ln/>
        </p:spPr>
        <p:txBody>
          <a:bodyPr wrap="none" lIns="0" tIns="0" rIns="0" bIns="0" rtlCol="0" anchor="t"/>
          <a:lstStyle/>
          <a:p>
            <a:pPr algn="l" indent="0" marL="0">
              <a:lnSpc>
                <a:spcPct val="121000"/>
              </a:lnSpc>
              <a:buNone/>
            </a:pPr>
            <a:r>
              <a:rPr lang="ko-KR" altLang="en-US" sz="750" b="1" spc="-16" kern="0" dirty="0">
                <a:solidFill>
                  <a:srgbClr val="272525"/>
                </a:solidFill>
                <a:latin typeface="Inter Bold" pitchFamily="34" charset="0"/>
                <a:ea typeface="Inter Bold" pitchFamily="34" charset="-122"/>
                <a:cs typeface="Inter Bold" pitchFamily="34" charset="-120"/>
              </a:rPr>
              <a:t>표본 내 예측 (2005.01~2025.12) — 서울</a:t>
            </a:r>
            <a:endParaRPr lang="ko-KR" sz="750" dirty="0"/>
          </a:p>
        </p:txBody>
      </p:sp>
      <p:sp>
        <p:nvSpPr>
          <p:cNvPr id="19" name="Text 17"/>
          <p:cNvSpPr/>
          <p:nvPr/>
        </p:nvSpPr>
        <p:spPr>
          <a:xfrm>
            <a:off x="601787" y="1833711"/>
            <a:ext cx="2288828" cy="146075"/>
          </a:xfrm>
          <a:prstGeom prst="rect">
            <a:avLst/>
          </a:prstGeom>
          <a:noFill/>
          <a:ln/>
        </p:spPr>
        <p:txBody>
          <a:bodyPr wrap="none" lIns="0" tIns="0" rIns="0" bIns="0" rtlCol="0" anchor="t"/>
          <a:lstStyle/>
          <a:p>
            <a:pPr algn="l" indent="0" marL="0">
              <a:lnSpc>
                <a:spcPct val="121000"/>
              </a:lnSpc>
              <a:buNone/>
            </a:pPr>
            <a:r>
              <a:rPr lang="en-US" sz="750" spc="-16" kern="0" dirty="0">
                <a:solidFill>
                  <a:srgbClr val="272525"/>
                </a:solidFill>
                <a:latin typeface="Inter" pitchFamily="34" charset="0"/>
                <a:ea typeface="Inter" pitchFamily="34" charset="-122"/>
                <a:cs typeface="Inter" pitchFamily="34" charset="-120"/>
              </a:rPr>
              <a:t>RMSE</a:t>
            </a:r>
            <a:endParaRPr lang="en-US" sz="750" dirty="0"/>
          </a:p>
        </p:txBody>
      </p:sp>
      <p:sp>
        <p:nvSpPr>
          <p:cNvPr id="20" name="Text 18"/>
          <p:cNvSpPr/>
          <p:nvPr/>
        </p:nvSpPr>
        <p:spPr>
          <a:xfrm>
            <a:off x="2639690" y="1833711"/>
            <a:ext cx="2286446" cy="146075"/>
          </a:xfrm>
          <a:prstGeom prst="rect">
            <a:avLst/>
          </a:prstGeom>
          <a:noFill/>
          <a:ln/>
        </p:spPr>
        <p:txBody>
          <a:bodyPr wrap="none" lIns="0" tIns="0" rIns="0" bIns="0" rtlCol="0" anchor="t"/>
          <a:lstStyle/>
          <a:p>
            <a:pPr algn="l" indent="0" marL="0">
              <a:lnSpc>
                <a:spcPct val="121000"/>
              </a:lnSpc>
              <a:buNone/>
            </a:pPr>
            <a:r>
              <a:rPr lang="en-US" sz="750" spc="-16" kern="0" dirty="0">
                <a:solidFill>
                  <a:srgbClr val="272525"/>
                </a:solidFill>
                <a:latin typeface="Inter" pitchFamily="34" charset="0"/>
                <a:ea typeface="Inter" pitchFamily="34" charset="-122"/>
                <a:cs typeface="Inter" pitchFamily="34" charset="-120"/>
              </a:rPr>
              <a:t>5.7987</a:t>
            </a:r>
            <a:endParaRPr lang="en-US" sz="750" dirty="0"/>
          </a:p>
        </p:txBody>
      </p:sp>
      <p:sp>
        <p:nvSpPr>
          <p:cNvPr id="21" name="Text 19"/>
          <p:cNvSpPr/>
          <p:nvPr/>
        </p:nvSpPr>
        <p:spPr>
          <a:xfrm>
            <a:off x="4675212" y="1833711"/>
            <a:ext cx="2286446" cy="146075"/>
          </a:xfrm>
          <a:prstGeom prst="rect">
            <a:avLst/>
          </a:prstGeom>
          <a:noFill/>
          <a:ln/>
        </p:spPr>
        <p:txBody>
          <a:bodyPr wrap="none" lIns="0" tIns="0" rIns="0" bIns="0" rtlCol="0" anchor="t"/>
          <a:lstStyle/>
          <a:p>
            <a:pPr algn="l" indent="0" marL="0">
              <a:lnSpc>
                <a:spcPct val="121000"/>
              </a:lnSpc>
              <a:buNone/>
            </a:pPr>
            <a:r>
              <a:rPr lang="en-US" sz="750" spc="-16" kern="0" dirty="0">
                <a:solidFill>
                  <a:srgbClr val="272525"/>
                </a:solidFill>
                <a:latin typeface="Inter" pitchFamily="34" charset="0"/>
                <a:ea typeface="Inter" pitchFamily="34" charset="-122"/>
                <a:cs typeface="Inter" pitchFamily="34" charset="-120"/>
              </a:rPr>
              <a:t>4.7686 (0.822)</a:t>
            </a:r>
            <a:endParaRPr lang="en-US" sz="750" dirty="0"/>
          </a:p>
        </p:txBody>
      </p:sp>
      <p:sp>
        <p:nvSpPr>
          <p:cNvPr id="22" name="Text 20"/>
          <p:cNvSpPr/>
          <p:nvPr/>
        </p:nvSpPr>
        <p:spPr>
          <a:xfrm>
            <a:off x="6710735" y="1833711"/>
            <a:ext cx="2288828" cy="146075"/>
          </a:xfrm>
          <a:prstGeom prst="rect">
            <a:avLst/>
          </a:prstGeom>
          <a:noFill/>
          <a:ln/>
        </p:spPr>
        <p:txBody>
          <a:bodyPr wrap="none" lIns="0" tIns="0" rIns="0" bIns="0" rtlCol="0" anchor="t"/>
          <a:lstStyle/>
          <a:p>
            <a:pPr algn="l" indent="0" marL="0">
              <a:lnSpc>
                <a:spcPct val="121000"/>
              </a:lnSpc>
              <a:buNone/>
            </a:pPr>
            <a:r>
              <a:rPr lang="en-US" sz="750" spc="-16" kern="0" dirty="0">
                <a:solidFill>
                  <a:srgbClr val="272525"/>
                </a:solidFill>
                <a:latin typeface="Inter" pitchFamily="34" charset="0"/>
                <a:ea typeface="Inter" pitchFamily="34" charset="-122"/>
                <a:cs typeface="Inter" pitchFamily="34" charset="-120"/>
              </a:rPr>
              <a:t>2.7494 (0.474)</a:t>
            </a:r>
            <a:endParaRPr lang="en-US" sz="750" dirty="0"/>
          </a:p>
        </p:txBody>
      </p:sp>
      <p:sp>
        <p:nvSpPr>
          <p:cNvPr id="23" name="Text 21"/>
          <p:cNvSpPr/>
          <p:nvPr/>
        </p:nvSpPr>
        <p:spPr>
          <a:xfrm>
            <a:off x="601787" y="2092300"/>
            <a:ext cx="2288828" cy="146075"/>
          </a:xfrm>
          <a:prstGeom prst="rect">
            <a:avLst/>
          </a:prstGeom>
          <a:noFill/>
          <a:ln/>
        </p:spPr>
        <p:txBody>
          <a:bodyPr wrap="none" lIns="0" tIns="0" rIns="0" bIns="0" rtlCol="0" anchor="t"/>
          <a:lstStyle/>
          <a:p>
            <a:pPr algn="l" indent="0" marL="0">
              <a:lnSpc>
                <a:spcPct val="121000"/>
              </a:lnSpc>
              <a:buNone/>
            </a:pPr>
            <a:r>
              <a:rPr lang="en-US" sz="750" spc="-16" kern="0" dirty="0">
                <a:solidFill>
                  <a:srgbClr val="272525"/>
                </a:solidFill>
                <a:latin typeface="Inter" pitchFamily="34" charset="0"/>
                <a:ea typeface="Inter" pitchFamily="34" charset="-122"/>
                <a:cs typeface="Inter" pitchFamily="34" charset="-120"/>
              </a:rPr>
              <a:t>MAE</a:t>
            </a:r>
            <a:endParaRPr lang="en-US" sz="750" dirty="0"/>
          </a:p>
        </p:txBody>
      </p:sp>
      <p:sp>
        <p:nvSpPr>
          <p:cNvPr id="24" name="Text 22"/>
          <p:cNvSpPr/>
          <p:nvPr/>
        </p:nvSpPr>
        <p:spPr>
          <a:xfrm>
            <a:off x="2639690" y="2092300"/>
            <a:ext cx="2286446" cy="146075"/>
          </a:xfrm>
          <a:prstGeom prst="rect">
            <a:avLst/>
          </a:prstGeom>
          <a:noFill/>
          <a:ln/>
        </p:spPr>
        <p:txBody>
          <a:bodyPr wrap="none" lIns="0" tIns="0" rIns="0" bIns="0" rtlCol="0" anchor="t"/>
          <a:lstStyle/>
          <a:p>
            <a:pPr algn="l" indent="0" marL="0">
              <a:lnSpc>
                <a:spcPct val="121000"/>
              </a:lnSpc>
              <a:buNone/>
            </a:pPr>
            <a:r>
              <a:rPr lang="en-US" sz="750" spc="-16" kern="0" dirty="0">
                <a:solidFill>
                  <a:srgbClr val="272525"/>
                </a:solidFill>
                <a:latin typeface="Inter" pitchFamily="34" charset="0"/>
                <a:ea typeface="Inter" pitchFamily="34" charset="-122"/>
                <a:cs typeface="Inter" pitchFamily="34" charset="-120"/>
              </a:rPr>
              <a:t>4.3974</a:t>
            </a:r>
            <a:endParaRPr lang="en-US" sz="750" dirty="0"/>
          </a:p>
        </p:txBody>
      </p:sp>
      <p:sp>
        <p:nvSpPr>
          <p:cNvPr id="25" name="Text 23"/>
          <p:cNvSpPr/>
          <p:nvPr/>
        </p:nvSpPr>
        <p:spPr>
          <a:xfrm>
            <a:off x="4675212" y="2092300"/>
            <a:ext cx="2286446" cy="146075"/>
          </a:xfrm>
          <a:prstGeom prst="rect">
            <a:avLst/>
          </a:prstGeom>
          <a:noFill/>
          <a:ln/>
        </p:spPr>
        <p:txBody>
          <a:bodyPr wrap="none" lIns="0" tIns="0" rIns="0" bIns="0" rtlCol="0" anchor="t"/>
          <a:lstStyle/>
          <a:p>
            <a:pPr algn="l" indent="0" marL="0">
              <a:lnSpc>
                <a:spcPct val="121000"/>
              </a:lnSpc>
              <a:buNone/>
            </a:pPr>
            <a:r>
              <a:rPr lang="en-US" sz="750" spc="-16" kern="0" dirty="0">
                <a:solidFill>
                  <a:srgbClr val="272525"/>
                </a:solidFill>
                <a:latin typeface="Inter" pitchFamily="34" charset="0"/>
                <a:ea typeface="Inter" pitchFamily="34" charset="-122"/>
                <a:cs typeface="Inter" pitchFamily="34" charset="-120"/>
              </a:rPr>
              <a:t>3.8748 (0.881)</a:t>
            </a:r>
            <a:endParaRPr lang="en-US" sz="750" dirty="0"/>
          </a:p>
        </p:txBody>
      </p:sp>
      <p:sp>
        <p:nvSpPr>
          <p:cNvPr id="26" name="Text 24"/>
          <p:cNvSpPr/>
          <p:nvPr/>
        </p:nvSpPr>
        <p:spPr>
          <a:xfrm>
            <a:off x="6710735" y="2092300"/>
            <a:ext cx="2288828" cy="146075"/>
          </a:xfrm>
          <a:prstGeom prst="rect">
            <a:avLst/>
          </a:prstGeom>
          <a:noFill/>
          <a:ln/>
        </p:spPr>
        <p:txBody>
          <a:bodyPr wrap="none" lIns="0" tIns="0" rIns="0" bIns="0" rtlCol="0" anchor="t"/>
          <a:lstStyle/>
          <a:p>
            <a:pPr algn="l" indent="0" marL="0">
              <a:lnSpc>
                <a:spcPct val="121000"/>
              </a:lnSpc>
              <a:buNone/>
            </a:pPr>
            <a:r>
              <a:rPr lang="en-US" sz="750" spc="-16" kern="0" dirty="0">
                <a:solidFill>
                  <a:srgbClr val="272525"/>
                </a:solidFill>
                <a:latin typeface="Inter" pitchFamily="34" charset="0"/>
                <a:ea typeface="Inter" pitchFamily="34" charset="-122"/>
                <a:cs typeface="Inter" pitchFamily="34" charset="-120"/>
              </a:rPr>
              <a:t>0.9000 (0.205)</a:t>
            </a:r>
            <a:endParaRPr lang="en-US" sz="750" dirty="0"/>
          </a:p>
        </p:txBody>
      </p:sp>
      <p:sp>
        <p:nvSpPr>
          <p:cNvPr id="27" name="Text 25"/>
          <p:cNvSpPr/>
          <p:nvPr/>
        </p:nvSpPr>
        <p:spPr>
          <a:xfrm>
            <a:off x="601787" y="2350889"/>
            <a:ext cx="8397776" cy="146075"/>
          </a:xfrm>
          <a:prstGeom prst="rect">
            <a:avLst/>
          </a:prstGeom>
          <a:noFill/>
          <a:ln/>
        </p:spPr>
        <p:txBody>
          <a:bodyPr wrap="none" lIns="0" tIns="0" rIns="0" bIns="0" rtlCol="0" anchor="t"/>
          <a:lstStyle/>
          <a:p>
            <a:pPr algn="l" indent="0" marL="0">
              <a:lnSpc>
                <a:spcPct val="121000"/>
              </a:lnSpc>
              <a:buNone/>
            </a:pPr>
            <a:r>
              <a:rPr lang="ko-KR" altLang="en-US" sz="750" b="1" spc="-16" kern="0" dirty="0">
                <a:solidFill>
                  <a:srgbClr val="272525"/>
                </a:solidFill>
                <a:latin typeface="Inter Bold" pitchFamily="34" charset="0"/>
                <a:ea typeface="Inter Bold" pitchFamily="34" charset="-122"/>
                <a:cs typeface="Inter Bold" pitchFamily="34" charset="-120"/>
              </a:rPr>
              <a:t>표본 외 예측 (2017.01~2019.12) — 서울</a:t>
            </a:r>
            <a:endParaRPr lang="ko-KR" sz="750" dirty="0"/>
          </a:p>
        </p:txBody>
      </p:sp>
      <p:sp>
        <p:nvSpPr>
          <p:cNvPr id="28" name="Text 26"/>
          <p:cNvSpPr/>
          <p:nvPr/>
        </p:nvSpPr>
        <p:spPr>
          <a:xfrm>
            <a:off x="601787" y="2609478"/>
            <a:ext cx="2288828" cy="146075"/>
          </a:xfrm>
          <a:prstGeom prst="rect">
            <a:avLst/>
          </a:prstGeom>
          <a:noFill/>
          <a:ln/>
        </p:spPr>
        <p:txBody>
          <a:bodyPr wrap="none" lIns="0" tIns="0" rIns="0" bIns="0" rtlCol="0" anchor="t"/>
          <a:lstStyle/>
          <a:p>
            <a:pPr algn="l" indent="0" marL="0">
              <a:lnSpc>
                <a:spcPct val="121000"/>
              </a:lnSpc>
              <a:buNone/>
            </a:pPr>
            <a:r>
              <a:rPr lang="en-US" sz="750" spc="-16" kern="0" dirty="0">
                <a:solidFill>
                  <a:srgbClr val="272525"/>
                </a:solidFill>
                <a:latin typeface="Inter" pitchFamily="34" charset="0"/>
                <a:ea typeface="Inter" pitchFamily="34" charset="-122"/>
                <a:cs typeface="Inter" pitchFamily="34" charset="-120"/>
              </a:rPr>
              <a:t>RMSE</a:t>
            </a:r>
            <a:endParaRPr lang="en-US" sz="750" dirty="0"/>
          </a:p>
        </p:txBody>
      </p:sp>
      <p:sp>
        <p:nvSpPr>
          <p:cNvPr id="29" name="Text 27"/>
          <p:cNvSpPr/>
          <p:nvPr/>
        </p:nvSpPr>
        <p:spPr>
          <a:xfrm>
            <a:off x="2639690" y="2609478"/>
            <a:ext cx="2286446" cy="146075"/>
          </a:xfrm>
          <a:prstGeom prst="rect">
            <a:avLst/>
          </a:prstGeom>
          <a:noFill/>
          <a:ln/>
        </p:spPr>
        <p:txBody>
          <a:bodyPr wrap="none" lIns="0" tIns="0" rIns="0" bIns="0" rtlCol="0" anchor="t"/>
          <a:lstStyle/>
          <a:p>
            <a:pPr algn="l" indent="0" marL="0">
              <a:lnSpc>
                <a:spcPct val="121000"/>
              </a:lnSpc>
              <a:buNone/>
            </a:pPr>
            <a:r>
              <a:rPr lang="en-US" sz="750" spc="-16" kern="0" dirty="0">
                <a:solidFill>
                  <a:srgbClr val="272525"/>
                </a:solidFill>
                <a:latin typeface="Inter" pitchFamily="34" charset="0"/>
                <a:ea typeface="Inter" pitchFamily="34" charset="-122"/>
                <a:cs typeface="Inter" pitchFamily="34" charset="-120"/>
              </a:rPr>
              <a:t>3.6317</a:t>
            </a:r>
            <a:endParaRPr lang="en-US" sz="750" dirty="0"/>
          </a:p>
        </p:txBody>
      </p:sp>
      <p:sp>
        <p:nvSpPr>
          <p:cNvPr id="30" name="Text 28"/>
          <p:cNvSpPr/>
          <p:nvPr/>
        </p:nvSpPr>
        <p:spPr>
          <a:xfrm>
            <a:off x="4675212" y="2609478"/>
            <a:ext cx="2286446" cy="146075"/>
          </a:xfrm>
          <a:prstGeom prst="rect">
            <a:avLst/>
          </a:prstGeom>
          <a:noFill/>
          <a:ln/>
        </p:spPr>
        <p:txBody>
          <a:bodyPr wrap="none" lIns="0" tIns="0" rIns="0" bIns="0" rtlCol="0" anchor="t"/>
          <a:lstStyle/>
          <a:p>
            <a:pPr algn="l" indent="0" marL="0">
              <a:lnSpc>
                <a:spcPct val="121000"/>
              </a:lnSpc>
              <a:buNone/>
            </a:pPr>
            <a:r>
              <a:rPr lang="en-US" sz="750" spc="-16" kern="0" dirty="0">
                <a:solidFill>
                  <a:srgbClr val="272525"/>
                </a:solidFill>
                <a:latin typeface="Inter" pitchFamily="34" charset="0"/>
                <a:ea typeface="Inter" pitchFamily="34" charset="-122"/>
                <a:cs typeface="Inter" pitchFamily="34" charset="-120"/>
              </a:rPr>
              <a:t>5.1364 (1.414)</a:t>
            </a:r>
            <a:endParaRPr lang="en-US" sz="750" dirty="0"/>
          </a:p>
        </p:txBody>
      </p:sp>
      <p:sp>
        <p:nvSpPr>
          <p:cNvPr id="31" name="Text 29"/>
          <p:cNvSpPr/>
          <p:nvPr/>
        </p:nvSpPr>
        <p:spPr>
          <a:xfrm>
            <a:off x="6710735" y="2609478"/>
            <a:ext cx="2288828" cy="146075"/>
          </a:xfrm>
          <a:prstGeom prst="rect">
            <a:avLst/>
          </a:prstGeom>
          <a:noFill/>
          <a:ln/>
        </p:spPr>
        <p:txBody>
          <a:bodyPr wrap="none" lIns="0" tIns="0" rIns="0" bIns="0" rtlCol="0" anchor="t"/>
          <a:lstStyle/>
          <a:p>
            <a:pPr algn="l" indent="0" marL="0">
              <a:lnSpc>
                <a:spcPct val="121000"/>
              </a:lnSpc>
              <a:buNone/>
            </a:pPr>
            <a:r>
              <a:rPr lang="en-US" sz="750" spc="-16" kern="0" dirty="0">
                <a:solidFill>
                  <a:srgbClr val="272525"/>
                </a:solidFill>
                <a:latin typeface="Inter" pitchFamily="34" charset="0"/>
                <a:ea typeface="Inter" pitchFamily="34" charset="-122"/>
                <a:cs typeface="Inter" pitchFamily="34" charset="-120"/>
              </a:rPr>
              <a:t>0.7896 (0.217)</a:t>
            </a:r>
            <a:endParaRPr lang="en-US" sz="750" dirty="0"/>
          </a:p>
        </p:txBody>
      </p:sp>
      <p:sp>
        <p:nvSpPr>
          <p:cNvPr id="32" name="Text 30"/>
          <p:cNvSpPr/>
          <p:nvPr/>
        </p:nvSpPr>
        <p:spPr>
          <a:xfrm>
            <a:off x="601787" y="2868067"/>
            <a:ext cx="2288828" cy="146075"/>
          </a:xfrm>
          <a:prstGeom prst="rect">
            <a:avLst/>
          </a:prstGeom>
          <a:noFill/>
          <a:ln/>
        </p:spPr>
        <p:txBody>
          <a:bodyPr wrap="none" lIns="0" tIns="0" rIns="0" bIns="0" rtlCol="0" anchor="t"/>
          <a:lstStyle/>
          <a:p>
            <a:pPr algn="l" indent="0" marL="0">
              <a:lnSpc>
                <a:spcPct val="121000"/>
              </a:lnSpc>
              <a:buNone/>
            </a:pPr>
            <a:r>
              <a:rPr lang="en-US" sz="750" spc="-16" kern="0" dirty="0">
                <a:solidFill>
                  <a:srgbClr val="272525"/>
                </a:solidFill>
                <a:latin typeface="Inter" pitchFamily="34" charset="0"/>
                <a:ea typeface="Inter" pitchFamily="34" charset="-122"/>
                <a:cs typeface="Inter" pitchFamily="34" charset="-120"/>
              </a:rPr>
              <a:t>MAE</a:t>
            </a:r>
            <a:endParaRPr lang="en-US" sz="750" dirty="0"/>
          </a:p>
        </p:txBody>
      </p:sp>
      <p:sp>
        <p:nvSpPr>
          <p:cNvPr id="33" name="Text 31"/>
          <p:cNvSpPr/>
          <p:nvPr/>
        </p:nvSpPr>
        <p:spPr>
          <a:xfrm>
            <a:off x="2639690" y="2868067"/>
            <a:ext cx="2286446" cy="146075"/>
          </a:xfrm>
          <a:prstGeom prst="rect">
            <a:avLst/>
          </a:prstGeom>
          <a:noFill/>
          <a:ln/>
        </p:spPr>
        <p:txBody>
          <a:bodyPr wrap="none" lIns="0" tIns="0" rIns="0" bIns="0" rtlCol="0" anchor="t"/>
          <a:lstStyle/>
          <a:p>
            <a:pPr algn="l" indent="0" marL="0">
              <a:lnSpc>
                <a:spcPct val="121000"/>
              </a:lnSpc>
              <a:buNone/>
            </a:pPr>
            <a:r>
              <a:rPr lang="en-US" sz="750" spc="-16" kern="0" dirty="0">
                <a:solidFill>
                  <a:srgbClr val="272525"/>
                </a:solidFill>
                <a:latin typeface="Inter" pitchFamily="34" charset="0"/>
                <a:ea typeface="Inter" pitchFamily="34" charset="-122"/>
                <a:cs typeface="Inter" pitchFamily="34" charset="-120"/>
              </a:rPr>
              <a:t>3.0100</a:t>
            </a:r>
            <a:endParaRPr lang="en-US" sz="750" dirty="0"/>
          </a:p>
        </p:txBody>
      </p:sp>
      <p:sp>
        <p:nvSpPr>
          <p:cNvPr id="34" name="Text 32"/>
          <p:cNvSpPr/>
          <p:nvPr/>
        </p:nvSpPr>
        <p:spPr>
          <a:xfrm>
            <a:off x="4675212" y="2868067"/>
            <a:ext cx="2286446" cy="146075"/>
          </a:xfrm>
          <a:prstGeom prst="rect">
            <a:avLst/>
          </a:prstGeom>
          <a:noFill/>
          <a:ln/>
        </p:spPr>
        <p:txBody>
          <a:bodyPr wrap="none" lIns="0" tIns="0" rIns="0" bIns="0" rtlCol="0" anchor="t"/>
          <a:lstStyle/>
          <a:p>
            <a:pPr algn="l" indent="0" marL="0">
              <a:lnSpc>
                <a:spcPct val="121000"/>
              </a:lnSpc>
              <a:buNone/>
            </a:pPr>
            <a:r>
              <a:rPr lang="en-US" sz="750" spc="-16" kern="0" dirty="0">
                <a:solidFill>
                  <a:srgbClr val="272525"/>
                </a:solidFill>
                <a:latin typeface="Inter" pitchFamily="34" charset="0"/>
                <a:ea typeface="Inter" pitchFamily="34" charset="-122"/>
                <a:cs typeface="Inter" pitchFamily="34" charset="-120"/>
              </a:rPr>
              <a:t>4.0163 (1.334)</a:t>
            </a:r>
            <a:endParaRPr lang="en-US" sz="750" dirty="0"/>
          </a:p>
        </p:txBody>
      </p:sp>
      <p:sp>
        <p:nvSpPr>
          <p:cNvPr id="35" name="Text 33"/>
          <p:cNvSpPr/>
          <p:nvPr/>
        </p:nvSpPr>
        <p:spPr>
          <a:xfrm>
            <a:off x="6710735" y="2868067"/>
            <a:ext cx="2288828" cy="146075"/>
          </a:xfrm>
          <a:prstGeom prst="rect">
            <a:avLst/>
          </a:prstGeom>
          <a:noFill/>
          <a:ln/>
        </p:spPr>
        <p:txBody>
          <a:bodyPr wrap="none" lIns="0" tIns="0" rIns="0" bIns="0" rtlCol="0" anchor="t"/>
          <a:lstStyle/>
          <a:p>
            <a:pPr algn="l" indent="0" marL="0">
              <a:lnSpc>
                <a:spcPct val="121000"/>
              </a:lnSpc>
              <a:buNone/>
            </a:pPr>
            <a:r>
              <a:rPr lang="en-US" sz="750" spc="-16" kern="0" dirty="0">
                <a:solidFill>
                  <a:srgbClr val="272525"/>
                </a:solidFill>
                <a:latin typeface="Inter" pitchFamily="34" charset="0"/>
                <a:ea typeface="Inter" pitchFamily="34" charset="-122"/>
                <a:cs typeface="Inter" pitchFamily="34" charset="-120"/>
              </a:rPr>
              <a:t>0.5919 (0.197)</a:t>
            </a:r>
            <a:endParaRPr lang="en-US" sz="750" dirty="0"/>
          </a:p>
        </p:txBody>
      </p:sp>
      <p:sp>
        <p:nvSpPr>
          <p:cNvPr id="36" name="Text 34"/>
          <p:cNvSpPr/>
          <p:nvPr/>
        </p:nvSpPr>
        <p:spPr>
          <a:xfrm>
            <a:off x="496119" y="3215283"/>
            <a:ext cx="2648992" cy="332631"/>
          </a:xfrm>
          <a:prstGeom prst="rect">
            <a:avLst/>
          </a:prstGeom>
          <a:noFill/>
          <a:ln/>
        </p:spPr>
        <p:txBody>
          <a:bodyPr wrap="none" lIns="0" tIns="0" rIns="0" bIns="0" rtlCol="0" anchor="t"/>
          <a:lstStyle/>
          <a:p>
            <a:pPr algn="ctr" indent="0" marL="0">
              <a:lnSpc>
                <a:spcPct val="83000"/>
              </a:lnSpc>
              <a:buNone/>
            </a:pPr>
            <a:r>
              <a:rPr lang="en-US" sz="2600" b="1" spc="-79" kern="0" dirty="0">
                <a:solidFill>
                  <a:srgbClr val="272525"/>
                </a:solidFill>
                <a:latin typeface="Inter Bold" pitchFamily="34" charset="0"/>
                <a:ea typeface="Inter Bold" pitchFamily="34" charset="-122"/>
                <a:cs typeface="Inter Bold" pitchFamily="34" charset="-120"/>
              </a:rPr>
              <a:t>52.6%</a:t>
            </a:r>
            <a:endParaRPr lang="en-US" sz="2600" dirty="0"/>
          </a:p>
        </p:txBody>
      </p:sp>
      <p:sp>
        <p:nvSpPr>
          <p:cNvPr id="37" name="Text 35"/>
          <p:cNvSpPr/>
          <p:nvPr/>
        </p:nvSpPr>
        <p:spPr>
          <a:xfrm>
            <a:off x="496119" y="3659684"/>
            <a:ext cx="2648992" cy="157460"/>
          </a:xfrm>
          <a:prstGeom prst="rect">
            <a:avLst/>
          </a:prstGeom>
          <a:noFill/>
          <a:ln/>
        </p:spPr>
        <p:txBody>
          <a:bodyPr wrap="none" lIns="0" tIns="0" rIns="0" bIns="0" rtlCol="0" anchor="t"/>
          <a:lstStyle/>
          <a:p>
            <a:pPr algn="ctr" indent="0" marL="0">
              <a:lnSpc>
                <a:spcPct val="104000"/>
              </a:lnSpc>
              <a:buNone/>
            </a:pPr>
            <a:r>
              <a:rPr lang="ko-KR" altLang="en-US" sz="950" b="1" spc="-30" kern="0" dirty="0">
                <a:solidFill>
                  <a:srgbClr val="272525"/>
                </a:solidFill>
                <a:latin typeface="Inter Bold" pitchFamily="34" charset="0"/>
                <a:ea typeface="Inter Bold" pitchFamily="34" charset="-122"/>
                <a:cs typeface="Inter Bold" pitchFamily="34" charset="-120"/>
              </a:rPr>
              <a:t>RMSE 개선 (표본 내)</a:t>
            </a:r>
            <a:endParaRPr lang="ko-KR" sz="950" dirty="0"/>
          </a:p>
        </p:txBody>
      </p:sp>
      <p:sp>
        <p:nvSpPr>
          <p:cNvPr id="38" name="Text 36"/>
          <p:cNvSpPr/>
          <p:nvPr/>
        </p:nvSpPr>
        <p:spPr>
          <a:xfrm>
            <a:off x="496119" y="3866257"/>
            <a:ext cx="2648992" cy="292150"/>
          </a:xfrm>
          <a:prstGeom prst="rect">
            <a:avLst/>
          </a:prstGeom>
          <a:noFill/>
          <a:ln/>
        </p:spPr>
        <p:txBody>
          <a:bodyPr wrap="square" lIns="0" tIns="0" rIns="0" bIns="0" rtlCol="0" anchor="t">
            <a:normAutofit/>
          </a:bodyPr>
          <a:lstStyle/>
          <a:p>
            <a:pPr algn="ctr" indent="0" marL="0">
              <a:lnSpc>
                <a:spcPct val="121000"/>
              </a:lnSpc>
              <a:buNone/>
            </a:pPr>
            <a:r>
              <a:rPr lang="ko-KR" altLang="en-US" sz="750" spc="-16" kern="0" dirty="0">
                <a:solidFill>
                  <a:srgbClr val="272525"/>
                </a:solidFill>
                <a:latin typeface="Inter" pitchFamily="34" charset="0"/>
                <a:ea typeface="Inter" pitchFamily="34" charset="-122"/>
                <a:cs typeface="Inter" pitchFamily="34" charset="-120"/>
              </a:rPr>
              <a:t>EGARCH-in-Mean 모형은 Random Walk 대비 RMSE 52.6% 향상을 나타냄</a:t>
            </a:r>
            <a:endParaRPr lang="ko-KR" sz="750" dirty="0"/>
          </a:p>
        </p:txBody>
      </p:sp>
      <p:sp>
        <p:nvSpPr>
          <p:cNvPr id="39" name="Text 37"/>
          <p:cNvSpPr/>
          <p:nvPr/>
        </p:nvSpPr>
        <p:spPr>
          <a:xfrm>
            <a:off x="3247430" y="3215283"/>
            <a:ext cx="2649066" cy="332631"/>
          </a:xfrm>
          <a:prstGeom prst="rect">
            <a:avLst/>
          </a:prstGeom>
          <a:noFill/>
          <a:ln/>
        </p:spPr>
        <p:txBody>
          <a:bodyPr wrap="none" lIns="0" tIns="0" rIns="0" bIns="0" rtlCol="0" anchor="t"/>
          <a:lstStyle/>
          <a:p>
            <a:pPr algn="ctr" indent="0" marL="0">
              <a:lnSpc>
                <a:spcPct val="83000"/>
              </a:lnSpc>
              <a:buNone/>
            </a:pPr>
            <a:r>
              <a:rPr lang="en-US" sz="2600" b="1" spc="-79" kern="0" dirty="0">
                <a:solidFill>
                  <a:srgbClr val="272525"/>
                </a:solidFill>
                <a:latin typeface="Inter Bold" pitchFamily="34" charset="0"/>
                <a:ea typeface="Inter Bold" pitchFamily="34" charset="-122"/>
                <a:cs typeface="Inter Bold" pitchFamily="34" charset="-120"/>
              </a:rPr>
              <a:t>79.5%</a:t>
            </a:r>
            <a:endParaRPr lang="en-US" sz="2600" dirty="0"/>
          </a:p>
        </p:txBody>
      </p:sp>
      <p:sp>
        <p:nvSpPr>
          <p:cNvPr id="40" name="Text 38"/>
          <p:cNvSpPr/>
          <p:nvPr/>
        </p:nvSpPr>
        <p:spPr>
          <a:xfrm>
            <a:off x="3247430" y="3659684"/>
            <a:ext cx="2649066" cy="157460"/>
          </a:xfrm>
          <a:prstGeom prst="rect">
            <a:avLst/>
          </a:prstGeom>
          <a:noFill/>
          <a:ln/>
        </p:spPr>
        <p:txBody>
          <a:bodyPr wrap="none" lIns="0" tIns="0" rIns="0" bIns="0" rtlCol="0" anchor="t"/>
          <a:lstStyle/>
          <a:p>
            <a:pPr algn="ctr" indent="0" marL="0">
              <a:lnSpc>
                <a:spcPct val="104000"/>
              </a:lnSpc>
              <a:buNone/>
            </a:pPr>
            <a:r>
              <a:rPr lang="ko-KR" altLang="en-US" sz="950" b="1" spc="-30" kern="0" dirty="0">
                <a:solidFill>
                  <a:srgbClr val="272525"/>
                </a:solidFill>
                <a:latin typeface="Inter Bold" pitchFamily="34" charset="0"/>
                <a:ea typeface="Inter Bold" pitchFamily="34" charset="-122"/>
                <a:cs typeface="Inter Bold" pitchFamily="34" charset="-120"/>
              </a:rPr>
              <a:t>MAE 개선 (표본 내)</a:t>
            </a:r>
            <a:endParaRPr lang="ko-KR" sz="950" dirty="0"/>
          </a:p>
        </p:txBody>
      </p:sp>
      <p:sp>
        <p:nvSpPr>
          <p:cNvPr id="41" name="Text 39"/>
          <p:cNvSpPr/>
          <p:nvPr/>
        </p:nvSpPr>
        <p:spPr>
          <a:xfrm>
            <a:off x="3247430" y="3866257"/>
            <a:ext cx="2649066" cy="292150"/>
          </a:xfrm>
          <a:prstGeom prst="rect">
            <a:avLst/>
          </a:prstGeom>
          <a:noFill/>
          <a:ln/>
        </p:spPr>
        <p:txBody>
          <a:bodyPr wrap="square" lIns="0" tIns="0" rIns="0" bIns="0" rtlCol="0" anchor="t">
            <a:normAutofit/>
          </a:bodyPr>
          <a:lstStyle/>
          <a:p>
            <a:pPr algn="ctr" indent="0" marL="0">
              <a:lnSpc>
                <a:spcPct val="121000"/>
              </a:lnSpc>
              <a:buNone/>
            </a:pPr>
            <a:r>
              <a:rPr lang="ko-KR" altLang="en-US" sz="750" spc="-16" kern="0" dirty="0">
                <a:solidFill>
                  <a:srgbClr val="272525"/>
                </a:solidFill>
                <a:latin typeface="Inter" pitchFamily="34" charset="0"/>
                <a:ea typeface="Inter" pitchFamily="34" charset="-122"/>
                <a:cs typeface="Inter" pitchFamily="34" charset="-120"/>
              </a:rPr>
              <a:t>EGARCH-in-Mean 모형은 Random Walk 대비 MAE 79.5% 향상을 나타냄</a:t>
            </a:r>
            <a:endParaRPr lang="ko-KR" sz="750" dirty="0"/>
          </a:p>
        </p:txBody>
      </p:sp>
      <p:sp>
        <p:nvSpPr>
          <p:cNvPr id="42" name="Text 40"/>
          <p:cNvSpPr/>
          <p:nvPr/>
        </p:nvSpPr>
        <p:spPr>
          <a:xfrm>
            <a:off x="5998815" y="3215283"/>
            <a:ext cx="2649066" cy="332631"/>
          </a:xfrm>
          <a:prstGeom prst="rect">
            <a:avLst/>
          </a:prstGeom>
          <a:noFill/>
          <a:ln/>
        </p:spPr>
        <p:txBody>
          <a:bodyPr wrap="none" lIns="0" tIns="0" rIns="0" bIns="0" rtlCol="0" anchor="t"/>
          <a:lstStyle/>
          <a:p>
            <a:pPr algn="ctr" indent="0" marL="0">
              <a:lnSpc>
                <a:spcPct val="83000"/>
              </a:lnSpc>
              <a:buNone/>
            </a:pPr>
            <a:r>
              <a:rPr lang="en-US" sz="2600" b="1" spc="-79" kern="0" dirty="0">
                <a:solidFill>
                  <a:srgbClr val="272525"/>
                </a:solidFill>
                <a:latin typeface="Inter Bold" pitchFamily="34" charset="0"/>
                <a:ea typeface="Inter Bold" pitchFamily="34" charset="-122"/>
                <a:cs typeface="Inter Bold" pitchFamily="34" charset="-120"/>
              </a:rPr>
              <a:t>0.217x</a:t>
            </a:r>
            <a:endParaRPr lang="en-US" sz="2600" dirty="0"/>
          </a:p>
        </p:txBody>
      </p:sp>
      <p:sp>
        <p:nvSpPr>
          <p:cNvPr id="43" name="Text 41"/>
          <p:cNvSpPr/>
          <p:nvPr/>
        </p:nvSpPr>
        <p:spPr>
          <a:xfrm>
            <a:off x="5998815" y="3659684"/>
            <a:ext cx="2649066" cy="157460"/>
          </a:xfrm>
          <a:prstGeom prst="rect">
            <a:avLst/>
          </a:prstGeom>
          <a:noFill/>
          <a:ln/>
        </p:spPr>
        <p:txBody>
          <a:bodyPr wrap="none" lIns="0" tIns="0" rIns="0" bIns="0" rtlCol="0" anchor="t"/>
          <a:lstStyle/>
          <a:p>
            <a:pPr algn="ctr" indent="0" marL="0">
              <a:lnSpc>
                <a:spcPct val="104000"/>
              </a:lnSpc>
              <a:buNone/>
            </a:pPr>
            <a:r>
              <a:rPr lang="ko-KR" altLang="en-US" sz="950" b="1" spc="-30" kern="0" dirty="0">
                <a:solidFill>
                  <a:srgbClr val="272525"/>
                </a:solidFill>
                <a:latin typeface="Inter Bold" pitchFamily="34" charset="0"/>
                <a:ea typeface="Inter Bold" pitchFamily="34" charset="-122"/>
                <a:cs typeface="Inter Bold" pitchFamily="34" charset="-120"/>
              </a:rPr>
              <a:t>표본 외 RMSE 비율</a:t>
            </a:r>
            <a:endParaRPr lang="ko-KR" sz="950" dirty="0"/>
          </a:p>
        </p:txBody>
      </p:sp>
      <p:sp>
        <p:nvSpPr>
          <p:cNvPr id="44" name="Text 42"/>
          <p:cNvSpPr/>
          <p:nvPr/>
        </p:nvSpPr>
        <p:spPr>
          <a:xfrm>
            <a:off x="5998815" y="3866257"/>
            <a:ext cx="2649066" cy="292150"/>
          </a:xfrm>
          <a:prstGeom prst="rect">
            <a:avLst/>
          </a:prstGeom>
          <a:noFill/>
          <a:ln/>
        </p:spPr>
        <p:txBody>
          <a:bodyPr wrap="square" lIns="0" tIns="0" rIns="0" bIns="0" rtlCol="0" anchor="t">
            <a:normAutofit/>
          </a:bodyPr>
          <a:lstStyle/>
          <a:p>
            <a:pPr algn="ctr" indent="0" marL="0">
              <a:lnSpc>
                <a:spcPct val="121000"/>
              </a:lnSpc>
              <a:buNone/>
            </a:pPr>
            <a:r>
              <a:rPr lang="ko-KR" altLang="en-US" sz="750" spc="-16" kern="0" dirty="0">
                <a:solidFill>
                  <a:srgbClr val="272525"/>
                </a:solidFill>
                <a:latin typeface="Inter" pitchFamily="34" charset="0"/>
                <a:ea typeface="Inter" pitchFamily="34" charset="-122"/>
                <a:cs typeface="Inter" pitchFamily="34" charset="-120"/>
              </a:rPr>
              <a:t>표본 외 예측에서도 Random Walk 대비 RMSE가 21.7% 수준으로 우수한 예측력 유지</a:t>
            </a:r>
            <a:endParaRPr lang="ko-KR" sz="750" dirty="0"/>
          </a:p>
        </p:txBody>
      </p:sp>
      <p:sp>
        <p:nvSpPr>
          <p:cNvPr id="45" name="Shape 43"/>
          <p:cNvSpPr/>
          <p:nvPr/>
        </p:nvSpPr>
        <p:spPr>
          <a:xfrm>
            <a:off x="496119" y="4250531"/>
            <a:ext cx="8151763" cy="497979"/>
          </a:xfrm>
          <a:prstGeom prst="roundRect">
            <a:avLst>
              <a:gd name="adj" fmla="val 8501"/>
            </a:avLst>
          </a:prstGeom>
          <a:solidFill>
            <a:srgbClr val="DADBF1"/>
          </a:solidFill>
          <a:ln/>
        </p:spPr>
      </p:sp>
      <p:pic>
        <p:nvPicPr>
          <p:cNvPr id="46" name="Image 0" descr="preencoded.png">    </p:cNvPr>
          <p:cNvPicPr>
            <a:picLocks noChangeAspect="1"/>
          </p:cNvPicPr>
          <p:nvPr/>
        </p:nvPicPr>
        <p:blipFill>
          <a:blip r:embed="rId1"/>
          <a:stretch>
            <a:fillRect/>
          </a:stretch>
        </p:blipFill>
        <p:spPr>
          <a:xfrm>
            <a:off x="596875" y="4369371"/>
            <a:ext cx="125983" cy="100757"/>
          </a:xfrm>
          <a:prstGeom prst="rect">
            <a:avLst/>
          </a:prstGeom>
        </p:spPr>
      </p:pic>
      <p:sp>
        <p:nvSpPr>
          <p:cNvPr id="47" name="Text 44"/>
          <p:cNvSpPr/>
          <p:nvPr/>
        </p:nvSpPr>
        <p:spPr>
          <a:xfrm>
            <a:off x="823615" y="4357539"/>
            <a:ext cx="7723510" cy="292150"/>
          </a:xfrm>
          <a:prstGeom prst="rect">
            <a:avLst/>
          </a:prstGeom>
          <a:noFill/>
          <a:ln/>
        </p:spPr>
        <p:txBody>
          <a:bodyPr wrap="square" lIns="0" tIns="0" rIns="0" bIns="0" rtlCol="0" anchor="t">
            <a:normAutofit/>
          </a:bodyPr>
          <a:lstStyle/>
          <a:p>
            <a:pPr algn="l" indent="0" marL="0">
              <a:lnSpc>
                <a:spcPct val="121000"/>
              </a:lnSpc>
              <a:buNone/>
            </a:pPr>
            <a:r>
              <a:rPr lang="ko-KR" altLang="en-US" sz="750" spc="-16" kern="0" dirty="0">
                <a:solidFill>
                  <a:srgbClr val="000000"/>
                </a:solidFill>
                <a:latin typeface="Inter" pitchFamily="34" charset="0"/>
                <a:ea typeface="Inter" pitchFamily="34" charset="-122"/>
                <a:cs typeface="Inter" pitchFamily="34" charset="-120"/>
              </a:rPr>
              <a:t>CAPM 기반 EGARCH-in-Mean 모형은 서울 주택시장 예측에서 정태적 CAPM 모형에 비해 표본 내·외 예측 모두에서 상대적으로 우수한 예측력을 보였다. 이는 주택시장 예측에서 시장위험뿐만 아니라 변동성의 동태적 특성과 충격의 비대칭적 조정과정을 함께 반영할 필요가 있음을 의미한다.</a:t>
            </a:r>
            <a:endParaRPr lang="ko-KR" sz="7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96119" y="628278"/>
            <a:ext cx="8151763" cy="387548"/>
          </a:xfrm>
          <a:prstGeom prst="rect">
            <a:avLst/>
          </a:prstGeom>
          <a:noFill/>
          <a:ln/>
        </p:spPr>
        <p:txBody>
          <a:bodyPr wrap="none" lIns="0" tIns="0" rIns="0" bIns="0" rtlCol="0" anchor="t"/>
          <a:lstStyle/>
          <a:p>
            <a:pPr algn="l" indent="0" marL="0">
              <a:lnSpc>
                <a:spcPct val="104000"/>
              </a:lnSpc>
              <a:buNone/>
            </a:pPr>
            <a:r>
              <a:rPr lang="ko-KR" altLang="en-US" sz="2400" b="1" spc="-73" kern="0" dirty="0">
                <a:solidFill>
                  <a:srgbClr val="000000"/>
                </a:solidFill>
                <a:latin typeface="Inter Bold" pitchFamily="34" charset="0"/>
                <a:ea typeface="Inter Bold" pitchFamily="34" charset="-122"/>
                <a:cs typeface="Inter Bold" pitchFamily="34" charset="-120"/>
              </a:rPr>
              <a:t>결론 및 정책적 시사점</a:t>
            </a:r>
            <a:endParaRPr lang="ko-KR" sz="2400" dirty="0"/>
          </a:p>
        </p:txBody>
      </p:sp>
      <p:sp>
        <p:nvSpPr>
          <p:cNvPr id="3" name="Shape 1"/>
          <p:cNvSpPr/>
          <p:nvPr/>
        </p:nvSpPr>
        <p:spPr>
          <a:xfrm>
            <a:off x="496119" y="1263848"/>
            <a:ext cx="279053" cy="279053"/>
          </a:xfrm>
          <a:prstGeom prst="roundRect">
            <a:avLst>
              <a:gd name="adj" fmla="val 18670"/>
            </a:avLst>
          </a:prstGeom>
          <a:solidFill>
            <a:srgbClr val="DADBF1"/>
          </a:solidFill>
          <a:ln w="4763">
            <a:solidFill>
              <a:srgbClr val="C0C1D7"/>
            </a:solidFill>
            <a:prstDash val="solid"/>
          </a:ln>
        </p:spPr>
      </p:sp>
      <p:sp>
        <p:nvSpPr>
          <p:cNvPr id="4" name="Text 2"/>
          <p:cNvSpPr/>
          <p:nvPr/>
        </p:nvSpPr>
        <p:spPr>
          <a:xfrm>
            <a:off x="542627" y="1287103"/>
            <a:ext cx="186035" cy="232544"/>
          </a:xfrm>
          <a:prstGeom prst="rect">
            <a:avLst/>
          </a:prstGeom>
          <a:noFill/>
          <a:ln/>
        </p:spPr>
        <p:txBody>
          <a:bodyPr wrap="none" lIns="0" tIns="0" rIns="0" bIns="0" rtlCol="0" anchor="ctr"/>
          <a:lstStyle/>
          <a:p>
            <a:pPr algn="ctr" indent="0" marL="0">
              <a:lnSpc>
                <a:spcPct val="100000"/>
              </a:lnSpc>
              <a:buNone/>
            </a:pPr>
            <a:r>
              <a:rPr lang="en-US" sz="1450" b="1" spc="-44" kern="0" dirty="0">
                <a:solidFill>
                  <a:srgbClr val="272525"/>
                </a:solidFill>
                <a:latin typeface="Inter Bold" pitchFamily="34" charset="0"/>
                <a:ea typeface="Inter Bold" pitchFamily="34" charset="-122"/>
                <a:cs typeface="Inter Bold" pitchFamily="34" charset="-120"/>
              </a:rPr>
              <a:t>1</a:t>
            </a:r>
            <a:endParaRPr lang="en-US" sz="1450" dirty="0"/>
          </a:p>
        </p:txBody>
      </p:sp>
      <p:sp>
        <p:nvSpPr>
          <p:cNvPr id="5" name="Text 3"/>
          <p:cNvSpPr/>
          <p:nvPr/>
        </p:nvSpPr>
        <p:spPr>
          <a:xfrm>
            <a:off x="899145" y="1306488"/>
            <a:ext cx="3595315" cy="193849"/>
          </a:xfrm>
          <a:prstGeom prst="rect">
            <a:avLst/>
          </a:prstGeom>
          <a:noFill/>
          <a:ln/>
        </p:spPr>
        <p:txBody>
          <a:bodyPr wrap="none" lIns="0" tIns="0" rIns="0" bIns="0" rtlCol="0" anchor="t"/>
          <a:lstStyle/>
          <a:p>
            <a:pPr algn="l" indent="0" marL="0">
              <a:lnSpc>
                <a:spcPct val="104000"/>
              </a:lnSpc>
              <a:buNone/>
            </a:pPr>
            <a:r>
              <a:rPr lang="ko-KR" altLang="en-US" sz="1200" b="1" spc="-37" kern="0" dirty="0">
                <a:solidFill>
                  <a:srgbClr val="272525"/>
                </a:solidFill>
                <a:latin typeface="Inter Bold" pitchFamily="34" charset="0"/>
                <a:ea typeface="Inter Bold" pitchFamily="34" charset="-122"/>
                <a:cs typeface="Inter Bold" pitchFamily="34" charset="-120"/>
              </a:rPr>
              <a:t>한국 아파트 시장의 금융시장 구조적 연계성 확인</a:t>
            </a:r>
            <a:endParaRPr lang="ko-KR" sz="1200" dirty="0"/>
          </a:p>
        </p:txBody>
      </p:sp>
      <p:sp>
        <p:nvSpPr>
          <p:cNvPr id="6" name="Text 4"/>
          <p:cNvSpPr/>
          <p:nvPr/>
        </p:nvSpPr>
        <p:spPr>
          <a:xfrm>
            <a:off x="899145" y="1574750"/>
            <a:ext cx="3595315" cy="992312"/>
          </a:xfrm>
          <a:prstGeom prst="rect">
            <a:avLst/>
          </a:prstGeom>
          <a:noFill/>
          <a:ln/>
        </p:spPr>
        <p:txBody>
          <a:bodyPr wrap="square" lIns="0" tIns="0" rIns="0" bIns="0" rtlCol="0" anchor="t">
            <a:normAutofit/>
          </a:bodyPr>
          <a:lstStyle/>
          <a:p>
            <a:pPr algn="l" indent="0" marL="0">
              <a:lnSpc>
                <a:spcPct val="133000"/>
              </a:lnSpc>
              <a:buNone/>
            </a:pPr>
            <a:r>
              <a:rPr lang="ko-KR" altLang="en-US" sz="950" spc="-20" kern="0" dirty="0">
                <a:solidFill>
                  <a:srgbClr val="272525"/>
                </a:solidFill>
                <a:latin typeface="Inter" pitchFamily="34" charset="0"/>
                <a:ea typeface="Inter" pitchFamily="34" charset="-122"/>
                <a:cs typeface="Inter" pitchFamily="34" charset="-120"/>
              </a:rPr>
              <a:t>모든 지역에서 시장베타(β)가 양(+)으로 유의하게 나타나 한국 아파트 시장이 금융시장 및 전체 자산시장과 구조적으로 연계되어 있음을 확인하였다. 수도권의 시장 베타값이 가장 높게 나타나 금융시장 변동과 유동성 변화에 대한 민감도가 상대적으로 크게 나타났으며, 서울 내부에서도 강남·서초·송파 등 핵심 지역에서 높은 시장 민감도가 확인되었다.</a:t>
            </a:r>
            <a:endParaRPr lang="ko-KR" sz="950" dirty="0"/>
          </a:p>
        </p:txBody>
      </p:sp>
      <p:sp>
        <p:nvSpPr>
          <p:cNvPr id="7" name="Shape 5"/>
          <p:cNvSpPr/>
          <p:nvPr/>
        </p:nvSpPr>
        <p:spPr>
          <a:xfrm>
            <a:off x="4649465" y="1263848"/>
            <a:ext cx="279053" cy="279053"/>
          </a:xfrm>
          <a:prstGeom prst="roundRect">
            <a:avLst>
              <a:gd name="adj" fmla="val 18670"/>
            </a:avLst>
          </a:prstGeom>
          <a:solidFill>
            <a:srgbClr val="DADBF1"/>
          </a:solidFill>
          <a:ln w="4763">
            <a:solidFill>
              <a:srgbClr val="C0C1D7"/>
            </a:solidFill>
            <a:prstDash val="solid"/>
          </a:ln>
        </p:spPr>
      </p:sp>
      <p:sp>
        <p:nvSpPr>
          <p:cNvPr id="8" name="Text 6"/>
          <p:cNvSpPr/>
          <p:nvPr/>
        </p:nvSpPr>
        <p:spPr>
          <a:xfrm>
            <a:off x="4695974" y="1287103"/>
            <a:ext cx="186035" cy="232544"/>
          </a:xfrm>
          <a:prstGeom prst="rect">
            <a:avLst/>
          </a:prstGeom>
          <a:noFill/>
          <a:ln/>
        </p:spPr>
        <p:txBody>
          <a:bodyPr wrap="none" lIns="0" tIns="0" rIns="0" bIns="0" rtlCol="0" anchor="ctr"/>
          <a:lstStyle/>
          <a:p>
            <a:pPr algn="ctr" indent="0" marL="0">
              <a:lnSpc>
                <a:spcPct val="100000"/>
              </a:lnSpc>
              <a:buNone/>
            </a:pPr>
            <a:r>
              <a:rPr lang="en-US" sz="1450" b="1" spc="-44" kern="0" dirty="0">
                <a:solidFill>
                  <a:srgbClr val="272525"/>
                </a:solidFill>
                <a:latin typeface="Inter Bold" pitchFamily="34" charset="0"/>
                <a:ea typeface="Inter Bold" pitchFamily="34" charset="-122"/>
                <a:cs typeface="Inter Bold" pitchFamily="34" charset="-120"/>
              </a:rPr>
              <a:t>2</a:t>
            </a:r>
            <a:endParaRPr lang="en-US" sz="1450" dirty="0"/>
          </a:p>
        </p:txBody>
      </p:sp>
      <p:sp>
        <p:nvSpPr>
          <p:cNvPr id="9" name="Text 7"/>
          <p:cNvSpPr/>
          <p:nvPr/>
        </p:nvSpPr>
        <p:spPr>
          <a:xfrm>
            <a:off x="5052492" y="1306488"/>
            <a:ext cx="3595390" cy="193849"/>
          </a:xfrm>
          <a:prstGeom prst="rect">
            <a:avLst/>
          </a:prstGeom>
          <a:noFill/>
          <a:ln/>
        </p:spPr>
        <p:txBody>
          <a:bodyPr wrap="none" lIns="0" tIns="0" rIns="0" bIns="0" rtlCol="0" anchor="t"/>
          <a:lstStyle/>
          <a:p>
            <a:pPr algn="l" indent="0" marL="0">
              <a:lnSpc>
                <a:spcPct val="104000"/>
              </a:lnSpc>
              <a:buNone/>
            </a:pPr>
            <a:r>
              <a:rPr lang="ko-KR" altLang="en-US" sz="1200" b="1" spc="-37" kern="0" dirty="0">
                <a:solidFill>
                  <a:srgbClr val="272525"/>
                </a:solidFill>
                <a:latin typeface="Inter Bold" pitchFamily="34" charset="0"/>
                <a:ea typeface="Inter Bold" pitchFamily="34" charset="-122"/>
                <a:cs typeface="Inter Bold" pitchFamily="34" charset="-120"/>
              </a:rPr>
              <a:t>지역별 이질적 위험구조와 비대칭 변동성</a:t>
            </a:r>
            <a:endParaRPr lang="ko-KR" sz="1200" dirty="0"/>
          </a:p>
        </p:txBody>
      </p:sp>
      <p:sp>
        <p:nvSpPr>
          <p:cNvPr id="10" name="Text 8"/>
          <p:cNvSpPr/>
          <p:nvPr/>
        </p:nvSpPr>
        <p:spPr>
          <a:xfrm>
            <a:off x="5052492" y="1574750"/>
            <a:ext cx="3595390" cy="992312"/>
          </a:xfrm>
          <a:prstGeom prst="rect">
            <a:avLst/>
          </a:prstGeom>
          <a:noFill/>
          <a:ln/>
        </p:spPr>
        <p:txBody>
          <a:bodyPr wrap="square" lIns="0" tIns="0" rIns="0" bIns="0" rtlCol="0" anchor="t">
            <a:normAutofit/>
          </a:bodyPr>
          <a:lstStyle/>
          <a:p>
            <a:pPr algn="l" indent="0" marL="0">
              <a:lnSpc>
                <a:spcPct val="133000"/>
              </a:lnSpc>
              <a:buNone/>
            </a:pPr>
            <a:r>
              <a:rPr lang="ko-KR" altLang="en-US" sz="950" spc="-20" kern="0" dirty="0">
                <a:solidFill>
                  <a:srgbClr val="272525"/>
                </a:solidFill>
                <a:latin typeface="Inter" pitchFamily="34" charset="0"/>
                <a:ea typeface="Inter" pitchFamily="34" charset="-122"/>
                <a:cs typeface="Inter" pitchFamily="34" charset="-120"/>
              </a:rPr>
              <a:t>전국·수도권·5대광역시에서는 조건부 변동성 계수가 양(+)으로 유의하여 일반적인 위험-수익 관계가 존재하는 반면, 서울은 충격의 방향에 따라 변동성과 리스크 프리미엄이 비대칭적으로 반응하는 독특한 구조를 보였다. 변동성 지속성 계수 역시 모든 지역에서 유의하게 나타나 주택시장 변동성이 일정 기간 지속되는 특성이 존재함을 확인하였다.</a:t>
            </a:r>
            <a:endParaRPr lang="ko-KR" sz="950" dirty="0"/>
          </a:p>
        </p:txBody>
      </p:sp>
      <p:sp>
        <p:nvSpPr>
          <p:cNvPr id="11" name="Shape 9"/>
          <p:cNvSpPr/>
          <p:nvPr/>
        </p:nvSpPr>
        <p:spPr>
          <a:xfrm>
            <a:off x="496119" y="2815084"/>
            <a:ext cx="279053" cy="279053"/>
          </a:xfrm>
          <a:prstGeom prst="roundRect">
            <a:avLst>
              <a:gd name="adj" fmla="val 18670"/>
            </a:avLst>
          </a:prstGeom>
          <a:solidFill>
            <a:srgbClr val="DADBF1"/>
          </a:solidFill>
          <a:ln w="4763">
            <a:solidFill>
              <a:srgbClr val="C0C1D7"/>
            </a:solidFill>
            <a:prstDash val="solid"/>
          </a:ln>
        </p:spPr>
      </p:sp>
      <p:sp>
        <p:nvSpPr>
          <p:cNvPr id="12" name="Text 10"/>
          <p:cNvSpPr/>
          <p:nvPr/>
        </p:nvSpPr>
        <p:spPr>
          <a:xfrm>
            <a:off x="542627" y="2838338"/>
            <a:ext cx="186035" cy="232544"/>
          </a:xfrm>
          <a:prstGeom prst="rect">
            <a:avLst/>
          </a:prstGeom>
          <a:noFill/>
          <a:ln/>
        </p:spPr>
        <p:txBody>
          <a:bodyPr wrap="none" lIns="0" tIns="0" rIns="0" bIns="0" rtlCol="0" anchor="ctr"/>
          <a:lstStyle/>
          <a:p>
            <a:pPr algn="ctr" indent="0" marL="0">
              <a:lnSpc>
                <a:spcPct val="100000"/>
              </a:lnSpc>
              <a:buNone/>
            </a:pPr>
            <a:r>
              <a:rPr lang="en-US" sz="1450" b="1" spc="-44" kern="0" dirty="0">
                <a:solidFill>
                  <a:srgbClr val="272525"/>
                </a:solidFill>
                <a:latin typeface="Inter Bold" pitchFamily="34" charset="0"/>
                <a:ea typeface="Inter Bold" pitchFamily="34" charset="-122"/>
                <a:cs typeface="Inter Bold" pitchFamily="34" charset="-120"/>
              </a:rPr>
              <a:t>3</a:t>
            </a:r>
            <a:endParaRPr lang="en-US" sz="1450" dirty="0"/>
          </a:p>
        </p:txBody>
      </p:sp>
      <p:sp>
        <p:nvSpPr>
          <p:cNvPr id="13" name="Text 11"/>
          <p:cNvSpPr/>
          <p:nvPr/>
        </p:nvSpPr>
        <p:spPr>
          <a:xfrm>
            <a:off x="899145" y="2857723"/>
            <a:ext cx="3595315" cy="193849"/>
          </a:xfrm>
          <a:prstGeom prst="rect">
            <a:avLst/>
          </a:prstGeom>
          <a:noFill/>
          <a:ln/>
        </p:spPr>
        <p:txBody>
          <a:bodyPr wrap="none" lIns="0" tIns="0" rIns="0" bIns="0" rtlCol="0" anchor="t"/>
          <a:lstStyle/>
          <a:p>
            <a:pPr algn="l" indent="0" marL="0">
              <a:lnSpc>
                <a:spcPct val="104000"/>
              </a:lnSpc>
              <a:buNone/>
            </a:pPr>
            <a:r>
              <a:rPr lang="ko-KR" altLang="en-US" sz="1200" b="1" spc="-37" kern="0" dirty="0">
                <a:solidFill>
                  <a:srgbClr val="272525"/>
                </a:solidFill>
                <a:latin typeface="Inter Bold" pitchFamily="34" charset="0"/>
                <a:ea typeface="Inter Bold" pitchFamily="34" charset="-122"/>
                <a:cs typeface="Inter Bold" pitchFamily="34" charset="-120"/>
              </a:rPr>
              <a:t>차별적 주택정책의 필요성</a:t>
            </a:r>
            <a:endParaRPr lang="ko-KR" sz="1200" dirty="0"/>
          </a:p>
        </p:txBody>
      </p:sp>
      <p:sp>
        <p:nvSpPr>
          <p:cNvPr id="14" name="Text 12"/>
          <p:cNvSpPr/>
          <p:nvPr/>
        </p:nvSpPr>
        <p:spPr>
          <a:xfrm>
            <a:off x="899145" y="3125986"/>
            <a:ext cx="3595315" cy="992312"/>
          </a:xfrm>
          <a:prstGeom prst="rect">
            <a:avLst/>
          </a:prstGeom>
          <a:noFill/>
          <a:ln/>
        </p:spPr>
        <p:txBody>
          <a:bodyPr wrap="square" lIns="0" tIns="0" rIns="0" bIns="0" rtlCol="0" anchor="t">
            <a:normAutofit/>
          </a:bodyPr>
          <a:lstStyle/>
          <a:p>
            <a:pPr algn="l" indent="0" marL="0">
              <a:lnSpc>
                <a:spcPct val="133000"/>
              </a:lnSpc>
              <a:buNone/>
            </a:pPr>
            <a:r>
              <a:rPr lang="ko-KR" altLang="en-US" sz="950" spc="-20" kern="0" dirty="0">
                <a:solidFill>
                  <a:srgbClr val="272525"/>
                </a:solidFill>
                <a:latin typeface="Inter" pitchFamily="34" charset="0"/>
                <a:ea typeface="Inter" pitchFamily="34" charset="-122"/>
                <a:cs typeface="Inter" pitchFamily="34" charset="-120"/>
              </a:rPr>
              <a:t>서울 핵심지역(강남·서초·송파 등)은 금융시장 변동에 대한 민감도가 상대적으로 높고, 가격 충격의 방향에 따라 변동성·리스크 프리미엄이 비대칭적으로 반응하므로, 주택 정책은 가격 수준뿐만 아니라 지역별 위험구조의 차이와 변동성·리스크 프리미엄의 동학적 변화까지 함께 고려한 차별적 접근이 필요하다.</a:t>
            </a:r>
            <a:endParaRPr lang="ko-KR" sz="950" dirty="0"/>
          </a:p>
        </p:txBody>
      </p:sp>
      <p:sp>
        <p:nvSpPr>
          <p:cNvPr id="15" name="Shape 13"/>
          <p:cNvSpPr/>
          <p:nvPr/>
        </p:nvSpPr>
        <p:spPr>
          <a:xfrm>
            <a:off x="4649465" y="2815084"/>
            <a:ext cx="279053" cy="279053"/>
          </a:xfrm>
          <a:prstGeom prst="roundRect">
            <a:avLst>
              <a:gd name="adj" fmla="val 18670"/>
            </a:avLst>
          </a:prstGeom>
          <a:solidFill>
            <a:srgbClr val="DADBF1"/>
          </a:solidFill>
          <a:ln w="4763">
            <a:solidFill>
              <a:srgbClr val="C0C1D7"/>
            </a:solidFill>
            <a:prstDash val="solid"/>
          </a:ln>
        </p:spPr>
      </p:sp>
      <p:sp>
        <p:nvSpPr>
          <p:cNvPr id="16" name="Text 14"/>
          <p:cNvSpPr/>
          <p:nvPr/>
        </p:nvSpPr>
        <p:spPr>
          <a:xfrm>
            <a:off x="4695974" y="2838338"/>
            <a:ext cx="186035" cy="232544"/>
          </a:xfrm>
          <a:prstGeom prst="rect">
            <a:avLst/>
          </a:prstGeom>
          <a:noFill/>
          <a:ln/>
        </p:spPr>
        <p:txBody>
          <a:bodyPr wrap="none" lIns="0" tIns="0" rIns="0" bIns="0" rtlCol="0" anchor="ctr"/>
          <a:lstStyle/>
          <a:p>
            <a:pPr algn="ctr" indent="0" marL="0">
              <a:lnSpc>
                <a:spcPct val="100000"/>
              </a:lnSpc>
              <a:buNone/>
            </a:pPr>
            <a:r>
              <a:rPr lang="en-US" sz="1450" b="1" spc="-44" kern="0" dirty="0">
                <a:solidFill>
                  <a:srgbClr val="272525"/>
                </a:solidFill>
                <a:latin typeface="Inter Bold" pitchFamily="34" charset="0"/>
                <a:ea typeface="Inter Bold" pitchFamily="34" charset="-122"/>
                <a:cs typeface="Inter Bold" pitchFamily="34" charset="-120"/>
              </a:rPr>
              <a:t>4</a:t>
            </a:r>
            <a:endParaRPr lang="en-US" sz="1450" dirty="0"/>
          </a:p>
        </p:txBody>
      </p:sp>
      <p:sp>
        <p:nvSpPr>
          <p:cNvPr id="17" name="Text 15"/>
          <p:cNvSpPr/>
          <p:nvPr/>
        </p:nvSpPr>
        <p:spPr>
          <a:xfrm>
            <a:off x="5052492" y="2857723"/>
            <a:ext cx="3595390" cy="193849"/>
          </a:xfrm>
          <a:prstGeom prst="rect">
            <a:avLst/>
          </a:prstGeom>
          <a:noFill/>
          <a:ln/>
        </p:spPr>
        <p:txBody>
          <a:bodyPr wrap="none" lIns="0" tIns="0" rIns="0" bIns="0" rtlCol="0" anchor="t"/>
          <a:lstStyle/>
          <a:p>
            <a:pPr algn="l" indent="0" marL="0">
              <a:lnSpc>
                <a:spcPct val="104000"/>
              </a:lnSpc>
              <a:buNone/>
            </a:pPr>
            <a:r>
              <a:rPr lang="ko-KR" altLang="en-US" sz="1200" b="1" spc="-37" kern="0" dirty="0">
                <a:solidFill>
                  <a:srgbClr val="272525"/>
                </a:solidFill>
                <a:latin typeface="Inter Bold" pitchFamily="34" charset="0"/>
                <a:ea typeface="Inter Bold" pitchFamily="34" charset="-122"/>
                <a:cs typeface="Inter Bold" pitchFamily="34" charset="-120"/>
              </a:rPr>
              <a:t>연구의 한계와 향후 과제</a:t>
            </a:r>
            <a:endParaRPr lang="ko-KR" sz="1200" dirty="0"/>
          </a:p>
        </p:txBody>
      </p:sp>
      <p:sp>
        <p:nvSpPr>
          <p:cNvPr id="18" name="Text 16"/>
          <p:cNvSpPr/>
          <p:nvPr/>
        </p:nvSpPr>
        <p:spPr>
          <a:xfrm>
            <a:off x="5052492" y="3125986"/>
            <a:ext cx="3595390" cy="1389236"/>
          </a:xfrm>
          <a:prstGeom prst="rect">
            <a:avLst/>
          </a:prstGeom>
          <a:noFill/>
          <a:ln/>
        </p:spPr>
        <p:txBody>
          <a:bodyPr wrap="square" lIns="0" tIns="0" rIns="0" bIns="0" rtlCol="0" anchor="t">
            <a:normAutofit/>
          </a:bodyPr>
          <a:lstStyle/>
          <a:p>
            <a:pPr algn="l" indent="0" marL="0">
              <a:lnSpc>
                <a:spcPct val="133000"/>
              </a:lnSpc>
              <a:buNone/>
            </a:pPr>
            <a:r>
              <a:rPr lang="ko-KR" altLang="en-US" sz="950" spc="-20" kern="0" dirty="0">
                <a:solidFill>
                  <a:srgbClr val="272525"/>
                </a:solidFill>
                <a:latin typeface="Inter" pitchFamily="34" charset="0"/>
                <a:ea typeface="Inter" pitchFamily="34" charset="-122"/>
                <a:cs typeface="Inter" pitchFamily="34" charset="-120"/>
              </a:rPr>
              <a:t>본 연구는 아파트 매매가격지수를 중심으로 분석을 수행하였다는 점에서 전세·임대시장, 가계부채와 금융레버리지, 주택공급 및 정책충격 등 주택시장 가격결정에 영향을 미치는 다양한 구조적 요인을 충분히 반영하지 못한 한계가 존재한다. 향후 연구에서는 전세시장, 금융레버리지, 공급충격 및 거시금융 변수를 함께 고려하는 다변량 연립방정식 모형을 구축하고, 가계 재무자료 등 미시자료를 이용함으로써 주택시장 위험구조와 다양한 요인 간의 상호작용을 보다 종합적으로 분석할 필요가 있다.</a:t>
            </a:r>
            <a:endParaRPr lang="ko-KR"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2026-08-14T17:34:14Z</dcterms:created>
  <dcterms:modified xsi:type="dcterms:W3CDTF">2026-08-14T17:34:14Z</dcterms:modified>
</cp:coreProperties>
</file>