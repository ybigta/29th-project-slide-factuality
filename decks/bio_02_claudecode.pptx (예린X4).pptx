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2007년 한밭대 김응규·이도겸 교수 연구팀의 논문 요약입니다. 흉부 X선 사진에서 폐 결절(덩어리 그림자)을 컴퓨터가 자동으로 찾아내는 기술을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메시지 3가지. 촬영 단계 개선, 필터 개선, 그리고 이 둘의 조합을 체계적으로 검증했다는 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가양성이란 정상 조직을 결절로 잘못 짚는 것. 갈비뼈와 혈관이 주범이며, 기존 연구들은 필터 설계로만 해결하려다 한계에 부딪혔습니다.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촬영 조건은 100kVp, 400mA, 40ms, 필름 초점거리 180cm. 단순 감산은 잡음이 증폭되므로 잡음을 순차적으로 걸러내는 개선형 방식을 사용했습니다.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∇²G는 기준선, Min-DD는 선행연구의 대표 개선안, 다중해상도 필터가 이 논문의 제안입니다. 핵심 아이디어는 '필터 크기를 하나로 고정하지 말자'는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검출개수 평가는 '놓쳤는가'를, 면적률 평가는 '크기를 제대로 잡았는가'를 봅니다. 두 잣대의 결론이 다를 수 있다는 점이 이 논문의 중요한 관찰입니다.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 규모가 13증례 28결절로 크지 않다는 점은 결과 해석 시 감안해야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흥미로운 발견은 Min-DD의 역전입니다. 보통 X선에서는 최고였던 필터가, 에너지 차분 영상에서는 존재 이유를 잃습니다. 즉 영상과 필터는 짝을 맞춰 골라야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줄 요약: 좋은 필터를 찾는 문제가 아니라, 좋은 영상과 좋은 필터의 조합을 찾는 문제였다는 것이 이 연구의 결론입니다.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669280" cy="56692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291840"/>
            <a:ext cx="3840480" cy="384048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2007 한국컴퓨터종합학술대회 논문 요약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흉부 X선 영상에서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 결절 음영 검출 필터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BD3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 차분 영상과 다중해상도 필터를 결합해 오검출을 줄이는 방법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434840"/>
            <a:ext cx="201168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709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김응규 · 이도겸  |  한밭대학교 정보통신·컴퓨터공학부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50749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9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한국컴퓨터종합학술대회 논문집 Vol. 34, No. 1 (2007)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ONE PAGE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보는 핵심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흉부 X선에서 폐 결절을 자동으로 찾을 때 가장 큰 걸림돌은 '늑골·혈관을 결절로 착각하는 오검출'입니다.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연구는 촬영 단계와 필터 단계 양쪽에서 이 문제를 공략했습니다.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3429000" cy="2743200"/>
          </a:xfrm>
          <a:prstGeom prst="roundRect">
            <a:avLst>
              <a:gd name="adj" fmla="val 4000"/>
            </a:avLst>
          </a:prstGeom>
          <a:solidFill>
            <a:srgbClr val="EEF3F7"/>
          </a:solidFill>
          <a:ln/>
          <a:effectLst>
            <a:outerShdw sx="100000" sy="100000" kx="0" ky="0" algn="bl" rotWithShape="0" blurRad="127000" dist="25400" dir="5400000">
              <a:srgbClr val="9FB3C4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724912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7249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3584448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촬영 단계에서 잡음 제거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420624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고압·저압 두 장을 감산하는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'에너지 차분 영상'으로 뼈 그림자를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애초에 지워버립니다.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61688" y="2423160"/>
            <a:ext cx="3429000" cy="2743200"/>
          </a:xfrm>
          <a:prstGeom prst="roundRect">
            <a:avLst>
              <a:gd name="adj" fmla="val 4000"/>
            </a:avLst>
          </a:prstGeom>
          <a:solidFill>
            <a:srgbClr val="EEF3F7"/>
          </a:solidFill>
          <a:ln/>
          <a:effectLst>
            <a:outerShdw sx="100000" sy="100000" kx="0" ky="0" algn="bl" rotWithShape="0" blurRad="127000" dist="25400" dir="5400000">
              <a:srgbClr val="9FB3C4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81728" y="2724912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681728" y="27249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81728" y="3584448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 크기를 가변으로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81728" y="420624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결절 크기가 제각각이므로,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크기의 필터를 겹쳐 쓰는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'다중해상도 필터'를 제안합니다.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83296" y="2423160"/>
            <a:ext cx="3429000" cy="2743200"/>
          </a:xfrm>
          <a:prstGeom prst="roundRect">
            <a:avLst>
              <a:gd name="adj" fmla="val 4000"/>
            </a:avLst>
          </a:prstGeom>
          <a:solidFill>
            <a:srgbClr val="EEF3F7"/>
          </a:solidFill>
          <a:ln/>
          <a:effectLst>
            <a:outerShdw sx="100000" sy="100000" kx="0" ky="0" algn="bl" rotWithShape="0" blurRad="127000" dist="25400" dir="5400000">
              <a:srgbClr val="9FB3C4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03336" y="2724912"/>
            <a:ext cx="658368" cy="6583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8403336" y="27249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03336" y="3584448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 조합을 교차 검증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03336" y="420624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2종 × 필터 3종을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2가지 평가 기준으로 비교해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왜 통하는지 규명합니다.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24712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8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자동 검출이 어려운가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029200" cy="3977640"/>
          </a:xfrm>
          <a:prstGeom prst="roundRect">
            <a:avLst>
              <a:gd name="adj" fmla="val 2759"/>
            </a:avLst>
          </a:prstGeom>
          <a:solidFill>
            <a:srgbClr val="0F2E4A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9202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검출은 2단계로 나뉩니다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005840" y="2395728"/>
            <a:ext cx="4297680" cy="868680"/>
          </a:xfrm>
          <a:prstGeom prst="roundRect">
            <a:avLst>
              <a:gd name="adj" fmla="val 8421"/>
            </a:avLst>
          </a:prstGeom>
          <a:solidFill>
            <a:srgbClr val="E8A33D">
              <a:alpha val="18000"/>
            </a:srgbClr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7008" y="248716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 결절 후보 영역 찾기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3D9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안에서 '의심되는 덩어리'를 골라냄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07008" y="35204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C7DC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  양성 / 악성 감별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7F9D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찾아낸 후보가 실제 암인지 판정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47091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연구는 1단계에 집중합니다.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172200" y="162763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1단계의 고질적 문제: 가양성(false positive)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72200" y="2231136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172200" y="22311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03720" y="221284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늑골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903720" y="252374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갈비뼈 그림자가 둥근 덩어리처럼 보임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72200" y="3163824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3163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03720" y="314553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혈관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03720" y="345643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가지처럼 뻗은 음영이 결절과 혼동됨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4096512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4096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03720" y="407822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교차부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03720" y="43891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늑골과 혈관이 겹치는 지점에서 특히 심함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172200" y="5029200"/>
            <a:ext cx="5367528" cy="658368"/>
          </a:xfrm>
          <a:prstGeom prst="roundRect">
            <a:avLst>
              <a:gd name="adj" fmla="val 13889"/>
            </a:avLst>
          </a:prstGeom>
          <a:solidFill>
            <a:srgbClr val="EEF3F7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502920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연구는 '필터 알고리즘'만 고쳐 왔지만, 이 문제는 여전히 미해결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24712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8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APPROACH 1 · 영상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촬영 단계에서 뼈를 지운다 — 에너지 차분 영상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뼈와 살은 X선 흡수량이 다릅니다. 이 차이를 이용해 뼈 그림자만 제거한 영상을 만듭니다.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2468880" cy="1600200"/>
          </a:xfrm>
          <a:prstGeom prst="roundRect">
            <a:avLst>
              <a:gd name="adj" fmla="val 685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127000" dist="25400" dir="5400000">
              <a:srgbClr val="9FB3C4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5420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저압 촬영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889504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저에너지 영상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82112" y="2724912"/>
            <a:ext cx="292608" cy="274320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0" name="Shape 8"/>
          <p:cNvSpPr/>
          <p:nvPr/>
        </p:nvSpPr>
        <p:spPr>
          <a:xfrm>
            <a:off x="3520440" y="2057400"/>
            <a:ext cx="2468880" cy="1600200"/>
          </a:xfrm>
          <a:prstGeom prst="roundRect">
            <a:avLst>
              <a:gd name="adj" fmla="val 685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127000" dist="25400" dir="5400000">
              <a:srgbClr val="9FB3C4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03320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03320" y="25420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고압 촬영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03320" y="2889504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고에너지 영상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62472" y="2724912"/>
            <a:ext cx="292608" cy="274320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0" y="2057400"/>
            <a:ext cx="2468880" cy="1600200"/>
          </a:xfrm>
          <a:prstGeom prst="roundRect">
            <a:avLst>
              <a:gd name="adj" fmla="val 685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127000" dist="25400" dir="5400000">
              <a:srgbClr val="9FB3C4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0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0" y="25420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 정합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83680" y="2889504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뼈 신호 레벨을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계수로 맞춤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42832" y="2724912"/>
            <a:ext cx="292608" cy="274320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20" name="Shape 18"/>
          <p:cNvSpPr/>
          <p:nvPr/>
        </p:nvSpPr>
        <p:spPr>
          <a:xfrm>
            <a:off x="9281160" y="2057400"/>
            <a:ext cx="2468880" cy="1600200"/>
          </a:xfrm>
          <a:prstGeom prst="roundRect">
            <a:avLst>
              <a:gd name="adj" fmla="val 6857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27000" dist="25400" dir="5400000">
              <a:srgbClr val="9FB3C4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464040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D0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464040" y="25420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감산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464040" y="2889504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BBD9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뼈 영역이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BBD9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사라진 영상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3977640"/>
            <a:ext cx="5440680" cy="1600200"/>
          </a:xfrm>
          <a:prstGeom prst="roundRect">
            <a:avLst>
              <a:gd name="adj" fmla="val 6857"/>
            </a:avLst>
          </a:prstGeom>
          <a:solidFill>
            <a:srgbClr val="EEF3F7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2062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얻는 것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4400" y="4553712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늑골 등 뼈 그림자가 원천 제거되어 오검출 요인이 줄어듦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개선형 차분법을 적용해 신호대잡음비(SNR)까지 향상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309360" y="3977640"/>
            <a:ext cx="5230368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42062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치르는 대가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583680" y="4553712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두 번 촬영하므로 환자 피폭량이 늘어남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다만 헬리컬 CT의 감도·피폭·비용과 비교하면 충분히 타당한 선택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24712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8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APPROACH 2 · 필터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결절을 골라내는 세 가지 필터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3429000" cy="4023360"/>
          </a:xfrm>
          <a:prstGeom prst="roundRect">
            <a:avLst>
              <a:gd name="adj" fmla="val 3200"/>
            </a:avLst>
          </a:prstGeom>
          <a:solidFill>
            <a:srgbClr val="EEF3F7"/>
          </a:solidFill>
          <a:ln/>
          <a:effectLst>
            <a:outerShdw sx="100000" sy="100000" kx="0" ky="0" algn="bl" rotWithShape="0" blurRad="127000" dist="25400" dir="5400000">
              <a:srgbClr val="9FB3C4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32688" y="18105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기준선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32688" y="212140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∇²G 필터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32688" y="2505456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Laplacian of Gaussian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32688" y="2871216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둥근 음영에 민감하게 반응하는 가장 기본적인 필터.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32688" y="3840480"/>
            <a:ext cx="2834640" cy="0"/>
          </a:xfrm>
          <a:prstGeom prst="line">
            <a:avLst/>
          </a:prstGeom>
          <a:noFill/>
          <a:ln w="12700">
            <a:solidFill>
              <a:srgbClr val="D3E0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3986784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B2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  구조가 단순하고 원형 검출에 강함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32688" y="468172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 혈관·늑골 같은 선 모양에도 반응해 오검출 증가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61688" y="1572768"/>
            <a:ext cx="3429000" cy="4023360"/>
          </a:xfrm>
          <a:prstGeom prst="roundRect">
            <a:avLst>
              <a:gd name="adj" fmla="val 3200"/>
            </a:avLst>
          </a:prstGeom>
          <a:solidFill>
            <a:srgbClr val="EEF3F7"/>
          </a:solidFill>
          <a:ln/>
          <a:effectLst>
            <a:outerShdw sx="100000" sy="100000" kx="0" ky="0" algn="bl" rotWithShape="0" blurRad="127000" dist="25400" dir="5400000">
              <a:srgbClr val="9FB3C4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54296" y="18105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비교군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54296" y="212140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Min-DD 필터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54296" y="2505456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최소방향 차분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54296" y="2871216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방향의 차분값 중 최솟값만 출력해 선 모양 구조를 억제.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654296" y="3840480"/>
            <a:ext cx="2834640" cy="0"/>
          </a:xfrm>
          <a:prstGeom prst="line">
            <a:avLst/>
          </a:prstGeom>
          <a:noFill/>
          <a:ln w="12700">
            <a:solidFill>
              <a:srgbClr val="D3E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54296" y="3986784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B2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  보통 X선 영상에서 늑골 억제 효과가 뚜렷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654296" y="468172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 출력 면적이 작아 결절 크기 보존에 불리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83296" y="1572768"/>
            <a:ext cx="3429000" cy="4023360"/>
          </a:xfrm>
          <a:prstGeom prst="roundRect">
            <a:avLst>
              <a:gd name="adj" fmla="val 3200"/>
            </a:avLst>
          </a:prstGeom>
          <a:solidFill>
            <a:srgbClr val="0F2E4A"/>
          </a:solidFill>
          <a:ln/>
          <a:effectLst>
            <a:outerShdw sx="100000" sy="100000" kx="0" ky="0" algn="bl" rotWithShape="0" blurRad="127000" dist="25400" dir="5400000">
              <a:srgbClr val="9FB3C4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75904" y="18105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방식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375904" y="212140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다중해상도 필터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375904" y="2505456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B6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Multi-resolution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75904" y="2871216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FE1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크기가 다른 ∇²G를 여러 개 적용해 가장 반응이 큰 크기를 자동 선택.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375904" y="3840480"/>
            <a:ext cx="2834640" cy="0"/>
          </a:xfrm>
          <a:prstGeom prst="line">
            <a:avLst/>
          </a:prstGeom>
          <a:noFill/>
          <a:ln w="12700">
            <a:solidFill>
              <a:srgbClr val="2E587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75904" y="3986784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  8~36mm로 제각각인 결절 크기에 유연하게 대응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375904" y="468172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FC0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  결절의 실제 크기를 충실히 보존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24712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8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METHOD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성능을 재는 두 가지 잣대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방법이 결론을 바꿀 수 있으므로, 성격이 다른 두 기준을 함께 사용했습니다.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25780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5875">
            <a:solidFill>
              <a:srgbClr val="D6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9FB3C4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377440"/>
            <a:ext cx="621792" cy="6217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3774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83080" y="2377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검출개수 평가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783080" y="2743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개나 맞혔는가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05840" y="331012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B2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결절과 한 점이라도 겹치면 '검출'로 인정.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B2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맞힌 개수와 헛짚은 개수를 함께 셈.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05840" y="4224528"/>
            <a:ext cx="4526280" cy="1051560"/>
          </a:xfrm>
          <a:prstGeom prst="roundRect">
            <a:avLst>
              <a:gd name="adj" fmla="val 8696"/>
            </a:avLst>
          </a:prstGeom>
          <a:solidFill>
            <a:srgbClr val="EEF3F7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4224528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임상적으로 가장 기본적인 잣대.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결절을 놓쳤는지 아닌지를 정확히 반영.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72784" y="2057400"/>
            <a:ext cx="525780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5875">
            <a:solidFill>
              <a:srgbClr val="D6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9FB3C4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638544" y="2377440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638544" y="23774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415784" y="2377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면적률 평가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415784" y="2743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얼마나 정확히 겹쳤는가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638544" y="331012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B2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결절 영역과 검출 영역의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B2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겹치는 면적 비율로 계산.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638544" y="4224528"/>
            <a:ext cx="4526280" cy="1051560"/>
          </a:xfrm>
          <a:prstGeom prst="roundRect">
            <a:avLst>
              <a:gd name="adj" fmla="val 8696"/>
            </a:avLst>
          </a:prstGeom>
          <a:solidFill>
            <a:srgbClr val="EEF3F7"/>
          </a:solidFill>
          <a:ln/>
        </p:spPr>
      </p:sp>
      <p:sp>
        <p:nvSpPr>
          <p:cNvPr id="20" name="Text 18"/>
          <p:cNvSpPr/>
          <p:nvPr/>
        </p:nvSpPr>
        <p:spPr>
          <a:xfrm>
            <a:off x="6867144" y="4224528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결절의 크기 보존성을 볼 때 유효.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단, 작은 결절을 놓쳐도 둔감한 약점.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24712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8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EXPERIMENT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조건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증례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9144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8803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FC0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임상 흉부 X선 데이터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429000" y="178308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개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3429000" y="2743200"/>
            <a:ext cx="9144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28803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FC0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결절 수 (평균 약 2개/증례)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217920" y="178308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8~36</a:t>
            </a:r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mm</a:t>
            </a:r>
            <a:endParaRPr lang="en-US" sz="4600" dirty="0"/>
          </a:p>
        </p:txBody>
      </p:sp>
      <p:sp>
        <p:nvSpPr>
          <p:cNvPr id="11" name="Shape 9"/>
          <p:cNvSpPr/>
          <p:nvPr/>
        </p:nvSpPr>
        <p:spPr>
          <a:xfrm>
            <a:off x="6217920" y="2743200"/>
            <a:ext cx="9144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28803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FC0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결절 크기 범위 (5~22화소)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006840" y="178308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bit</a:t>
            </a:r>
            <a:endParaRPr lang="en-US" sz="4600" dirty="0"/>
          </a:p>
        </p:txBody>
      </p:sp>
      <p:sp>
        <p:nvSpPr>
          <p:cNvPr id="14" name="Shape 12"/>
          <p:cNvSpPr/>
          <p:nvPr/>
        </p:nvSpPr>
        <p:spPr>
          <a:xfrm>
            <a:off x="9006840" y="2743200"/>
            <a:ext cx="9144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06840" y="28803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FC0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명암도 · 1mm당 5화소 샘플링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977640"/>
            <a:ext cx="10899648" cy="1783080"/>
          </a:xfrm>
          <a:prstGeom prst="roundRect">
            <a:avLst>
              <a:gd name="adj" fmla="val 6154"/>
            </a:avLst>
          </a:prstGeom>
          <a:solidFill>
            <a:srgbClr val="16405F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1879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설계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452628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2종 (보통 X선 · 에너지 차분)  ×  필터 3종 (∇²G · Min-DD · 다중해상도)  ×  평가 2종 (검출개수 · 면적률)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519379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9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전문의가 지목한 결절 영역을 정답으로 사용하고, 하드웨어 제약상 원영상을 1/8로 축소해 처리했습니다.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24712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8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무엇이, 어디서 통했는가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결론부터: 어떤 필터를 쓰든 에너지 차분 영상이 보통 X선 영상보다 우수했습니다.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9385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검출 필터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703320" y="1874520"/>
            <a:ext cx="3840480" cy="438912"/>
          </a:xfrm>
          <a:prstGeom prst="roundRect">
            <a:avLst>
              <a:gd name="adj" fmla="val 16667"/>
            </a:avLst>
          </a:prstGeom>
          <a:solidFill>
            <a:srgbClr val="C9D8E4"/>
          </a:solidFill>
          <a:ln/>
        </p:spPr>
      </p:sp>
      <p:sp>
        <p:nvSpPr>
          <p:cNvPr id="7" name="Text 5"/>
          <p:cNvSpPr/>
          <p:nvPr/>
        </p:nvSpPr>
        <p:spPr>
          <a:xfrm>
            <a:off x="3703320" y="187452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보통 X선 영상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80960" y="1874520"/>
            <a:ext cx="3858768" cy="438912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1874520"/>
            <a:ext cx="3858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 차분 영상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450592"/>
            <a:ext cx="2834640" cy="914400"/>
          </a:xfrm>
          <a:prstGeom prst="roundRect">
            <a:avLst>
              <a:gd name="adj" fmla="val 10000"/>
            </a:avLst>
          </a:prstGeom>
          <a:solidFill>
            <a:srgbClr val="EEF3F7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450592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∇²G 필터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703320" y="2450592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0" y="257860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보통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31920" y="29077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선형 구조에도 반응해 오검출 많음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680960" y="2450592"/>
            <a:ext cx="3858768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09560" y="257860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양호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909560" y="29077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번째로 좋은 성능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3483864"/>
            <a:ext cx="2834640" cy="914400"/>
          </a:xfrm>
          <a:prstGeom prst="roundRect">
            <a:avLst>
              <a:gd name="adj" fmla="val 10000"/>
            </a:avLst>
          </a:prstGeom>
          <a:solidFill>
            <a:srgbClr val="EEF3F7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483864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Min-DD 필터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703320" y="3483864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0" y="361188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우수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931920" y="39410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늑골 억제 효과가 뚜렷하게 나타남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680960" y="3483864"/>
            <a:ext cx="3858768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09560" y="361188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 없음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909560" y="39410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뼈가 이미 제거돼 억제할 대상이 없음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4517136"/>
            <a:ext cx="2834640" cy="914400"/>
          </a:xfrm>
          <a:prstGeom prst="roundRect">
            <a:avLst>
              <a:gd name="adj" fmla="val 10000"/>
            </a:avLst>
          </a:prstGeom>
          <a:solidFill>
            <a:srgbClr val="0F2E4A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517136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다중해상도 필터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3703320" y="4517136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31920" y="464515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보통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31920" y="49743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임계값을 낮추면 늑골 검출기로 변질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680960" y="4517136"/>
            <a:ext cx="3858768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09560" y="464515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최우수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909560" y="49743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면적률 평가에서 가장 좋은 성능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40080" y="565099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71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Min-DD는 뼈 그림자를 억누르도록 설계된 필터라, 이미 뼈가 지워진 영상에서는 오히려 출력 면적이 작아져 불리해집니다.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124712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8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029200" cy="50292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결론과 시사점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746504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46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E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69164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 차분 영상이 유효하다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71600" y="207568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C0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필터를 아무리 정교하게 만들어도 한계가 있던 문제를, 촬영 방식을 바꿔 해결했습니다.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2798064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798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E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274320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다중해상도 필터가 잘 맞는다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371600" y="312724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C0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 차분 영상에서 결절 크기를 가장 충실히 보존하며 최고 성능을 냈습니다.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3849624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E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379476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영상과 필터는 짝으로 골라야 한다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371600" y="41788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C0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영상에서 좋았던 필터가 다른 영상에서는 무용해질 수 있습니다.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98348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16405F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1663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한계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546811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BD3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화질상 눈으로 확인 가능한 결절 크기 범위가 좁아, 다중해상도 필터의 강점을 다 살리지 못했습니다.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4983480"/>
            <a:ext cx="5276088" cy="1234440"/>
          </a:xfrm>
          <a:prstGeom prst="roundRect">
            <a:avLst>
              <a:gd name="adj" fmla="val 8889"/>
            </a:avLst>
          </a:prstGeom>
          <a:solidFill>
            <a:srgbClr val="16405F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51663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과제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37960" y="5468112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BD3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 차분 영상의 특성에 맞춰 처음부터 설계된 전용 검출 필터를 만들고 평가하는 것.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흉부 X선 영상에서 폐 결절 음영 검출 필터</dc:title>
  <dc:subject>PptxGenJS Presentation</dc:subject>
  <dc:creator>요약: Claude</dc:creator>
  <cp:lastModifiedBy>요약: Claude</cp:lastModifiedBy>
  <cp:revision>1</cp:revision>
  <dcterms:created xsi:type="dcterms:W3CDTF">2026-08-14T09:54:51Z</dcterms:created>
  <dcterms:modified xsi:type="dcterms:W3CDTF">2026-08-14T09:54:51Z</dcterms:modified>
</cp:coreProperties>
</file>