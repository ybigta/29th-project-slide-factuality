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083" y="4334767"/>
            <a:ext cx="4097833" cy="40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3904" y="2123182"/>
            <a:ext cx="6084041" cy="1190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b="1" sz="3750" i="0" u="none">
                <a:solidFill>
                  <a:srgbClr val="F8FAFC"/>
                </a:solidFill>
                <a:latin typeface="Noto Sans KR"/>
              </a:rPr>
              <a:t>pH 감응형 수화젤 미세입자</a:t>
            </a:r>
            <a:r>
              <a:t>
</a:t>
            </a:r>
            <a:r>
              <a:rPr b="1" sz="3750" i="0" u="none">
                <a:solidFill>
                  <a:srgbClr val="F8FAFC"/>
                </a:solidFill>
                <a:latin typeface="Noto Sans KR"/>
              </a:rPr>
              <a:t> 탑재 및 방출 거동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9055" y="3504307"/>
            <a:ext cx="6833741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Noto Sans KR Medium"/>
              </a:rPr>
              <a:t>지능형 약물전달시스템(DDS)을 위한 P(MAA-co-EGMA) 수화젤 연구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95487"/>
            <a:ext cx="5600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Noto Sans KR"/>
              </a:rPr>
              <a:t>기능성 소재 전달의 주요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243137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비타민 C, EGCG 등 주요 화장품 기능성 소재는 산화, 열, 빛 등 외부 환경에 매우 취약하여 용이하게 분해되는 단점이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06017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유효성분을 외부 환경으로부터 안전하게 보호하고, 피부 침투율과 전달 효율을 높이기 위한 고성능 전달체 개발이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68898"/>
            <a:ext cx="5600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Noto Sans KR"/>
              </a:rPr>
              <a:t>pH 감응형 수화젤의 해결책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16548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Noto Sans KR"/>
              </a:rPr>
              <a:t>주변 pH 변화에 따라 팽윤도가 가역적으로 변하는 스마트 고분자 망상 구조를 활용하여 원하는 조건에서 선택적으로 유효물질을 방출합니다.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연구 배경 및 지능형 DDS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5129"/>
            <a:ext cx="5334000" cy="3160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25129"/>
            <a:ext cx="5334000" cy="31602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68029"/>
            <a:ext cx="488061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Noto Sans KR"/>
              </a:rPr>
              <a:t>분산 광중합 합성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5704"/>
            <a:ext cx="4648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주요 단량체: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MAA (메타크릴산) 및 EGMA (에틸렌글리콜 모노메틸에테르 메타크릴레이트)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78584"/>
            <a:ext cx="4648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가교제 및 개시제: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PEGDMA 가교제와 Irgacure 184 광개시제를 사용한 UV 광중합 실시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1465"/>
            <a:ext cx="4648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입자 형태: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구형의 입자로서 평균 크기 약 5 μm의 균일한 분산 수화젤 미세입자 제조 성공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568029"/>
            <a:ext cx="488061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Noto Sans KR"/>
              </a:rPr>
              <a:t>pH 감응형 팽윤 메커니즘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15704"/>
            <a:ext cx="4648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pKa 영역 (pH ~ 5):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MAA의 카복실기(-COOH) pKa 부근에서 급격한 팽윤도 변화 관찰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78584"/>
            <a:ext cx="46482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pH &gt; pKa (약산성/중성):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-COOH기가 -COO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-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이온으로 해리되며 망상 구조 내 정전기적 반발력 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379565"/>
            <a:ext cx="46482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팽윤 결과: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이온간 반발력으로 수화젤 망상 구조가 크게 확장되어 물 함유량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수화젤 미세입자 합성 및 특성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2316"/>
            <a:ext cx="3524250" cy="24458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82316"/>
            <a:ext cx="3524250" cy="24458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82316"/>
            <a:ext cx="3524250" cy="24458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77591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639591"/>
            <a:ext cx="308038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Rhodamine B (Rh-B)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01541"/>
            <a:ext cx="29337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수화젤의 탑재 및 방출 특성을 평가하기 위해 사용된 대표적인 양이온성 모델 염료 분자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877591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639591"/>
            <a:ext cx="308038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Ascorbic Acid / Adenosine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4001541"/>
            <a:ext cx="29337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미백 및 주름개선 기능성 소재. pH 6.5에서 음이온으로 이온화되는 특성을 가짐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877591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639591"/>
            <a:ext cx="308038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EGCG / Arbutin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4001541"/>
            <a:ext cx="29337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Noto Sans KR"/>
              </a:rPr>
              <a:t>녹차 추출물 항산화제 및 알부틴 미백제. pKa가 상대적으로 높아 이온화도가 낮음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791" y="3029991"/>
            <a:ext cx="207466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1166" y="3029991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3541" y="3029991"/>
            <a:ext cx="207466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핵심 기능성 소재 및 유효성분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986111"/>
          <a:ext cx="11048998" cy="3638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18903"/>
                <a:gridCol w="2279749"/>
                <a:gridCol w="1721792"/>
                <a:gridCol w="4628554"/>
              </a:tblGrid>
              <a:tr h="60635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탑재 물질 (Loaded Solute)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전하 상태 (pH 6.5)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탑재 효율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Noto Sans KR SemiBold"/>
                        </a:rPr>
                        <a:t>상호작용 기전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Rhodamine B (Rh-B)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양이온성 (+)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97.6% (4.55 mg/g)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-COO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-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와 양이온간 정전기적 인력 (Strong Attraction)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EGCG (녹차 추출물)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약한 음전하/부분 비이온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18.3% (0.85 mg/g)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수소결합 및 소수성 상호작용 (Hydrophobic/H-bonding)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Arbutin (알부틴)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약한 음전하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4.8% (0.22 mg/g)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낮은 이온화도에 의한 약한 결합력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635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Adenosine (아데노신)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음이온성 (-)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1.9% (0.09 mg/g)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-COO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-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 고분자 사슬과의 정전기적 반발력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635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Ascorbic Acid (비타민 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음이온성 (-)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0.0% (0.00 mg/g)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Noto Sans KR"/>
                        </a:rPr>
                        <a:t>강한 정전기적 반발력 (Electrostatic Repulsion)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545109"/>
            <a:ext cx="2418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90403" y="2545109"/>
            <a:ext cx="2279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70152" y="2545109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91945" y="2545109"/>
            <a:ext cx="46285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171825"/>
            <a:ext cx="2418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0403" y="3171825"/>
            <a:ext cx="2279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70152" y="3171825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1945" y="3171825"/>
            <a:ext cx="46285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775620"/>
            <a:ext cx="2418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0403" y="3775620"/>
            <a:ext cx="2279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70152" y="3775620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1945" y="3775620"/>
            <a:ext cx="46285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379416"/>
            <a:ext cx="2418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90403" y="4379416"/>
            <a:ext cx="2279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70152" y="4379416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1945" y="4379416"/>
            <a:ext cx="46285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006131"/>
            <a:ext cx="2418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403" y="5006131"/>
            <a:ext cx="2279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0152" y="5006131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1945" y="5006131"/>
            <a:ext cx="46285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5609927"/>
            <a:ext cx="24189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90403" y="5609927"/>
            <a:ext cx="2279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70152" y="5609927"/>
            <a:ext cx="1721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1945" y="5609927"/>
            <a:ext cx="46285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652" y="2723257"/>
            <a:ext cx="1309687" cy="28947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652" y="3338512"/>
            <a:ext cx="1309687" cy="28947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652" y="3942308"/>
            <a:ext cx="1235422" cy="28947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652" y="4557563"/>
            <a:ext cx="1235422" cy="28947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0652" y="5172819"/>
            <a:ext cx="1235422" cy="28947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소재별 수화젤 탑재 효율 비교 (pH 6.5)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5334000" cy="2162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105150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FFFFFF"/>
                </a:solidFill>
                <a:latin typeface="Poppins"/>
              </a:rPr>
              <a:t>97.6%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48150"/>
            <a:ext cx="4572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BAE6FD"/>
                </a:solidFill>
                <a:latin typeface="Noto Sans KR Medium"/>
              </a:rPr>
              <a:t>Rh-B 양이온 염료 탑재 효율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68041"/>
            <a:ext cx="5600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Noto Sans KR"/>
              </a:rPr>
              <a:t>전하 특성에 따른 탑재 지배 메커니즘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915691"/>
            <a:ext cx="53340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양이온성 물질: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P(MAA-co-EGMA) 수화젤의 음전하 카복실산기(-COO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-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)와 강력한 정전기적 인력이 형성되어 거의 전량 탑재됩니다.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616672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음이온성 물질: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비타민 C 등 음이온성 기능성 물질은 동일한 음전하로 인한 정전기적 반발력 때문에 탑재율이 극히 낮아집니다.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279552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Noto Sans KR"/>
              </a:rPr>
              <a:t>제형 설계 시사점: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음이온성 유효성분의 탑재율 증대를 위해서는 pH 조절 및 전하 차폐 제형 설계가 필수적입니다.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탑재 거동의 핵심: 정전기적 상호작용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71950"/>
            <a:ext cx="1104900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28725"/>
            <a:ext cx="11049000" cy="5153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pH 조건별 방출 거동 (7일 방출률)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683097"/>
            <a:ext cx="1104900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73597"/>
            <a:ext cx="10248900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Noto Sans KR"/>
              </a:rPr>
              <a:t>스마트 약물전달체 합성 성공: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분산 광중합을 통해 약 5 μm 크기의 pH 감응형 P(MAA-co-EGMA) 수화젤 미세입자를 성공적으로 제형화함.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03177"/>
            <a:ext cx="11049000" cy="986730"/>
          </a:xfrm>
          <a:prstGeom prst="roundRect">
            <a:avLst>
              <a:gd name="adj" fmla="val 96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93677"/>
            <a:ext cx="10248900" cy="605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Noto Sans KR"/>
              </a:rPr>
              <a:t>정전기적 탑재 메커니즘 규명: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수화젤의 -COO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-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와 탑재 물질의 전하 간 정전기적 인력/반발력이 탑재 효율을 결정하는 핵심 원인임을 입증함.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961358"/>
            <a:ext cx="1104900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151858"/>
            <a:ext cx="10248900" cy="567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Noto Sans KR"/>
              </a:rPr>
              <a:t>선택적 방출 제어 기능: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낮은 pH(보관 조건)에서는 방출을 차단하고, 피부 pH(6.0) 환경에서는 유효물질을 효과적으로 방출하는 정밀 방출 제어 확인.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5081438"/>
            <a:ext cx="11049000" cy="674340"/>
          </a:xfrm>
          <a:prstGeom prst="roundRect">
            <a:avLst>
              <a:gd name="adj" fmla="val 141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271938"/>
            <a:ext cx="10248900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Noto Sans KR"/>
              </a:rPr>
              <a:t>코스메슈티컬 응용 가능성:</a:t>
            </a:r>
            <a:r>
              <a:rPr b="0" sz="1350" i="0" u="none">
                <a:solidFill>
                  <a:srgbClr val="334155"/>
                </a:solidFill>
                <a:latin typeface="Noto Sans KR"/>
              </a:rPr>
              <a:t> 유효성분의 안정한 보호와 피부 선택적 전달이 가능한 지능형 기능성 화장품 소재로서의 활용 가치가 높음.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62220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78038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90046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74625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883122"/>
            <a:ext cx="16311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003202"/>
            <a:ext cx="16311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161383"/>
            <a:ext cx="16311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연구 결론 및 활용 전망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0670"/>
            <a:ext cx="1104900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250" i="0" u="none">
                <a:solidFill>
                  <a:srgbClr val="F8FAFC"/>
                </a:solidFill>
                <a:latin typeface="Noto Sans KR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8750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Noto Sans KR"/>
              </a:rPr>
              <a:t>경청해 주셔서 감사합니다.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118" y="3533626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88493" y="3527077"/>
            <a:ext cx="6910238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Noto Sans KR"/>
              </a:rPr>
              <a:t>https://www.mdpi.com/pharmaceutics/pharmaceutics-17-00529/article_deploy/html/images/pharmaceutics-17-00529-g006.png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88493" y="3772792"/>
            <a:ext cx="6910238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www.mdpi.com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