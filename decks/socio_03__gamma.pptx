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Roboto"/>
      <p:regular r:id="rId201314"/>
    </p:embeddedFont>
    <p:embeddedFont>
      <p:font typeface="Roboto Bold"/>
      <p:regular r:id="rId201315"/>
    </p:embeddedFont>
    <p:embeddedFont>
      <p:font typeface="Roboto Slab"/>
      <p:regular r:id="rId201316"/>
    </p:embeddedFont>
    <p:embeddedFont>
      <p:font typeface="Roboto Slab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사회적 불안과 삶의 질</a:t>
            </a:r>
            <a:endParaRPr lang="ko-KR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852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한국 청년층(20~39세)을 대상으로 사회적 불안이 삶의 질에 미치는 영향과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아노미의 매개효과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를 실증 분석한 연구입니다.</a:t>
            </a:r>
            <a:endParaRPr lang="ko-KR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98378"/>
            <a:ext cx="1730871" cy="215354"/>
          </a:xfrm>
          <a:prstGeom prst="roundRect">
            <a:avLst>
              <a:gd name="adj" fmla="val 7900"/>
            </a:avLst>
          </a:prstGeom>
          <a:solidFill>
            <a:srgbClr val="082545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40869"/>
            <a:ext cx="201796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JIN KWON · JIN YOUNG MOON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297832" y="3098378"/>
            <a:ext cx="1620292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82887" y="3140869"/>
            <a:ext cx="190738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ko-KR" altLang="en-US" sz="85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515명 대상 온라인 설문 · 2024</a:t>
            </a:r>
            <a:endParaRPr lang="ko-KR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575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왜 이 연구가 필요한가?</a:t>
            </a:r>
            <a:endParaRPr lang="ko-KR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331342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3F4652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473101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청년 자살률 증가</a:t>
            </a:r>
            <a:endParaRPr lang="ko-KR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779612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2023년 자살 사망자 13,978명(전년 대비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+8.3%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20대 자살률 인구 10만 명당 22.2명, 30대 26.4명. 20대 자살 시도율 1.3%로 타 연령대 대비 현저히 높음.</a:t>
            </a:r>
            <a:endParaRPr lang="ko-KR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331342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3F4652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473101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주요 원인</a:t>
            </a:r>
            <a:endParaRPr lang="ko-KR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1779612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정신적·정신과적 문제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54.4%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경제적 어려움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18.9%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취업난, 주거비용, 결혼·출산 부담이 청년의 희망을 앗아가고 있음.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197200"/>
            <a:ext cx="4722763" cy="1270471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338959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구조적 문제</a:t>
            </a:r>
            <a:endParaRPr lang="ko-KR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645471"/>
            <a:ext cx="44392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청년들은 개인의 노력만으로 극복하기 힘든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구조적 한계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에 직면하며, 사회에 대한 신뢰를 잃어가고 있음. 이는 개인적 불안을 넘어 사회적 차원의 문제로 확대.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2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아노미(Anomie)란 무엇인가?</a:t>
            </a:r>
            <a:endParaRPr lang="ko-KR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3335"/>
            <a:ext cx="5177582" cy="291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431727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뒤르켐의 정의</a:t>
            </a:r>
            <a:endParaRPr lang="ko-KR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794942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급격한 사회변동 과정에서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기존 규범이 붕괴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되고 새로운 규범이 아직 확립되지 않은 상태에서 발생하는 사회적 병리현상.</a:t>
            </a:r>
            <a:endParaRPr lang="ko-KR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2670274"/>
            <a:ext cx="2628230" cy="19050"/>
          </a:xfrm>
          <a:prstGeom prst="roundRect">
            <a:avLst>
              <a:gd name="adj" fmla="val 50000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024339" y="2884215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한국 청년과 아노미</a:t>
            </a:r>
            <a:endParaRPr lang="ko-KR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3247430"/>
            <a:ext cx="262823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고학력·정규직·결혼으로 이어지는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전통적 성공 방정식이 무너지는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한편, 이를 대체할 새로운 가치체계가 정립되지 않은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규범적 진공 상태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디지털 전환, 저성장 시대가 세대 간 단절을 심화시킴.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78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이론적 발전: 아노미 이론의 흐름</a:t>
            </a:r>
            <a:endParaRPr lang="ko-KR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821558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4" name="Shape 2"/>
          <p:cNvSpPr/>
          <p:nvPr/>
        </p:nvSpPr>
        <p:spPr>
          <a:xfrm>
            <a:off x="2063725" y="2396282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5" name="Shape 3"/>
          <p:cNvSpPr/>
          <p:nvPr/>
        </p:nvSpPr>
        <p:spPr>
          <a:xfrm>
            <a:off x="1913781" y="266208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6" name="Text 4"/>
          <p:cNvSpPr/>
          <p:nvPr/>
        </p:nvSpPr>
        <p:spPr>
          <a:xfrm>
            <a:off x="1966950" y="268865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7877" y="1494383"/>
            <a:ext cx="2870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Durkheim (1922)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7877" y="1800895"/>
            <a:ext cx="28708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급격한 사회변동 → 규범·가치 혼란. 경제적 위기 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또는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급격한 번영 모두 아노미 유발 가능.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3729558" y="2821558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0" name="Shape 8"/>
          <p:cNvSpPr/>
          <p:nvPr/>
        </p:nvSpPr>
        <p:spPr>
          <a:xfrm>
            <a:off x="3579614" y="266208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1" name="Text 9"/>
          <p:cNvSpPr/>
          <p:nvPr/>
        </p:nvSpPr>
        <p:spPr>
          <a:xfrm>
            <a:off x="3632783" y="268865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303636" y="3388593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Merton (2017)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03636" y="3695105"/>
            <a:ext cx="28708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문화적 목표와 제도적 수단 간 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괴리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한국의 'N포 세대' 현상 — 주거·결혼 목표와 실질 달성 가능성 간 간극.</a:t>
            </a:r>
            <a:endParaRPr lang="ko-KR" sz="1100" dirty="0"/>
          </a:p>
        </p:txBody>
      </p:sp>
      <p:sp>
        <p:nvSpPr>
          <p:cNvPr id="14" name="Shape 12"/>
          <p:cNvSpPr/>
          <p:nvPr/>
        </p:nvSpPr>
        <p:spPr>
          <a:xfrm>
            <a:off x="5395317" y="2396282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15" name="Shape 13"/>
          <p:cNvSpPr/>
          <p:nvPr/>
        </p:nvSpPr>
        <p:spPr>
          <a:xfrm>
            <a:off x="5245373" y="266208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16" name="Text 14"/>
          <p:cNvSpPr/>
          <p:nvPr/>
        </p:nvSpPr>
        <p:spPr>
          <a:xfrm>
            <a:off x="5298542" y="268865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69395" y="1494383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Srole (1956)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969395" y="1800895"/>
            <a:ext cx="28708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아노미를 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사회적 통합 결핍</a:t>
            </a:r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으로 조작화. 고용불안·주거불안·관계 단절이 개인적 아노미 심화.</a:t>
            </a:r>
            <a:endParaRPr lang="ko-KR" sz="1100" dirty="0"/>
          </a:p>
        </p:txBody>
      </p:sp>
      <p:sp>
        <p:nvSpPr>
          <p:cNvPr id="19" name="Shape 17"/>
          <p:cNvSpPr/>
          <p:nvPr/>
        </p:nvSpPr>
        <p:spPr>
          <a:xfrm>
            <a:off x="7061150" y="2821558"/>
            <a:ext cx="19050" cy="42527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6911206" y="2662089"/>
            <a:ext cx="318939" cy="318939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</p:sp>
      <p:sp>
        <p:nvSpPr>
          <p:cNvPr id="21" name="Text 19"/>
          <p:cNvSpPr/>
          <p:nvPr/>
        </p:nvSpPr>
        <p:spPr>
          <a:xfrm>
            <a:off x="6964375" y="268865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35228" y="3388593"/>
            <a:ext cx="2870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Agnew (1992)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635228" y="3695105"/>
            <a:ext cx="28708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일반긴장이론: 목표 달성 실패, 긍정 자극 상실, 부정 자극 지속 노출 — 세 가지 긴장이 아노미로 이어짐.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연구 설계 및 분석 방법</a:t>
            </a:r>
            <a:endParaRPr lang="ko-KR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22379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분석 데이터</a:t>
            </a:r>
            <a:endParaRPr lang="ko-KR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237566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전국 20~39세 청년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5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515명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대상 온라인 설문 (2024.10.7~14). 성별 균형(남 50.1%, 여 49.9%), 30대 63.3%, 대졸 이상 53.8%, 상용직 57.1%.</a:t>
            </a:r>
            <a:endParaRPr lang="ko-KR" sz="550" dirty="0"/>
          </a:p>
        </p:txBody>
      </p:sp>
      <p:sp>
        <p:nvSpPr>
          <p:cNvPr id="5" name="Shape 3"/>
          <p:cNvSpPr/>
          <p:nvPr/>
        </p:nvSpPr>
        <p:spPr>
          <a:xfrm>
            <a:off x="496119" y="2613347"/>
            <a:ext cx="3986733" cy="9525"/>
          </a:xfrm>
          <a:prstGeom prst="roundRect">
            <a:avLst>
              <a:gd name="adj" fmla="val 50000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68344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측정 변수</a:t>
            </a:r>
            <a:endParaRPr lang="ko-KR" sz="700" dirty="0"/>
          </a:p>
        </p:txBody>
      </p:sp>
      <p:sp>
        <p:nvSpPr>
          <p:cNvPr id="7" name="Text 5"/>
          <p:cNvSpPr/>
          <p:nvPr/>
        </p:nvSpPr>
        <p:spPr>
          <a:xfrm>
            <a:off x="496119" y="2835325"/>
            <a:ext cx="3986733" cy="393725"/>
          </a:xfrm>
          <a:prstGeom prst="rect">
            <a:avLst/>
          </a:prstGeom>
          <a:noFill/>
          <a:ln/>
        </p:spPr>
        <p:txBody>
          <a:bodyPr wrap="square" lIns="0" tIns="2924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독립변수: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사회적 불안 (24문항, 5점 척도, 신뢰도 .915)</a:t>
            </a:r>
            <a:endParaRPr lang="ko-KR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매개변수: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아노미 (8문항, 4점 척도, 신뢰도 .784)</a:t>
            </a:r>
            <a:endParaRPr lang="ko-KR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종속변수: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삶의 질 (5문항, 7점 척도, 신뢰도 .840)</a:t>
            </a:r>
            <a:endParaRPr lang="ko-KR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통제변수: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ko-KR" altLang="en-US" sz="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성별, 연령, 학력, 가구원수, 경제활동 상태</a:t>
            </a:r>
            <a:endParaRPr lang="ko-KR" sz="5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실증 결과: 상관관계 분석</a:t>
            </a:r>
            <a:endParaRPr lang="ko-KR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주요 발견</a:t>
            </a:r>
            <a:endParaRPr lang="ko-KR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모든 상관관계는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 &lt; .001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수준에서 통계적으로 유의미함.</a:t>
            </a:r>
            <a:endParaRPr lang="ko-KR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194694"/>
            <a:ext cx="3902943" cy="779562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사회적 불안 ↑ → 아노미 ↑ (정적 상관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.524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아노미 ↑ → 삶의 질 ↓ (부적 상관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-.363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ko-KR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사회적 불안 ↑ → 삶의 질 ↓ (부적 상관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-.164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ko-KR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10180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특히 아노미와 삶의 질 간 상관(.363)이 사회적 불안과 삶의 질 간 상관(.164)보다 두 배 이상 강함. 이는 아노미의 매개 역할을 시사.</a:t>
            </a:r>
            <a:endParaRPr lang="ko-KR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238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핵심 결론 및 시사점</a:t>
            </a:r>
            <a:endParaRPr lang="ko-KR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27968"/>
            <a:ext cx="4722763" cy="108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288777"/>
            <a:ext cx="43249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🔑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아노미의 완전 매개효과</a:t>
            </a:r>
            <a:endParaRPr lang="ko-KR" sz="1350" dirty="0"/>
          </a:p>
        </p:txBody>
      </p:sp>
      <p:sp>
        <p:nvSpPr>
          <p:cNvPr id="6" name="Text 2"/>
          <p:cNvSpPr/>
          <p:nvPr/>
        </p:nvSpPr>
        <p:spPr>
          <a:xfrm>
            <a:off x="733127" y="1600051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사회적 불안 → 삶의 질의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직접 효과는 유의하지 않음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그러나 아노미를 통한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간접 효과는 통계적으로 유의미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아노미가 핵심 메커니즘.</a:t>
            </a:r>
            <a:endParaRPr lang="ko-KR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56247"/>
            <a:ext cx="4722763" cy="1086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517056"/>
            <a:ext cx="43249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인구사회학적 요인</a:t>
            </a:r>
            <a:endParaRPr lang="ko-KR" sz="1350" dirty="0"/>
          </a:p>
        </p:txBody>
      </p:sp>
      <p:sp>
        <p:nvSpPr>
          <p:cNvPr id="9" name="Text 4"/>
          <p:cNvSpPr/>
          <p:nvPr/>
        </p:nvSpPr>
        <p:spPr>
          <a:xfrm>
            <a:off x="733127" y="2828330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학력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과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고용 상태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 아노미 수준에 유의미한 영향을 미침. 교육과 취업이 청년의 아노미 해소에 구조적으로 중요.</a:t>
            </a:r>
            <a:endParaRPr lang="ko-KR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84525"/>
            <a:ext cx="4722763" cy="1086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45334"/>
            <a:ext cx="432494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💡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정책적 함의</a:t>
            </a:r>
            <a:endParaRPr lang="ko-KR" sz="1350" dirty="0"/>
          </a:p>
        </p:txBody>
      </p:sp>
      <p:sp>
        <p:nvSpPr>
          <p:cNvPr id="12" name="Text 6"/>
          <p:cNvSpPr/>
          <p:nvPr/>
        </p:nvSpPr>
        <p:spPr>
          <a:xfrm>
            <a:off x="733127" y="4056608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청년 삶의 질 향상을 위해서는 사회적 불안 완화와 더불어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E5E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아노미적 조건에 대한 체계적 개입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 필수적. 통합적 지원 체계 구축 필요.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2026-08-16T09:08:08Z</dcterms:created>
  <dcterms:modified xsi:type="dcterms:W3CDTF">2026-08-16T09:08:08Z</dcterms:modified>
</cp:coreProperties>
</file>