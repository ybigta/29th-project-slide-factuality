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Roboto"/>
      <p:regular r:id="rId201314"/>
    </p:embeddedFont>
    <p:embeddedFont>
      <p:font typeface="Roboto Bold"/>
      <p:regular r:id="rId201315"/>
    </p:embeddedFont>
    <p:embeddedFont>
      <p:font typeface="Roboto Slab"/>
      <p:regular r:id="rId201316"/>
    </p:embeddedFont>
    <p:embeddedFont>
      <p:font typeface="Roboto Slab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2164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레오나르도 다 빈치의 회화기법 연구</a:t>
            </a:r>
            <a:endParaRPr lang="ko-KR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2021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모나리자를 중심으로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르네상스 회화의 배경과 특징</a:t>
            </a:r>
            <a:endParaRPr lang="ko-KR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206502"/>
            <a:ext cx="1391394" cy="215354"/>
          </a:xfrm>
          <a:prstGeom prst="roundRect">
            <a:avLst>
              <a:gd name="adj" fmla="val 7900"/>
            </a:avLst>
          </a:prstGeom>
          <a:solidFill>
            <a:srgbClr val="082545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48992"/>
            <a:ext cx="167848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2015학년도 석사학위논문</a:t>
            </a:r>
            <a:endParaRPr lang="ko-KR" sz="850" dirty="0"/>
          </a:p>
        </p:txBody>
      </p:sp>
      <p:sp>
        <p:nvSpPr>
          <p:cNvPr id="7" name="Shape 4"/>
          <p:cNvSpPr/>
          <p:nvPr/>
        </p:nvSpPr>
        <p:spPr>
          <a:xfrm>
            <a:off x="1958355" y="3206502"/>
            <a:ext cx="1240929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66A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43410" y="3248992"/>
            <a:ext cx="152801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8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경기대학교 교육대학원</a:t>
            </a:r>
            <a:endParaRPr lang="ko-KR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1370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르네상스란 무엇인가?</a:t>
            </a:r>
            <a:endParaRPr lang="ko-KR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969294"/>
            <a:ext cx="4722763" cy="1860500"/>
          </a:xfrm>
          <a:prstGeom prst="roundRect">
            <a:avLst>
              <a:gd name="adj" fmla="val 1143"/>
            </a:avLst>
          </a:prstGeom>
          <a:solidFill>
            <a:srgbClr val="3F4652"/>
          </a:solidFill>
          <a:ln/>
        </p:spPr>
      </p:sp>
      <p:sp>
        <p:nvSpPr>
          <p:cNvPr id="5" name="Shape 2"/>
          <p:cNvSpPr/>
          <p:nvPr/>
        </p:nvSpPr>
        <p:spPr>
          <a:xfrm>
            <a:off x="3925119" y="1969294"/>
            <a:ext cx="2361381" cy="1043657"/>
          </a:xfrm>
          <a:custGeom>
            <a:avLst/>
            <a:gdLst/>
            <a:ahLst/>
            <a:cxnLst/>
            <a:rect l="l" t="t" r="r" b="b"/>
            <a:pathLst>
              <a:path w="2361381" h="1043657">
                <a:moveTo>
                  <a:pt x="17721" y="0"/>
                </a:moveTo>
                <a:lnTo>
                  <a:pt x="2361381" y="0"/>
                </a:lnTo>
                <a:lnTo>
                  <a:pt x="2361381" y="1043657"/>
                </a:lnTo>
                <a:lnTo>
                  <a:pt x="0" y="1043657"/>
                </a:lnTo>
                <a:lnTo>
                  <a:pt x="0" y="17721"/>
                </a:lnTo>
                <a:arcTo hR="17721" wR="17721" stAng="10800000" swAng="5400000"/>
                <a:close/>
              </a:path>
            </a:pathLst>
          </a:custGeom>
          <a:solidFill>
            <a:srgbClr val="3F4652"/>
          </a:solidFill>
          <a:ln/>
        </p:spPr>
      </p:sp>
      <p:sp>
        <p:nvSpPr>
          <p:cNvPr id="6" name="Text 3"/>
          <p:cNvSpPr/>
          <p:nvPr/>
        </p:nvSpPr>
        <p:spPr>
          <a:xfrm>
            <a:off x="4066877" y="2111053"/>
            <a:ext cx="20778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중세 미술</a:t>
            </a:r>
            <a:endParaRPr lang="ko-KR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2417564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종교에 묶여 교회 절대권위 속에서 인간성을 잃은 미술</a:t>
            </a:r>
            <a:endParaRPr lang="ko-KR" sz="1100" dirty="0"/>
          </a:p>
        </p:txBody>
      </p:sp>
      <p:sp>
        <p:nvSpPr>
          <p:cNvPr id="8" name="Shape 5"/>
          <p:cNvSpPr/>
          <p:nvPr/>
        </p:nvSpPr>
        <p:spPr>
          <a:xfrm>
            <a:off x="6286500" y="1969294"/>
            <a:ext cx="2361381" cy="1043657"/>
          </a:xfrm>
          <a:custGeom>
            <a:avLst/>
            <a:gdLst/>
            <a:ahLst/>
            <a:cxnLst/>
            <a:rect l="l" t="t" r="r" b="b"/>
            <a:pathLst>
              <a:path w="2361381" h="1043657">
                <a:moveTo>
                  <a:pt x="0" y="0"/>
                </a:moveTo>
                <a:lnTo>
                  <a:pt x="2343661" y="0"/>
                </a:lnTo>
                <a:arcTo hR="17721" wR="17721" stAng="16200000" swAng="5400000"/>
                <a:lnTo>
                  <a:pt x="2361381" y="1043657"/>
                </a:lnTo>
                <a:lnTo>
                  <a:pt x="0" y="1043657"/>
                </a:lnTo>
                <a:lnTo>
                  <a:pt x="0" y="0"/>
                </a:lnTo>
                <a:close/>
              </a:path>
            </a:pathLst>
          </a:custGeom>
          <a:solidFill>
            <a:srgbClr val="3F4652"/>
          </a:solidFill>
          <a:ln/>
        </p:spPr>
      </p:sp>
      <p:sp>
        <p:nvSpPr>
          <p:cNvPr id="9" name="Shape 6"/>
          <p:cNvSpPr/>
          <p:nvPr/>
        </p:nvSpPr>
        <p:spPr>
          <a:xfrm>
            <a:off x="6286500" y="1969294"/>
            <a:ext cx="19050" cy="1043657"/>
          </a:xfrm>
          <a:prstGeom prst="roundRect">
            <a:avLst>
              <a:gd name="adj" fmla="val 50000"/>
            </a:avLst>
          </a:prstGeom>
          <a:solidFill>
            <a:srgbClr val="585F6B"/>
          </a:solidFill>
          <a:ln/>
        </p:spPr>
      </p:sp>
      <p:sp>
        <p:nvSpPr>
          <p:cNvPr id="10" name="Text 7"/>
          <p:cNvSpPr/>
          <p:nvPr/>
        </p:nvSpPr>
        <p:spPr>
          <a:xfrm>
            <a:off x="6428259" y="2111053"/>
            <a:ext cx="20778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르네상스 미술</a:t>
            </a:r>
            <a:endParaRPr lang="ko-KR" sz="1350" dirty="0"/>
          </a:p>
        </p:txBody>
      </p:sp>
      <p:sp>
        <p:nvSpPr>
          <p:cNvPr id="11" name="Text 8"/>
          <p:cNvSpPr/>
          <p:nvPr/>
        </p:nvSpPr>
        <p:spPr>
          <a:xfrm>
            <a:off x="6428259" y="2417564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14~15세기 이탈리아에서 시작된 정신적 자각, 인간성 회복</a:t>
            </a:r>
            <a:endParaRPr lang="ko-KR" sz="1100" dirty="0"/>
          </a:p>
        </p:txBody>
      </p:sp>
      <p:sp>
        <p:nvSpPr>
          <p:cNvPr id="12" name="Shape 9"/>
          <p:cNvSpPr/>
          <p:nvPr/>
        </p:nvSpPr>
        <p:spPr>
          <a:xfrm>
            <a:off x="3925119" y="3012951"/>
            <a:ext cx="4722763" cy="816843"/>
          </a:xfrm>
          <a:custGeom>
            <a:avLst/>
            <a:gdLst/>
            <a:ahLst/>
            <a:cxnLst/>
            <a:rect l="l" t="t" r="r" b="b"/>
            <a:pathLst>
              <a:path w="4722763" h="816843">
                <a:moveTo>
                  <a:pt x="0" y="0"/>
                </a:moveTo>
                <a:lnTo>
                  <a:pt x="4722763" y="0"/>
                </a:lnTo>
                <a:lnTo>
                  <a:pt x="4722763" y="799122"/>
                </a:lnTo>
                <a:arcTo hR="17721" wR="17721" stAng="0" swAng="5400000"/>
                <a:lnTo>
                  <a:pt x="17721" y="816843"/>
                </a:lnTo>
                <a:arcTo hR="17721" wR="17721" stAng="5400000" swAng="5400000"/>
                <a:lnTo>
                  <a:pt x="0" y="0"/>
                </a:lnTo>
                <a:close/>
              </a:path>
            </a:pathLst>
          </a:custGeom>
          <a:solidFill>
            <a:srgbClr val="3F4652"/>
          </a:solidFill>
          <a:ln/>
        </p:spPr>
      </p:sp>
      <p:sp>
        <p:nvSpPr>
          <p:cNvPr id="13" name="Shape 10"/>
          <p:cNvSpPr/>
          <p:nvPr/>
        </p:nvSpPr>
        <p:spPr>
          <a:xfrm>
            <a:off x="3925119" y="3012951"/>
            <a:ext cx="4722763" cy="19050"/>
          </a:xfrm>
          <a:prstGeom prst="roundRect">
            <a:avLst>
              <a:gd name="adj" fmla="val 50000"/>
            </a:avLst>
          </a:prstGeom>
          <a:solidFill>
            <a:srgbClr val="585F6B"/>
          </a:solidFill>
          <a:ln/>
        </p:spPr>
      </p:sp>
      <p:sp>
        <p:nvSpPr>
          <p:cNvPr id="14" name="Text 11"/>
          <p:cNvSpPr/>
          <p:nvPr/>
        </p:nvSpPr>
        <p:spPr>
          <a:xfrm>
            <a:off x="4066877" y="3154710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핵심 정신</a:t>
            </a:r>
            <a:endParaRPr lang="ko-KR" sz="1350" dirty="0"/>
          </a:p>
        </p:txBody>
      </p:sp>
      <p:sp>
        <p:nvSpPr>
          <p:cNvPr id="15" name="Text 12"/>
          <p:cNvSpPr/>
          <p:nvPr/>
        </p:nvSpPr>
        <p:spPr>
          <a:xfrm>
            <a:off x="4066877" y="3461221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그리스·로마 고대 문명 재발견, 인본주의와 자연과학의 결합</a:t>
            </a:r>
            <a:endParaRPr lang="ko-KR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760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르네상스 회화의 특징</a:t>
            </a:r>
            <a:endParaRPr lang="ko-KR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14463"/>
            <a:ext cx="5185172" cy="291665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0201" y="1176040"/>
            <a:ext cx="2642369" cy="10481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14542" y="1323231"/>
            <a:ext cx="2290837" cy="217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🎨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투시 원근법</a:t>
            </a:r>
            <a:endParaRPr lang="ko-KR" sz="1300" dirty="0"/>
          </a:p>
        </p:txBody>
      </p:sp>
      <p:sp>
        <p:nvSpPr>
          <p:cNvPr id="6" name="Text 2"/>
          <p:cNvSpPr/>
          <p:nvPr/>
        </p:nvSpPr>
        <p:spPr>
          <a:xfrm>
            <a:off x="6214542" y="1665015"/>
            <a:ext cx="229083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ko-KR" alt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해부학 발전과 함께 모든 회화에 적용되어 그림의 구체성을 높임</a:t>
            </a:r>
            <a:endParaRPr lang="ko-KR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0201" y="2348731"/>
            <a:ext cx="2642369" cy="104812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14542" y="2495922"/>
            <a:ext cx="2290837" cy="217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🏛️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고전 소재</a:t>
            </a:r>
            <a:endParaRPr lang="ko-KR" sz="1300" dirty="0"/>
          </a:p>
        </p:txBody>
      </p:sp>
      <p:sp>
        <p:nvSpPr>
          <p:cNvPr id="9" name="Text 4"/>
          <p:cNvSpPr/>
          <p:nvPr/>
        </p:nvSpPr>
        <p:spPr>
          <a:xfrm>
            <a:off x="6214542" y="2837706"/>
            <a:ext cx="229083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ko-KR" alt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종교적 소재와 그리스·로마 신화 소재가 함께 그려짐</a:t>
            </a:r>
            <a:endParaRPr lang="ko-KR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0201" y="3521422"/>
            <a:ext cx="2642369" cy="104812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14542" y="3668613"/>
            <a:ext cx="2290837" cy="217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🧍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인간 중심</a:t>
            </a:r>
            <a:endParaRPr lang="ko-KR" sz="1300" dirty="0"/>
          </a:p>
        </p:txBody>
      </p:sp>
      <p:sp>
        <p:nvSpPr>
          <p:cNvPr id="12" name="Text 6"/>
          <p:cNvSpPr/>
          <p:nvPr/>
        </p:nvSpPr>
        <p:spPr>
          <a:xfrm>
            <a:off x="6214542" y="4010397"/>
            <a:ext cx="229083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ko-KR" alt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비례와 이상미 등 보편적 법칙 추구, 인간의 존엄 표현</a:t>
            </a:r>
            <a:endParaRPr lang="ko-KR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2938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르네상스 미술의 개척자들</a:t>
            </a:r>
            <a:endParaRPr lang="ko-KR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784970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1926729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지오토</a:t>
            </a:r>
            <a:endParaRPr lang="ko-KR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233240"/>
            <a:ext cx="2006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관념적 평면 회화를 극복, 입체감과 실제감 표현 기법 창시</a:t>
            </a:r>
            <a:endParaRPr lang="ko-KR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784970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1926729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마사치오</a:t>
            </a:r>
            <a:endParaRPr lang="ko-KR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233240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르네상스 창시자. 인체를 진짜 인간처럼 묘사, 투시도법과 명암법으로 새 시대 열음</a:t>
            </a:r>
            <a:endParaRPr lang="ko-KR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197200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338959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브루넬레스키</a:t>
            </a:r>
            <a:endParaRPr lang="ko-KR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645471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원근법 발견, 피렌체 대성당 돔 건축으로 유명</a:t>
            </a:r>
            <a:endParaRPr lang="ko-KR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이탈리아 vs 북유럽 르네상스</a:t>
            </a:r>
            <a:endParaRPr lang="ko-KR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503884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ko-KR" alt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이탈리아와 북유럽은 활발한 교역과 예술가 교류를 통해 서로의 예술적 성취를 공유했습니다. 피렌체는 메디치 가문의 후원으로 문화적 전성기를 누렸고, 베네치아는 동방 무역의 관문으로 풍부한 재력이 예술가들을 끌어들였습니다.</a:t>
            </a:r>
            <a:endParaRPr lang="ko-KR" sz="550" dirty="0"/>
          </a:p>
        </p:txBody>
      </p:sp>
      <p:sp>
        <p:nvSpPr>
          <p:cNvPr id="5" name="Shape 2"/>
          <p:cNvSpPr/>
          <p:nvPr/>
        </p:nvSpPr>
        <p:spPr>
          <a:xfrm>
            <a:off x="4665911" y="2723331"/>
            <a:ext cx="3986733" cy="192732"/>
          </a:xfrm>
          <a:prstGeom prst="roundRect">
            <a:avLst>
              <a:gd name="adj" fmla="val 5689"/>
            </a:avLst>
          </a:prstGeom>
          <a:solidFill>
            <a:srgbClr val="0D3E7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985" y="2781895"/>
            <a:ext cx="91306" cy="730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03366" y="2775421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ko-KR" altLang="en-US" sz="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안토넬로 다 메시나가 1475년 베네치아에 입성하며 플랑드르 유화 기법을 전파했습니다.</a:t>
            </a:r>
            <a:endParaRPr lang="ko-KR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81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르네상스 거장들의 계보</a:t>
            </a:r>
            <a:endParaRPr lang="ko-KR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741861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585F6B"/>
          </a:solidFill>
          <a:ln/>
        </p:spPr>
      </p:sp>
      <p:sp>
        <p:nvSpPr>
          <p:cNvPr id="4" name="Shape 2"/>
          <p:cNvSpPr/>
          <p:nvPr/>
        </p:nvSpPr>
        <p:spPr>
          <a:xfrm>
            <a:off x="2063725" y="2316584"/>
            <a:ext cx="19050" cy="425276"/>
          </a:xfrm>
          <a:prstGeom prst="roundRect">
            <a:avLst>
              <a:gd name="adj" fmla="val 50000"/>
            </a:avLst>
          </a:prstGeom>
          <a:solidFill>
            <a:srgbClr val="585F6B"/>
          </a:solidFill>
          <a:ln/>
        </p:spPr>
      </p:sp>
      <p:sp>
        <p:nvSpPr>
          <p:cNvPr id="5" name="Shape 3"/>
          <p:cNvSpPr/>
          <p:nvPr/>
        </p:nvSpPr>
        <p:spPr>
          <a:xfrm>
            <a:off x="1913781" y="2582391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6" name="Text 4"/>
          <p:cNvSpPr/>
          <p:nvPr/>
        </p:nvSpPr>
        <p:spPr>
          <a:xfrm>
            <a:off x="1966950" y="260895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37877" y="1414686"/>
            <a:ext cx="28708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1400년대 초반</a:t>
            </a:r>
            <a:endParaRPr lang="ko-KR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1721197"/>
            <a:ext cx="28708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마사치오 — 르네상스 회화 양식 확립</a:t>
            </a:r>
            <a:endParaRPr lang="ko-KR" sz="1100" dirty="0"/>
          </a:p>
        </p:txBody>
      </p:sp>
      <p:sp>
        <p:nvSpPr>
          <p:cNvPr id="9" name="Shape 7"/>
          <p:cNvSpPr/>
          <p:nvPr/>
        </p:nvSpPr>
        <p:spPr>
          <a:xfrm>
            <a:off x="3729558" y="2741861"/>
            <a:ext cx="19050" cy="425276"/>
          </a:xfrm>
          <a:prstGeom prst="roundRect">
            <a:avLst>
              <a:gd name="adj" fmla="val 50000"/>
            </a:avLst>
          </a:prstGeom>
          <a:solidFill>
            <a:srgbClr val="585F6B"/>
          </a:solidFill>
          <a:ln/>
        </p:spPr>
      </p:sp>
      <p:sp>
        <p:nvSpPr>
          <p:cNvPr id="10" name="Shape 8"/>
          <p:cNvSpPr/>
          <p:nvPr/>
        </p:nvSpPr>
        <p:spPr>
          <a:xfrm>
            <a:off x="3579614" y="2582391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1" name="Text 9"/>
          <p:cNvSpPr/>
          <p:nvPr/>
        </p:nvSpPr>
        <p:spPr>
          <a:xfrm>
            <a:off x="3632783" y="260895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303636" y="3308896"/>
            <a:ext cx="28708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1400년대 중반</a:t>
            </a:r>
            <a:endParaRPr lang="ko-KR" sz="1350" dirty="0"/>
          </a:p>
        </p:txBody>
      </p:sp>
      <p:sp>
        <p:nvSpPr>
          <p:cNvPr id="13" name="Text 11"/>
          <p:cNvSpPr/>
          <p:nvPr/>
        </p:nvSpPr>
        <p:spPr>
          <a:xfrm>
            <a:off x="2303636" y="3615407"/>
            <a:ext cx="28708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폴라이우올로 형제, 베로키오 — 인체 해부, 과학적 탐구</a:t>
            </a:r>
            <a:endParaRPr lang="ko-KR" sz="1100" dirty="0"/>
          </a:p>
        </p:txBody>
      </p:sp>
      <p:sp>
        <p:nvSpPr>
          <p:cNvPr id="14" name="Shape 12"/>
          <p:cNvSpPr/>
          <p:nvPr/>
        </p:nvSpPr>
        <p:spPr>
          <a:xfrm>
            <a:off x="5395317" y="2316584"/>
            <a:ext cx="19050" cy="425276"/>
          </a:xfrm>
          <a:prstGeom prst="roundRect">
            <a:avLst>
              <a:gd name="adj" fmla="val 50000"/>
            </a:avLst>
          </a:prstGeom>
          <a:solidFill>
            <a:srgbClr val="585F6B"/>
          </a:solidFill>
          <a:ln/>
        </p:spPr>
      </p:sp>
      <p:sp>
        <p:nvSpPr>
          <p:cNvPr id="15" name="Shape 13"/>
          <p:cNvSpPr/>
          <p:nvPr/>
        </p:nvSpPr>
        <p:spPr>
          <a:xfrm>
            <a:off x="5245373" y="2582391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6" name="Text 14"/>
          <p:cNvSpPr/>
          <p:nvPr/>
        </p:nvSpPr>
        <p:spPr>
          <a:xfrm>
            <a:off x="5298542" y="260895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969395" y="1414686"/>
            <a:ext cx="28708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1400년대 후반</a:t>
            </a:r>
            <a:endParaRPr lang="ko-KR" sz="1350" dirty="0"/>
          </a:p>
        </p:txBody>
      </p:sp>
      <p:sp>
        <p:nvSpPr>
          <p:cNvPr id="18" name="Text 16"/>
          <p:cNvSpPr/>
          <p:nvPr/>
        </p:nvSpPr>
        <p:spPr>
          <a:xfrm>
            <a:off x="3969395" y="1721197"/>
            <a:ext cx="28708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기를란다요 — 객관적 사실주의, 보티첼리 — 고대와 중세의 화해</a:t>
            </a:r>
            <a:endParaRPr lang="ko-KR" sz="1100" dirty="0"/>
          </a:p>
        </p:txBody>
      </p:sp>
      <p:sp>
        <p:nvSpPr>
          <p:cNvPr id="19" name="Shape 17"/>
          <p:cNvSpPr/>
          <p:nvPr/>
        </p:nvSpPr>
        <p:spPr>
          <a:xfrm>
            <a:off x="7061150" y="2741861"/>
            <a:ext cx="19050" cy="425276"/>
          </a:xfrm>
          <a:prstGeom prst="roundRect">
            <a:avLst>
              <a:gd name="adj" fmla="val 50000"/>
            </a:avLst>
          </a:prstGeom>
          <a:solidFill>
            <a:srgbClr val="585F6B"/>
          </a:solidFill>
          <a:ln/>
        </p:spPr>
      </p:sp>
      <p:sp>
        <p:nvSpPr>
          <p:cNvPr id="20" name="Shape 18"/>
          <p:cNvSpPr/>
          <p:nvPr/>
        </p:nvSpPr>
        <p:spPr>
          <a:xfrm>
            <a:off x="6911206" y="2582391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21" name="Text 19"/>
          <p:cNvSpPr/>
          <p:nvPr/>
        </p:nvSpPr>
        <p:spPr>
          <a:xfrm>
            <a:off x="6964375" y="260895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635228" y="3308896"/>
            <a:ext cx="28708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1500년대</a:t>
            </a:r>
            <a:endParaRPr lang="ko-KR" sz="1350" dirty="0"/>
          </a:p>
        </p:txBody>
      </p:sp>
      <p:sp>
        <p:nvSpPr>
          <p:cNvPr id="23" name="Text 21"/>
          <p:cNvSpPr/>
          <p:nvPr/>
        </p:nvSpPr>
        <p:spPr>
          <a:xfrm>
            <a:off x="5635228" y="3615407"/>
            <a:ext cx="28708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레오나르도 다 빈치 — 집대성</a:t>
            </a:r>
            <a:endParaRPr lang="ko-KR" sz="1100" dirty="0"/>
          </a:p>
        </p:txBody>
      </p:sp>
      <p:sp>
        <p:nvSpPr>
          <p:cNvPr id="24" name="Text 22"/>
          <p:cNvSpPr/>
          <p:nvPr/>
        </p:nvSpPr>
        <p:spPr>
          <a:xfrm>
            <a:off x="496119" y="422850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거장들의 예술적 성취가 레오나르도 다 빈치에게 이어져, 그의 회화기법 연구의 토대가 되었습니다.</a:t>
            </a:r>
            <a:endParaRPr lang="ko-KR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2729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다음 발표 예고</a:t>
            </a:r>
            <a:endParaRPr lang="ko-KR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782887"/>
            <a:ext cx="2290465" cy="1269876"/>
          </a:xfrm>
          <a:prstGeom prst="roundRect">
            <a:avLst>
              <a:gd name="adj" fmla="val 1675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1924645"/>
            <a:ext cx="2006947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🔬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레오나르도의 과학적 접근</a:t>
            </a:r>
            <a:endParaRPr lang="ko-KR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457376"/>
            <a:ext cx="2006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해부학, 광학, 자연 관찰이 회화에 어떻게 적용되었는가?</a:t>
            </a:r>
            <a:endParaRPr lang="ko-KR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782887"/>
            <a:ext cx="2290539" cy="1269876"/>
          </a:xfrm>
          <a:prstGeom prst="roundRect">
            <a:avLst>
              <a:gd name="adj" fmla="val 1675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1924645"/>
            <a:ext cx="2007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🖌️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스푸마토 기법</a:t>
            </a:r>
            <a:endParaRPr lang="ko-KR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235919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모나리자의 신비로운 미소를 만든 레오나르도만의 독특한 기법</a:t>
            </a:r>
            <a:endParaRPr lang="ko-KR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194521"/>
            <a:ext cx="4722763" cy="821606"/>
          </a:xfrm>
          <a:prstGeom prst="roundRect">
            <a:avLst>
              <a:gd name="adj" fmla="val 2588"/>
            </a:avLst>
          </a:prstGeom>
          <a:solidFill>
            <a:srgbClr val="3F4652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336280"/>
            <a:ext cx="443924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🖼️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모나리자 분석</a:t>
            </a:r>
            <a:endParaRPr lang="ko-KR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647554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구도, 색채, 명암을 통해 르네상스 회화기법의 정수 살펴보기</a:t>
            </a:r>
            <a:endParaRPr lang="ko-KR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2026-08-16T09:08:21Z</dcterms:created>
  <dcterms:modified xsi:type="dcterms:W3CDTF">2026-08-16T09:08:21Z</dcterms:modified>
</cp:coreProperties>
</file>