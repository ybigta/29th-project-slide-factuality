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3A"/>
        </a:solidFill>
      </p:bgPr>
    </p:bg>
    <p:spTree>
      <p:nvGrpSpPr>
        <p:cNvPr id="1" name=""/>
        <p:cNvGrpSpPr/>
        <p:nvPr/>
      </p:nvGrpSpPr>
      <p:grpSpPr>
        <a:xfrm>
          <a:off x="0" y="0"/>
          <a:ext cx="0" cy="0"/>
          <a:chOff x="0" y="0"/>
          <a:chExt cx="0" cy="0"/>
        </a:xfrm>
      </p:grpSpPr>
      <p:sp>
        <p:nvSpPr>
          <p:cNvPr id="2" name="Text 0"/>
          <p:cNvSpPr/>
          <p:nvPr/>
        </p:nvSpPr>
        <p:spPr>
          <a:xfrm>
            <a:off x="822960" y="1920240"/>
            <a:ext cx="10515600" cy="365760"/>
          </a:xfrm>
          <a:prstGeom prst="rect">
            <a:avLst/>
          </a:prstGeom>
          <a:noFill/>
          <a:ln/>
        </p:spPr>
        <p:txBody>
          <a:bodyPr wrap="square" rtlCol="0" anchor="ctr"/>
          <a:lstStyle/>
          <a:p>
            <a:pPr indent="0" marL="0">
              <a:buNone/>
            </a:pPr>
            <a:r>
              <a:rPr lang="en-US" sz="1250" b="1" spc="250" kern="0" dirty="0">
                <a:solidFill>
                  <a:srgbClr val="2E8B8B"/>
                </a:solidFill>
                <a:latin typeface="Arial" pitchFamily="34" charset="0"/>
                <a:ea typeface="Arial" pitchFamily="34" charset="-122"/>
                <a:cs typeface="Arial" pitchFamily="34" charset="-120"/>
              </a:rPr>
              <a:t>2026 한국경제포럼 학술논문</a:t>
            </a:r>
            <a:endParaRPr lang="en-US" sz="1250" dirty="0"/>
          </a:p>
        </p:txBody>
      </p:sp>
      <p:sp>
        <p:nvSpPr>
          <p:cNvPr id="3" name="Text 1"/>
          <p:cNvSpPr/>
          <p:nvPr/>
        </p:nvSpPr>
        <p:spPr>
          <a:xfrm>
            <a:off x="822960" y="2331720"/>
            <a:ext cx="10515600" cy="1463040"/>
          </a:xfrm>
          <a:prstGeom prst="rect">
            <a:avLst/>
          </a:prstGeom>
          <a:noFill/>
          <a:ln/>
        </p:spPr>
        <p:txBody>
          <a:bodyPr wrap="square" rtlCol="0" anchor="ctr"/>
          <a:lstStyle/>
          <a:p>
            <a:pPr indent="0" marL="0">
              <a:lnSpc>
                <a:spcPct val="115000"/>
              </a:lnSpc>
              <a:buNone/>
            </a:pPr>
            <a:r>
              <a:rPr lang="en-US" sz="3000" b="1" dirty="0">
                <a:solidFill>
                  <a:srgbClr val="FFFFFF"/>
                </a:solidFill>
                <a:latin typeface="Arial" pitchFamily="34" charset="0"/>
                <a:ea typeface="Arial" pitchFamily="34" charset="-122"/>
                <a:cs typeface="Arial" pitchFamily="34" charset="-120"/>
              </a:rPr>
              <a:t>생성형 AI의 업무 활용 실태와 생산성 인식</a:t>
            </a:r>
            <a:endParaRPr lang="en-US" sz="3000" dirty="0"/>
          </a:p>
        </p:txBody>
      </p:sp>
      <p:sp>
        <p:nvSpPr>
          <p:cNvPr id="4" name="Text 2"/>
          <p:cNvSpPr/>
          <p:nvPr/>
        </p:nvSpPr>
        <p:spPr>
          <a:xfrm>
            <a:off x="822960" y="3977640"/>
            <a:ext cx="9966960" cy="2194560"/>
          </a:xfrm>
          <a:prstGeom prst="rect">
            <a:avLst/>
          </a:prstGeom>
          <a:noFill/>
          <a:ln/>
        </p:spPr>
        <p:txBody>
          <a:bodyPr wrap="square" rtlCol="0" anchor="t"/>
          <a:lstStyle/>
          <a:p>
            <a:pPr indent="0" marL="0">
              <a:lnSpc>
                <a:spcPct val="130000"/>
              </a:lnSpc>
              <a:buNone/>
            </a:pPr>
            <a:r>
              <a:rPr lang="en-US" sz="1300" i="1" dirty="0">
                <a:solidFill>
                  <a:srgbClr val="C6DCE0"/>
                </a:solidFill>
                <a:latin typeface="Arial" pitchFamily="34" charset="0"/>
                <a:ea typeface="Arial" pitchFamily="34" charset="-122"/>
                <a:cs typeface="Arial" pitchFamily="34" charset="-120"/>
              </a:rPr>
              <a:t>한국 임금근로자를 중심으로 — 이창근(KDI국제정책대학원 교수) · 김용미(대한상공회의소 경제연구원 연구위원). 본 연구는 전국 임금근로자 2,992명을 대상으로 한 대규모 설문조사를 활용하여 생성형 AI의 업무 활용 실태와 인식된 생산성 효과를 실증적으로 분석한다.</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 cy="365760"/>
          </a:xfrm>
          <a:prstGeom prst="rect">
            <a:avLst/>
          </a:prstGeom>
          <a:noFill/>
          <a:ln/>
        </p:spPr>
        <p:txBody>
          <a:bodyPr wrap="square" rtlCol="0" anchor="ctr"/>
          <a:lstStyle/>
          <a:p>
            <a:pPr indent="0" marL="0">
              <a:buNone/>
            </a:pPr>
            <a:r>
              <a:rPr lang="en-US" sz="1200" b="1" spc="200" kern="0" dirty="0">
                <a:solidFill>
                  <a:srgbClr val="1B4F5C"/>
                </a:solidFill>
                <a:latin typeface="Arial" pitchFamily="34" charset="0"/>
                <a:ea typeface="Arial" pitchFamily="34" charset="-122"/>
                <a:cs typeface="Arial" pitchFamily="34" charset="-120"/>
              </a:rPr>
              <a:t>02</a:t>
            </a:r>
            <a:endParaRPr lang="en-US" sz="1200" dirty="0"/>
          </a:p>
        </p:txBody>
      </p:sp>
      <p:sp>
        <p:nvSpPr>
          <p:cNvPr id="3" name="Text 1"/>
          <p:cNvSpPr/>
          <p:nvPr/>
        </p:nvSpPr>
        <p:spPr>
          <a:xfrm>
            <a:off x="548640" y="731520"/>
            <a:ext cx="11064240" cy="914400"/>
          </a:xfrm>
          <a:prstGeom prst="rect">
            <a:avLst/>
          </a:prstGeom>
          <a:noFill/>
          <a:ln/>
        </p:spPr>
        <p:txBody>
          <a:bodyPr wrap="square" rtlCol="0" anchor="t"/>
          <a:lstStyle/>
          <a:p>
            <a:pPr indent="0" marL="0">
              <a:lnSpc>
                <a:spcPct val="105000"/>
              </a:lnSpc>
              <a:buNone/>
            </a:pPr>
            <a:r>
              <a:rPr lang="en-US" sz="2500" b="1" dirty="0">
                <a:solidFill>
                  <a:srgbClr val="12203A"/>
                </a:solidFill>
                <a:latin typeface="Arial" pitchFamily="34" charset="0"/>
                <a:ea typeface="Arial" pitchFamily="34" charset="-122"/>
                <a:cs typeface="Arial" pitchFamily="34" charset="-120"/>
              </a:rPr>
              <a:t>서론: AI는 왜 생산성 논쟁의 핵심인가?</a:t>
            </a:r>
            <a:endParaRPr lang="en-US" sz="2500" dirty="0"/>
          </a:p>
        </p:txBody>
      </p:sp>
      <p:sp>
        <p:nvSpPr>
          <p:cNvPr id="4" name="Text 2"/>
          <p:cNvSpPr/>
          <p:nvPr/>
        </p:nvSpPr>
        <p:spPr>
          <a:xfrm>
            <a:off x="640080" y="1783080"/>
            <a:ext cx="10881360" cy="365760"/>
          </a:xfrm>
          <a:prstGeom prst="rect">
            <a:avLst/>
          </a:prstGeom>
          <a:noFill/>
          <a:ln/>
        </p:spPr>
        <p:txBody>
          <a:bodyPr wrap="square" rtlCol="0" anchor="ctr"/>
          <a:lstStyle/>
          <a:p>
            <a:pPr indent="0" marL="0">
              <a:buNone/>
            </a:pPr>
            <a:r>
              <a:rPr lang="en-US" sz="1250" i="1" dirty="0">
                <a:solidFill>
                  <a:srgbClr val="5A6577"/>
                </a:solidFill>
                <a:latin typeface="Arial" pitchFamily="34" charset="0"/>
                <a:ea typeface="Arial" pitchFamily="34" charset="-122"/>
                <a:cs typeface="Arial" pitchFamily="34" charset="-120"/>
              </a:rPr>
              <a:t>생성형 AI의 급속한 확산   ·   기존 연구의 두 가지 한계   ·   본 연구의 접근</a:t>
            </a:r>
            <a:endParaRPr lang="en-US" sz="1250" dirty="0"/>
          </a:p>
        </p:txBody>
      </p:sp>
      <p:sp>
        <p:nvSpPr>
          <p:cNvPr id="5" name="Shape 3"/>
          <p:cNvSpPr/>
          <p:nvPr/>
        </p:nvSpPr>
        <p:spPr>
          <a:xfrm>
            <a:off x="640080" y="2286000"/>
            <a:ext cx="10881360" cy="1517904"/>
          </a:xfrm>
          <a:prstGeom prst="roundRect">
            <a:avLst>
              <a:gd name="adj" fmla="val 3614"/>
            </a:avLst>
          </a:prstGeom>
          <a:solidFill>
            <a:srgbClr val="F5F7FA"/>
          </a:solidFill>
          <a:ln w="12700">
            <a:solidFill>
              <a:srgbClr val="DCE4EA"/>
            </a:solidFill>
            <a:prstDash val="solid"/>
          </a:ln>
        </p:spPr>
      </p:sp>
      <p:sp>
        <p:nvSpPr>
          <p:cNvPr id="6" name="Text 4"/>
          <p:cNvSpPr/>
          <p:nvPr/>
        </p:nvSpPr>
        <p:spPr>
          <a:xfrm>
            <a:off x="914400" y="2395728"/>
            <a:ext cx="10332720" cy="1298448"/>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AI는 컴퓨터와 인터넷에 이어 등장한 차세대 범용기술(GPT)로 평가받으며, Statista에 따르면 AI 시장 규모는 2025~2031년 연평균 36.89% 성장해 2031년 1조 6,800억 달러에 달할 것으로 전망된다. 2022년 말 0.08%에 불과했던 생성형 AI 언급 비중은 2025년 15.2%까지 급증했다.</a:t>
            </a:r>
            <a:endParaRPr lang="en-US" sz="1350" dirty="0"/>
          </a:p>
        </p:txBody>
      </p:sp>
      <p:sp>
        <p:nvSpPr>
          <p:cNvPr id="7" name="Shape 5"/>
          <p:cNvSpPr/>
          <p:nvPr/>
        </p:nvSpPr>
        <p:spPr>
          <a:xfrm>
            <a:off x="640080" y="4032504"/>
            <a:ext cx="10881360" cy="1133856"/>
          </a:xfrm>
          <a:prstGeom prst="roundRect">
            <a:avLst>
              <a:gd name="adj" fmla="val 4839"/>
            </a:avLst>
          </a:prstGeom>
          <a:solidFill>
            <a:srgbClr val="F5F7FA"/>
          </a:solidFill>
          <a:ln w="12700">
            <a:solidFill>
              <a:srgbClr val="DCE4EA"/>
            </a:solidFill>
            <a:prstDash val="solid"/>
          </a:ln>
        </p:spPr>
      </p:sp>
      <p:sp>
        <p:nvSpPr>
          <p:cNvPr id="8" name="Text 6"/>
          <p:cNvSpPr/>
          <p:nvPr/>
        </p:nvSpPr>
        <p:spPr>
          <a:xfrm>
            <a:off x="914400" y="4142232"/>
            <a:ext cx="10332720" cy="914400"/>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기존 연구는 대부분 미국·유럽 중심의 통제된 일회성 실험이거나 직무 차원의 기술적 노출도 분석에 편중되어 있어, 실제 조직 내 근로자의 활용 실태를 대규모로 실측한 자료가 부족하다. 또한 자기보고식 설문은 과대추정 편향의 가능성을 내포한다.</a:t>
            </a:r>
            <a:endParaRPr lang="en-US" sz="1350" dirty="0"/>
          </a:p>
        </p:txBody>
      </p:sp>
      <p:sp>
        <p:nvSpPr>
          <p:cNvPr id="9" name="Shape 7"/>
          <p:cNvSpPr/>
          <p:nvPr/>
        </p:nvSpPr>
        <p:spPr>
          <a:xfrm>
            <a:off x="640080" y="5394960"/>
            <a:ext cx="10881360" cy="822960"/>
          </a:xfrm>
          <a:prstGeom prst="roundRect">
            <a:avLst>
              <a:gd name="adj" fmla="val 6667"/>
            </a:avLst>
          </a:prstGeom>
          <a:solidFill>
            <a:srgbClr val="F5F7FA"/>
          </a:solidFill>
          <a:ln w="12700">
            <a:solidFill>
              <a:srgbClr val="DCE4EA"/>
            </a:solidFill>
            <a:prstDash val="solid"/>
          </a:ln>
        </p:spPr>
      </p:sp>
      <p:sp>
        <p:nvSpPr>
          <p:cNvPr id="10" name="Text 8"/>
          <p:cNvSpPr/>
          <p:nvPr/>
        </p:nvSpPr>
        <p:spPr>
          <a:xfrm>
            <a:off x="914400" y="5504688"/>
            <a:ext cx="10332720" cy="603504"/>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이에 본 연구는 세계 최초로 AI 기업의 내부 로그 데이터를 직접 수집·분석하여 이러한 한계를 근본적으로 해결하였다.</a:t>
            </a:r>
            <a:endParaRPr lang="en-US" sz="1350" dirty="0"/>
          </a:p>
        </p:txBody>
      </p:sp>
      <p:sp>
        <p:nvSpPr>
          <p:cNvPr id="11" name="Text 9"/>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5A6577"/>
                </a:solidFill>
                <a:latin typeface="Arial" pitchFamily="34" charset="0"/>
                <a:ea typeface="Arial" pitchFamily="34" charset="-122"/>
                <a:cs typeface="Arial"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 cy="365760"/>
          </a:xfrm>
          <a:prstGeom prst="rect">
            <a:avLst/>
          </a:prstGeom>
          <a:noFill/>
          <a:ln/>
        </p:spPr>
        <p:txBody>
          <a:bodyPr wrap="square" rtlCol="0" anchor="ctr"/>
          <a:lstStyle/>
          <a:p>
            <a:pPr indent="0" marL="0">
              <a:buNone/>
            </a:pPr>
            <a:r>
              <a:rPr lang="en-US" sz="1200" b="1" spc="200" kern="0" dirty="0">
                <a:solidFill>
                  <a:srgbClr val="1B4F5C"/>
                </a:solidFill>
                <a:latin typeface="Arial" pitchFamily="34" charset="0"/>
                <a:ea typeface="Arial" pitchFamily="34" charset="-122"/>
                <a:cs typeface="Arial" pitchFamily="34" charset="-120"/>
              </a:rPr>
              <a:t>03</a:t>
            </a:r>
            <a:endParaRPr lang="en-US" sz="1200" dirty="0"/>
          </a:p>
        </p:txBody>
      </p:sp>
      <p:sp>
        <p:nvSpPr>
          <p:cNvPr id="3" name="Text 1"/>
          <p:cNvSpPr/>
          <p:nvPr/>
        </p:nvSpPr>
        <p:spPr>
          <a:xfrm>
            <a:off x="548640" y="731520"/>
            <a:ext cx="11064240" cy="914400"/>
          </a:xfrm>
          <a:prstGeom prst="rect">
            <a:avLst/>
          </a:prstGeom>
          <a:noFill/>
          <a:ln/>
        </p:spPr>
        <p:txBody>
          <a:bodyPr wrap="square" rtlCol="0" anchor="t"/>
          <a:lstStyle/>
          <a:p>
            <a:pPr indent="0" marL="0">
              <a:lnSpc>
                <a:spcPct val="105000"/>
              </a:lnSpc>
              <a:buNone/>
            </a:pPr>
            <a:r>
              <a:rPr lang="en-US" sz="2500" b="1" dirty="0">
                <a:solidFill>
                  <a:srgbClr val="12203A"/>
                </a:solidFill>
                <a:latin typeface="Arial" pitchFamily="34" charset="0"/>
                <a:ea typeface="Arial" pitchFamily="34" charset="-122"/>
                <a:cs typeface="Arial" pitchFamily="34" charset="-120"/>
              </a:rPr>
              <a:t>연구 설계: 2,992명 임금근로자 설문조사</a:t>
            </a:r>
            <a:endParaRPr lang="en-US" sz="2500" dirty="0"/>
          </a:p>
        </p:txBody>
      </p:sp>
      <p:sp>
        <p:nvSpPr>
          <p:cNvPr id="4" name="Shape 2"/>
          <p:cNvSpPr/>
          <p:nvPr/>
        </p:nvSpPr>
        <p:spPr>
          <a:xfrm>
            <a:off x="640080" y="1783080"/>
            <a:ext cx="10881360" cy="1517904"/>
          </a:xfrm>
          <a:prstGeom prst="roundRect">
            <a:avLst>
              <a:gd name="adj" fmla="val 3614"/>
            </a:avLst>
          </a:prstGeom>
          <a:solidFill>
            <a:srgbClr val="F5F7FA"/>
          </a:solidFill>
          <a:ln w="12700">
            <a:solidFill>
              <a:srgbClr val="DCE4EA"/>
            </a:solidFill>
            <a:prstDash val="solid"/>
          </a:ln>
        </p:spPr>
      </p:sp>
      <p:sp>
        <p:nvSpPr>
          <p:cNvPr id="5" name="Text 3"/>
          <p:cNvSpPr/>
          <p:nvPr/>
        </p:nvSpPr>
        <p:spPr>
          <a:xfrm>
            <a:off x="914400" y="1892808"/>
            <a:ext cx="10332720" cy="1298448"/>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만 20세 이상 임금근로자를 대상으로 성별·연령·지역별 인구구조에 비례할당하여 표본을 구성하였으며, 마크로밀 엠브레인 온라인 패널을 통해 2025년 9월 29일부터 10월 15일까지 웹조사를 실시하였다. 최종 유효표본은 2,992명이며, 표본오차는 95% 신뢰수준에서 ±1.79%p이다.</a:t>
            </a:r>
            <a:endParaRPr lang="en-US" sz="1350" dirty="0"/>
          </a:p>
        </p:txBody>
      </p:sp>
      <p:sp>
        <p:nvSpPr>
          <p:cNvPr id="6" name="Shape 4"/>
          <p:cNvSpPr/>
          <p:nvPr/>
        </p:nvSpPr>
        <p:spPr>
          <a:xfrm>
            <a:off x="640080" y="3529584"/>
            <a:ext cx="10881360" cy="1133856"/>
          </a:xfrm>
          <a:prstGeom prst="roundRect">
            <a:avLst>
              <a:gd name="adj" fmla="val 4839"/>
            </a:avLst>
          </a:prstGeom>
          <a:solidFill>
            <a:srgbClr val="F5F7FA"/>
          </a:solidFill>
          <a:ln w="12700">
            <a:solidFill>
              <a:srgbClr val="DCE4EA"/>
            </a:solidFill>
            <a:prstDash val="solid"/>
          </a:ln>
        </p:spPr>
      </p:sp>
      <p:sp>
        <p:nvSpPr>
          <p:cNvPr id="7" name="Text 5"/>
          <p:cNvSpPr/>
          <p:nvPr/>
        </p:nvSpPr>
        <p:spPr>
          <a:xfrm>
            <a:off x="914400" y="3639312"/>
            <a:ext cx="10332720" cy="914400"/>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분석은 두 층위로 구분된다. 전체 응답자 2,992명을 대상으로 활용 실태를 기술하고, 지난주 생성형 AI를 활용한 1,687명에 한정하여 활용시간·프롬프트 작성 능력과 인식된 시간 절감 간의 관계를 회귀분석으로 추정한다.</a:t>
            </a:r>
            <a:endParaRPr lang="en-US" sz="1350" dirty="0"/>
          </a:p>
        </p:txBody>
      </p:sp>
      <p:sp>
        <p:nvSpPr>
          <p:cNvPr id="8" name="Text 6"/>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5A6577"/>
                </a:solidFill>
                <a:latin typeface="Arial" pitchFamily="34" charset="0"/>
                <a:ea typeface="Arial" pitchFamily="34" charset="-122"/>
                <a:cs typeface="Arial"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 cy="365760"/>
          </a:xfrm>
          <a:prstGeom prst="rect">
            <a:avLst/>
          </a:prstGeom>
          <a:noFill/>
          <a:ln/>
        </p:spPr>
        <p:txBody>
          <a:bodyPr wrap="square" rtlCol="0" anchor="ctr"/>
          <a:lstStyle/>
          <a:p>
            <a:pPr indent="0" marL="0">
              <a:buNone/>
            </a:pPr>
            <a:r>
              <a:rPr lang="en-US" sz="1200" b="1" spc="200" kern="0" dirty="0">
                <a:solidFill>
                  <a:srgbClr val="1B4F5C"/>
                </a:solidFill>
                <a:latin typeface="Arial" pitchFamily="34" charset="0"/>
                <a:ea typeface="Arial" pitchFamily="34" charset="-122"/>
                <a:cs typeface="Arial" pitchFamily="34" charset="-120"/>
              </a:rPr>
              <a:t>04</a:t>
            </a:r>
            <a:endParaRPr lang="en-US" sz="1200" dirty="0"/>
          </a:p>
        </p:txBody>
      </p:sp>
      <p:sp>
        <p:nvSpPr>
          <p:cNvPr id="3" name="Text 1"/>
          <p:cNvSpPr/>
          <p:nvPr/>
        </p:nvSpPr>
        <p:spPr>
          <a:xfrm>
            <a:off x="548640" y="731520"/>
            <a:ext cx="11064240" cy="914400"/>
          </a:xfrm>
          <a:prstGeom prst="rect">
            <a:avLst/>
          </a:prstGeom>
          <a:noFill/>
          <a:ln/>
        </p:spPr>
        <p:txBody>
          <a:bodyPr wrap="square" rtlCol="0" anchor="t"/>
          <a:lstStyle/>
          <a:p>
            <a:pPr indent="0" marL="0">
              <a:lnSpc>
                <a:spcPct val="105000"/>
              </a:lnSpc>
              <a:buNone/>
            </a:pPr>
            <a:r>
              <a:rPr lang="en-US" sz="2500" b="1" dirty="0">
                <a:solidFill>
                  <a:srgbClr val="12203A"/>
                </a:solidFill>
                <a:latin typeface="Arial" pitchFamily="34" charset="0"/>
                <a:ea typeface="Arial" pitchFamily="34" charset="-122"/>
                <a:cs typeface="Arial" pitchFamily="34" charset="-120"/>
              </a:rPr>
              <a:t>임금근로자 56.3%가 주 1일 이상 생성형 AI 사용</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2743200"/>
        </p:xfrm>
        <a:graphic>
          <a:graphicData uri="http://schemas.openxmlformats.org/drawingml/2006/table">
            <a:tbl>
              <a:tblPr/>
              <a:tblGrid>
                <a:gridCol w="3627120"/>
                <a:gridCol w="3627120"/>
                <a:gridCol w="3627120"/>
              </a:tblGrid>
              <a:tr h="457200">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사용 빈도</a:t>
                      </a:r>
                      <a:endParaRPr lang="en-US" sz="1250" dirty="0">
                        <a:latin typeface="Arial" charset="0"/>
                        <a:ea typeface="Arial" charset="0"/>
                        <a:cs typeface="Arial" charset="0"/>
                      </a:endParaRPr>
                    </a:p>
                  </a:txBody>
                  <a:tcPr marL="91440" marR="91440" marT="45720" marB="4572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1B4F5C"/>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관측치</a:t>
                      </a:r>
                      <a:endParaRPr lang="en-US" sz="1250" dirty="0">
                        <a:latin typeface="Arial" charset="0"/>
                        <a:ea typeface="Arial" charset="0"/>
                        <a:cs typeface="Arial" charset="0"/>
                      </a:endParaRPr>
                    </a:p>
                  </a:txBody>
                  <a:tcPr marL="91440" marR="91440" marT="45720" marB="4572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1B4F5C"/>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비중(%)</a:t>
                      </a:r>
                      <a:endParaRPr lang="en-US" sz="1250" dirty="0">
                        <a:latin typeface="Arial" charset="0"/>
                        <a:ea typeface="Arial" charset="0"/>
                        <a:cs typeface="Arial" charset="0"/>
                      </a:endParaRPr>
                    </a:p>
                  </a:txBody>
                  <a:tcPr marL="91440" marR="91440" marT="45720" marB="4572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1B4F5C"/>
                    </a:solidFill>
                  </a:tcPr>
                </a:tc>
              </a:tr>
              <a:tr h="457200">
                <a:tc>
                  <a:txBody>
                    <a:bodyPr/>
                    <a:lstStyle/>
                    <a:p>
                      <a:pPr algn="ctr" indent="0" marL="0">
                        <a:buNone/>
                      </a:pPr>
                      <a:r>
                        <a:rPr lang="en-US" sz="1250" dirty="0">
                          <a:solidFill>
                            <a:srgbClr val="12203A"/>
                          </a:solidFill>
                          <a:latin typeface="Arial" pitchFamily="34" charset="0"/>
                          <a:ea typeface="Arial" pitchFamily="34" charset="-122"/>
                          <a:cs typeface="Arial" pitchFamily="34" charset="-120"/>
                        </a:rPr>
                        <a:t>전혀 사용하지 않았다</a:t>
                      </a:r>
                      <a:endParaRPr lang="en-US" sz="1250" dirty="0">
                        <a:latin typeface="Arial" charset="0"/>
                        <a:ea typeface="Arial" charset="0"/>
                        <a:cs typeface="Arial" charset="0"/>
                      </a:endParaRPr>
                    </a:p>
                  </a:txBody>
                  <a:tcPr marL="91440" marR="91440" marT="45720" marB="4572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algn="ctr" indent="0" marL="0">
                        <a:buNone/>
                      </a:pPr>
                      <a:r>
                        <a:rPr lang="en-US" sz="1250" dirty="0">
                          <a:solidFill>
                            <a:srgbClr val="12203A"/>
                          </a:solidFill>
                          <a:latin typeface="Arial" pitchFamily="34" charset="0"/>
                          <a:ea typeface="Arial" pitchFamily="34" charset="-122"/>
                          <a:cs typeface="Arial" pitchFamily="34" charset="-120"/>
                        </a:rPr>
                        <a:t>849</a:t>
                      </a:r>
                      <a:endParaRPr lang="en-US" sz="1250" dirty="0">
                        <a:latin typeface="Arial" charset="0"/>
                        <a:ea typeface="Arial" charset="0"/>
                        <a:cs typeface="Arial" charset="0"/>
                      </a:endParaRPr>
                    </a:p>
                  </a:txBody>
                  <a:tcPr marL="91440" marR="91440" marT="45720" marB="4572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algn="ctr" indent="0" marL="0">
                        <a:buNone/>
                      </a:pPr>
                      <a:r>
                        <a:rPr lang="en-US" sz="1250" dirty="0">
                          <a:solidFill>
                            <a:srgbClr val="12203A"/>
                          </a:solidFill>
                          <a:latin typeface="Arial" pitchFamily="34" charset="0"/>
                          <a:ea typeface="Arial" pitchFamily="34" charset="-122"/>
                          <a:cs typeface="Arial" pitchFamily="34" charset="-120"/>
                        </a:rPr>
                        <a:t>28.48</a:t>
                      </a:r>
                      <a:endParaRPr lang="en-US" sz="1250" dirty="0">
                        <a:latin typeface="Arial" charset="0"/>
                        <a:ea typeface="Arial" charset="0"/>
                        <a:cs typeface="Arial" charset="0"/>
                      </a:endParaRPr>
                    </a:p>
                  </a:txBody>
                  <a:tcPr marL="91440" marR="91440" marT="45720" marB="4572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457200">
                <a:tc>
                  <a:txBody>
                    <a:bodyPr/>
                    <a:lstStyle/>
                    <a:p>
                      <a:pPr algn="ctr" indent="0" marL="0">
                        <a:buNone/>
                      </a:pPr>
                      <a:r>
                        <a:rPr lang="en-US" sz="1250" dirty="0">
                          <a:solidFill>
                            <a:srgbClr val="12203A"/>
                          </a:solidFill>
                          <a:latin typeface="Arial" pitchFamily="34" charset="0"/>
                          <a:ea typeface="Arial" pitchFamily="34" charset="-122"/>
                          <a:cs typeface="Arial" pitchFamily="34" charset="-120"/>
                        </a:rPr>
                        <a:t>쓰긴 하지만 지난주에는 사용하지 않았다</a:t>
                      </a:r>
                      <a:endParaRPr lang="en-US" sz="1250" dirty="0">
                        <a:latin typeface="Arial" charset="0"/>
                        <a:ea typeface="Arial" charset="0"/>
                        <a:cs typeface="Arial" charset="0"/>
                      </a:endParaRPr>
                    </a:p>
                  </a:txBody>
                  <a:tcPr marL="91440" marR="91440" marT="45720" marB="4572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algn="ctr" indent="0" marL="0">
                        <a:buNone/>
                      </a:pPr>
                      <a:r>
                        <a:rPr lang="en-US" sz="1250" dirty="0">
                          <a:solidFill>
                            <a:srgbClr val="12203A"/>
                          </a:solidFill>
                          <a:latin typeface="Arial" pitchFamily="34" charset="0"/>
                          <a:ea typeface="Arial" pitchFamily="34" charset="-122"/>
                          <a:cs typeface="Arial" pitchFamily="34" charset="-120"/>
                        </a:rPr>
                        <a:t>456</a:t>
                      </a:r>
                      <a:endParaRPr lang="en-US" sz="1250" dirty="0">
                        <a:latin typeface="Arial" charset="0"/>
                        <a:ea typeface="Arial" charset="0"/>
                        <a:cs typeface="Arial" charset="0"/>
                      </a:endParaRPr>
                    </a:p>
                  </a:txBody>
                  <a:tcPr marL="91440" marR="91440" marT="45720" marB="4572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algn="ctr" indent="0" marL="0">
                        <a:buNone/>
                      </a:pPr>
                      <a:r>
                        <a:rPr lang="en-US" sz="1250" dirty="0">
                          <a:solidFill>
                            <a:srgbClr val="12203A"/>
                          </a:solidFill>
                          <a:latin typeface="Arial" pitchFamily="34" charset="0"/>
                          <a:ea typeface="Arial" pitchFamily="34" charset="-122"/>
                          <a:cs typeface="Arial" pitchFamily="34" charset="-120"/>
                        </a:rPr>
                        <a:t>15.19</a:t>
                      </a:r>
                      <a:endParaRPr lang="en-US" sz="1250" dirty="0">
                        <a:latin typeface="Arial" charset="0"/>
                        <a:ea typeface="Arial" charset="0"/>
                        <a:cs typeface="Arial" charset="0"/>
                      </a:endParaRPr>
                    </a:p>
                  </a:txBody>
                  <a:tcPr marL="91440" marR="91440" marT="45720" marB="4572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457200">
                <a:tc>
                  <a:txBody>
                    <a:bodyPr/>
                    <a:lstStyle/>
                    <a:p>
                      <a:pPr algn="ctr" indent="0" marL="0">
                        <a:buNone/>
                      </a:pPr>
                      <a:r>
                        <a:rPr lang="en-US" sz="1250" dirty="0">
                          <a:solidFill>
                            <a:srgbClr val="12203A"/>
                          </a:solidFill>
                          <a:latin typeface="Arial" pitchFamily="34" charset="0"/>
                          <a:ea typeface="Arial" pitchFamily="34" charset="-122"/>
                          <a:cs typeface="Arial" pitchFamily="34" charset="-120"/>
                        </a:rPr>
                        <a:t>주 1일 정도 사용한다</a:t>
                      </a:r>
                      <a:endParaRPr lang="en-US" sz="1250" dirty="0">
                        <a:latin typeface="Arial" charset="0"/>
                        <a:ea typeface="Arial" charset="0"/>
                        <a:cs typeface="Arial" charset="0"/>
                      </a:endParaRPr>
                    </a:p>
                  </a:txBody>
                  <a:tcPr marL="91440" marR="91440" marT="45720" marB="4572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algn="ctr" indent="0" marL="0">
                        <a:buNone/>
                      </a:pPr>
                      <a:r>
                        <a:rPr lang="en-US" sz="1250" dirty="0">
                          <a:solidFill>
                            <a:srgbClr val="12203A"/>
                          </a:solidFill>
                          <a:latin typeface="Arial" pitchFamily="34" charset="0"/>
                          <a:ea typeface="Arial" pitchFamily="34" charset="-122"/>
                          <a:cs typeface="Arial" pitchFamily="34" charset="-120"/>
                        </a:rPr>
                        <a:t>598</a:t>
                      </a:r>
                      <a:endParaRPr lang="en-US" sz="1250" dirty="0">
                        <a:latin typeface="Arial" charset="0"/>
                        <a:ea typeface="Arial" charset="0"/>
                        <a:cs typeface="Arial" charset="0"/>
                      </a:endParaRPr>
                    </a:p>
                  </a:txBody>
                  <a:tcPr marL="91440" marR="91440" marT="45720" marB="4572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algn="ctr" indent="0" marL="0">
                        <a:buNone/>
                      </a:pPr>
                      <a:r>
                        <a:rPr lang="en-US" sz="1250" dirty="0">
                          <a:solidFill>
                            <a:srgbClr val="12203A"/>
                          </a:solidFill>
                          <a:latin typeface="Arial" pitchFamily="34" charset="0"/>
                          <a:ea typeface="Arial" pitchFamily="34" charset="-122"/>
                          <a:cs typeface="Arial" pitchFamily="34" charset="-120"/>
                        </a:rPr>
                        <a:t>19.95</a:t>
                      </a:r>
                      <a:endParaRPr lang="en-US" sz="1250" dirty="0">
                        <a:latin typeface="Arial" charset="0"/>
                        <a:ea typeface="Arial" charset="0"/>
                        <a:cs typeface="Arial" charset="0"/>
                      </a:endParaRPr>
                    </a:p>
                  </a:txBody>
                  <a:tcPr marL="91440" marR="91440" marT="45720" marB="4572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457200">
                <a:tc>
                  <a:txBody>
                    <a:bodyPr/>
                    <a:lstStyle/>
                    <a:p>
                      <a:pPr algn="ctr" indent="0" marL="0">
                        <a:buNone/>
                      </a:pPr>
                      <a:r>
                        <a:rPr lang="en-US" sz="1250" dirty="0">
                          <a:solidFill>
                            <a:srgbClr val="12203A"/>
                          </a:solidFill>
                          <a:latin typeface="Arial" pitchFamily="34" charset="0"/>
                          <a:ea typeface="Arial" pitchFamily="34" charset="-122"/>
                          <a:cs typeface="Arial" pitchFamily="34" charset="-120"/>
                        </a:rPr>
                        <a:t>주 2~4일 사용한다</a:t>
                      </a:r>
                      <a:endParaRPr lang="en-US" sz="1250" dirty="0">
                        <a:latin typeface="Arial" charset="0"/>
                        <a:ea typeface="Arial" charset="0"/>
                        <a:cs typeface="Arial" charset="0"/>
                      </a:endParaRPr>
                    </a:p>
                  </a:txBody>
                  <a:tcPr marL="91440" marR="91440" marT="45720" marB="4572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algn="ctr" indent="0" marL="0">
                        <a:buNone/>
                      </a:pPr>
                      <a:r>
                        <a:rPr lang="en-US" sz="1250" dirty="0">
                          <a:solidFill>
                            <a:srgbClr val="12203A"/>
                          </a:solidFill>
                          <a:latin typeface="Arial" pitchFamily="34" charset="0"/>
                          <a:ea typeface="Arial" pitchFamily="34" charset="-122"/>
                          <a:cs typeface="Arial" pitchFamily="34" charset="-120"/>
                        </a:rPr>
                        <a:t>648</a:t>
                      </a:r>
                      <a:endParaRPr lang="en-US" sz="1250" dirty="0">
                        <a:latin typeface="Arial" charset="0"/>
                        <a:ea typeface="Arial" charset="0"/>
                        <a:cs typeface="Arial" charset="0"/>
                      </a:endParaRPr>
                    </a:p>
                  </a:txBody>
                  <a:tcPr marL="91440" marR="91440" marT="45720" marB="4572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algn="ctr" indent="0" marL="0">
                        <a:buNone/>
                      </a:pPr>
                      <a:r>
                        <a:rPr lang="en-US" sz="1250" dirty="0">
                          <a:solidFill>
                            <a:srgbClr val="12203A"/>
                          </a:solidFill>
                          <a:latin typeface="Arial" pitchFamily="34" charset="0"/>
                          <a:ea typeface="Arial" pitchFamily="34" charset="-122"/>
                          <a:cs typeface="Arial" pitchFamily="34" charset="-120"/>
                        </a:rPr>
                        <a:t>21.66</a:t>
                      </a:r>
                      <a:endParaRPr lang="en-US" sz="1250" dirty="0">
                        <a:latin typeface="Arial" charset="0"/>
                        <a:ea typeface="Arial" charset="0"/>
                        <a:cs typeface="Arial" charset="0"/>
                      </a:endParaRPr>
                    </a:p>
                  </a:txBody>
                  <a:tcPr marL="91440" marR="91440" marT="45720" marB="4572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457200">
                <a:tc>
                  <a:txBody>
                    <a:bodyPr/>
                    <a:lstStyle/>
                    <a:p>
                      <a:pPr algn="ctr" indent="0" marL="0">
                        <a:buNone/>
                      </a:pPr>
                      <a:r>
                        <a:rPr lang="en-US" sz="1250" dirty="0">
                          <a:solidFill>
                            <a:srgbClr val="12203A"/>
                          </a:solidFill>
                          <a:latin typeface="Arial" pitchFamily="34" charset="0"/>
                          <a:ea typeface="Arial" pitchFamily="34" charset="-122"/>
                          <a:cs typeface="Arial" pitchFamily="34" charset="-120"/>
                        </a:rPr>
                        <a:t>매일 사용한다</a:t>
                      </a:r>
                      <a:endParaRPr lang="en-US" sz="1250" dirty="0">
                        <a:latin typeface="Arial" charset="0"/>
                        <a:ea typeface="Arial" charset="0"/>
                        <a:cs typeface="Arial" charset="0"/>
                      </a:endParaRPr>
                    </a:p>
                  </a:txBody>
                  <a:tcPr marL="91440" marR="91440" marT="45720" marB="4572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algn="ctr" indent="0" marL="0">
                        <a:buNone/>
                      </a:pPr>
                      <a:r>
                        <a:rPr lang="en-US" sz="1250" dirty="0">
                          <a:solidFill>
                            <a:srgbClr val="12203A"/>
                          </a:solidFill>
                          <a:latin typeface="Arial" pitchFamily="34" charset="0"/>
                          <a:ea typeface="Arial" pitchFamily="34" charset="-122"/>
                          <a:cs typeface="Arial" pitchFamily="34" charset="-120"/>
                        </a:rPr>
                        <a:t>441</a:t>
                      </a:r>
                      <a:endParaRPr lang="en-US" sz="1250" dirty="0">
                        <a:latin typeface="Arial" charset="0"/>
                        <a:ea typeface="Arial" charset="0"/>
                        <a:cs typeface="Arial" charset="0"/>
                      </a:endParaRPr>
                    </a:p>
                  </a:txBody>
                  <a:tcPr marL="91440" marR="91440" marT="45720" marB="4572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algn="ctr" indent="0" marL="0">
                        <a:buNone/>
                      </a:pPr>
                      <a:r>
                        <a:rPr lang="en-US" sz="1250" dirty="0">
                          <a:solidFill>
                            <a:srgbClr val="12203A"/>
                          </a:solidFill>
                          <a:latin typeface="Arial" pitchFamily="34" charset="0"/>
                          <a:ea typeface="Arial" pitchFamily="34" charset="-122"/>
                          <a:cs typeface="Arial" pitchFamily="34" charset="-120"/>
                        </a:rPr>
                        <a:t>14.73</a:t>
                      </a:r>
                      <a:endParaRPr lang="en-US" sz="1250" dirty="0">
                        <a:latin typeface="Arial" charset="0"/>
                        <a:ea typeface="Arial" charset="0"/>
                        <a:cs typeface="Arial" charset="0"/>
                      </a:endParaRPr>
                    </a:p>
                  </a:txBody>
                  <a:tcPr marL="91440" marR="91440" marT="45720" marB="45720" anchor="ct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bl>
          </a:graphicData>
        </a:graphic>
      </p:graphicFrame>
      <p:sp>
        <p:nvSpPr>
          <p:cNvPr id="5" name="Shape 2"/>
          <p:cNvSpPr/>
          <p:nvPr/>
        </p:nvSpPr>
        <p:spPr>
          <a:xfrm>
            <a:off x="640080" y="4846320"/>
            <a:ext cx="10881360" cy="1133856"/>
          </a:xfrm>
          <a:prstGeom prst="roundRect">
            <a:avLst>
              <a:gd name="adj" fmla="val 4839"/>
            </a:avLst>
          </a:prstGeom>
          <a:solidFill>
            <a:srgbClr val="F5F7FA"/>
          </a:solidFill>
          <a:ln w="12700">
            <a:solidFill>
              <a:srgbClr val="DCE4EA"/>
            </a:solidFill>
            <a:prstDash val="solid"/>
          </a:ln>
        </p:spPr>
      </p:sp>
      <p:sp>
        <p:nvSpPr>
          <p:cNvPr id="6" name="Text 3"/>
          <p:cNvSpPr/>
          <p:nvPr/>
        </p:nvSpPr>
        <p:spPr>
          <a:xfrm>
            <a:off x="914400" y="4956048"/>
            <a:ext cx="10332720" cy="914400"/>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전체 조사대상 근로자의 56.3%가 생성형 AI를 주 1일 이상 업무에 활용하고 있으며, 한 번이라도 사용한 경험이 있는 비율은 71.5%에 달했다. 이 중 주 2일 이상 사용하는 고빈도 활용자는 36.4%로 확인되었다.</a:t>
            </a:r>
            <a:endParaRPr lang="en-US" sz="1350" dirty="0"/>
          </a:p>
        </p:txBody>
      </p:sp>
      <p:sp>
        <p:nvSpPr>
          <p:cNvPr id="7" name="Text 4"/>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5A6577"/>
                </a:solidFill>
                <a:latin typeface="Arial" pitchFamily="34" charset="0"/>
                <a:ea typeface="Arial" pitchFamily="34" charset="-122"/>
                <a:cs typeface="Arial"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 cy="365760"/>
          </a:xfrm>
          <a:prstGeom prst="rect">
            <a:avLst/>
          </a:prstGeom>
          <a:noFill/>
          <a:ln/>
        </p:spPr>
        <p:txBody>
          <a:bodyPr wrap="square" rtlCol="0" anchor="ctr"/>
          <a:lstStyle/>
          <a:p>
            <a:pPr indent="0" marL="0">
              <a:buNone/>
            </a:pPr>
            <a:r>
              <a:rPr lang="en-US" sz="1200" b="1" spc="200" kern="0" dirty="0">
                <a:solidFill>
                  <a:srgbClr val="1B4F5C"/>
                </a:solidFill>
                <a:latin typeface="Arial" pitchFamily="34" charset="0"/>
                <a:ea typeface="Arial" pitchFamily="34" charset="-122"/>
                <a:cs typeface="Arial" pitchFamily="34" charset="-120"/>
              </a:rPr>
              <a:t>05</a:t>
            </a:r>
            <a:endParaRPr lang="en-US" sz="1200" dirty="0"/>
          </a:p>
        </p:txBody>
      </p:sp>
      <p:sp>
        <p:nvSpPr>
          <p:cNvPr id="3" name="Text 1"/>
          <p:cNvSpPr/>
          <p:nvPr/>
        </p:nvSpPr>
        <p:spPr>
          <a:xfrm>
            <a:off x="548640" y="731520"/>
            <a:ext cx="11064240" cy="914400"/>
          </a:xfrm>
          <a:prstGeom prst="rect">
            <a:avLst/>
          </a:prstGeom>
          <a:noFill/>
          <a:ln/>
        </p:spPr>
        <p:txBody>
          <a:bodyPr wrap="square" rtlCol="0" anchor="t"/>
          <a:lstStyle/>
          <a:p>
            <a:pPr indent="0" marL="0">
              <a:lnSpc>
                <a:spcPct val="105000"/>
              </a:lnSpc>
              <a:buNone/>
            </a:pPr>
            <a:r>
              <a:rPr lang="en-US" sz="2500" b="1" dirty="0">
                <a:solidFill>
                  <a:srgbClr val="12203A"/>
                </a:solidFill>
                <a:latin typeface="Arial" pitchFamily="34" charset="0"/>
                <a:ea typeface="Arial" pitchFamily="34" charset="-122"/>
                <a:cs typeface="Arial" pitchFamily="34" charset="-120"/>
              </a:rPr>
              <a:t>성별·연령·산업별 활용 격차</a:t>
            </a:r>
            <a:endParaRPr lang="en-US" sz="2500" dirty="0"/>
          </a:p>
        </p:txBody>
      </p:sp>
      <p:sp>
        <p:nvSpPr>
          <p:cNvPr id="4" name="Text 2"/>
          <p:cNvSpPr/>
          <p:nvPr/>
        </p:nvSpPr>
        <p:spPr>
          <a:xfrm>
            <a:off x="822960" y="1783080"/>
            <a:ext cx="10515600" cy="2011680"/>
          </a:xfrm>
          <a:prstGeom prst="rect">
            <a:avLst/>
          </a:prstGeom>
          <a:noFill/>
          <a:ln/>
        </p:spPr>
        <p:txBody>
          <a:bodyPr wrap="square" rtlCol="0" anchor="t"/>
          <a:lstStyle/>
          <a:p>
            <a:pPr marL="342900" indent="-342900">
              <a:lnSpc>
                <a:spcPct val="115000"/>
              </a:lnSpc>
              <a:spcAft>
                <a:spcPts val="1000"/>
              </a:spcAft>
              <a:buSzPct val="100000"/>
              <a:buChar char="●"/>
            </a:pPr>
            <a:r>
              <a:rPr lang="en-US" sz="1400" dirty="0">
                <a:solidFill>
                  <a:srgbClr val="12203A"/>
                </a:solidFill>
                <a:latin typeface="Arial" pitchFamily="34" charset="0"/>
                <a:ea typeface="Arial" pitchFamily="34" charset="-122"/>
                <a:cs typeface="Arial" pitchFamily="34" charset="-120"/>
              </a:rPr>
              <a:t>남성 60.9% / 여성 51.6%</a:t>
            </a:r>
            <a:endParaRPr lang="en-US" sz="1400" dirty="0"/>
          </a:p>
          <a:p>
            <a:pPr marL="342900" indent="-342900">
              <a:lnSpc>
                <a:spcPct val="115000"/>
              </a:lnSpc>
              <a:spcAft>
                <a:spcPts val="1000"/>
              </a:spcAft>
              <a:buSzPct val="100000"/>
              <a:buChar char="●"/>
            </a:pPr>
            <a:r>
              <a:rPr lang="en-US" sz="1400" dirty="0">
                <a:solidFill>
                  <a:srgbClr val="12203A"/>
                </a:solidFill>
                <a:latin typeface="Arial" pitchFamily="34" charset="0"/>
                <a:ea typeface="Arial" pitchFamily="34" charset="-122"/>
                <a:cs typeface="Arial" pitchFamily="34" charset="-120"/>
              </a:rPr>
              <a:t>20대 75.7% / 30대 68.4% / 40대 56.0% / 50대 45.6% / 60대 이상 44.0%</a:t>
            </a:r>
            <a:endParaRPr lang="en-US" sz="1400" dirty="0"/>
          </a:p>
          <a:p>
            <a:pPr marL="342900" indent="-342900">
              <a:lnSpc>
                <a:spcPct val="115000"/>
              </a:lnSpc>
              <a:spcAft>
                <a:spcPts val="1000"/>
              </a:spcAft>
              <a:buSzPct val="100000"/>
              <a:buChar char="●"/>
            </a:pPr>
            <a:r>
              <a:rPr lang="en-US" sz="1400" dirty="0">
                <a:solidFill>
                  <a:srgbClr val="12203A"/>
                </a:solidFill>
                <a:latin typeface="Arial" pitchFamily="34" charset="0"/>
                <a:ea typeface="Arial" pitchFamily="34" charset="-122"/>
                <a:cs typeface="Arial" pitchFamily="34" charset="-120"/>
              </a:rPr>
              <a:t>정보통신·IT 77.6% (전 산업 중 최고)</a:t>
            </a:r>
            <a:endParaRPr lang="en-US" sz="1400" dirty="0"/>
          </a:p>
          <a:p>
            <a:pPr marL="342900" indent="-342900">
              <a:lnSpc>
                <a:spcPct val="115000"/>
              </a:lnSpc>
              <a:spcAft>
                <a:spcPts val="1000"/>
              </a:spcAft>
              <a:buSzPct val="100000"/>
              <a:buChar char="●"/>
            </a:pPr>
            <a:r>
              <a:rPr lang="en-US" sz="1400" dirty="0">
                <a:solidFill>
                  <a:srgbClr val="12203A"/>
                </a:solidFill>
                <a:latin typeface="Arial" pitchFamily="34" charset="0"/>
                <a:ea typeface="Arial" pitchFamily="34" charset="-122"/>
                <a:cs typeface="Arial" pitchFamily="34" charset="-120"/>
              </a:rPr>
              <a:t>전문서비스·교육·연구 63.0%</a:t>
            </a:r>
            <a:endParaRPr lang="en-US" sz="1400" dirty="0"/>
          </a:p>
          <a:p>
            <a:pPr marL="342900" indent="-342900">
              <a:lnSpc>
                <a:spcPct val="115000"/>
              </a:lnSpc>
              <a:spcAft>
                <a:spcPts val="1000"/>
              </a:spcAft>
              <a:buSzPct val="100000"/>
              <a:buChar char="●"/>
            </a:pPr>
            <a:r>
              <a:rPr lang="en-US" sz="1400" dirty="0">
                <a:solidFill>
                  <a:srgbClr val="12203A"/>
                </a:solidFill>
                <a:latin typeface="Arial" pitchFamily="34" charset="0"/>
                <a:ea typeface="Arial" pitchFamily="34" charset="-122"/>
                <a:cs typeface="Arial" pitchFamily="34" charset="-120"/>
              </a:rPr>
              <a:t>농림어업·광업 36.0% (전 산업 중 최저)</a:t>
            </a:r>
            <a:endParaRPr lang="en-US" sz="1400" dirty="0"/>
          </a:p>
        </p:txBody>
      </p:sp>
      <p:sp>
        <p:nvSpPr>
          <p:cNvPr id="5" name="Shape 3"/>
          <p:cNvSpPr/>
          <p:nvPr/>
        </p:nvSpPr>
        <p:spPr>
          <a:xfrm>
            <a:off x="640080" y="4526280"/>
            <a:ext cx="10881360" cy="1133856"/>
          </a:xfrm>
          <a:prstGeom prst="roundRect">
            <a:avLst>
              <a:gd name="adj" fmla="val 4839"/>
            </a:avLst>
          </a:prstGeom>
          <a:solidFill>
            <a:srgbClr val="F5F7FA"/>
          </a:solidFill>
          <a:ln w="12700">
            <a:solidFill>
              <a:srgbClr val="DCE4EA"/>
            </a:solidFill>
            <a:prstDash val="solid"/>
          </a:ln>
        </p:spPr>
      </p:sp>
      <p:sp>
        <p:nvSpPr>
          <p:cNvPr id="6" name="Text 4"/>
          <p:cNvSpPr/>
          <p:nvPr/>
        </p:nvSpPr>
        <p:spPr>
          <a:xfrm>
            <a:off x="914400" y="4636008"/>
            <a:ext cx="10332720" cy="914400"/>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20대와 30대 청년층의 활용 비율은 각각 75.7%, 68.4%로 전체 평균(56.3%)을 크게 상회하였으나, 40대부터는 평균 이하로 나타났다. 정보통신·IT(77.6%) 및 전문서비스·교육·연구(63.0%) 산업 종사자의 활용 비중이 타 산업 대비 압도적으로 높았다.</a:t>
            </a:r>
            <a:endParaRPr lang="en-US" sz="1350" dirty="0"/>
          </a:p>
        </p:txBody>
      </p:sp>
      <p:sp>
        <p:nvSpPr>
          <p:cNvPr id="7" name="Text 5"/>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5A6577"/>
                </a:solidFill>
                <a:latin typeface="Arial" pitchFamily="34" charset="0"/>
                <a:ea typeface="Arial" pitchFamily="34" charset="-122"/>
                <a:cs typeface="Arial"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 cy="365760"/>
          </a:xfrm>
          <a:prstGeom prst="rect">
            <a:avLst/>
          </a:prstGeom>
          <a:noFill/>
          <a:ln/>
        </p:spPr>
        <p:txBody>
          <a:bodyPr wrap="square" rtlCol="0" anchor="ctr"/>
          <a:lstStyle/>
          <a:p>
            <a:pPr indent="0" marL="0">
              <a:buNone/>
            </a:pPr>
            <a:r>
              <a:rPr lang="en-US" sz="1200" b="1" spc="200" kern="0" dirty="0">
                <a:solidFill>
                  <a:srgbClr val="1B4F5C"/>
                </a:solidFill>
                <a:latin typeface="Arial" pitchFamily="34" charset="0"/>
                <a:ea typeface="Arial" pitchFamily="34" charset="-122"/>
                <a:cs typeface="Arial" pitchFamily="34" charset="-120"/>
              </a:rPr>
              <a:t>06</a:t>
            </a:r>
            <a:endParaRPr lang="en-US" sz="1200" dirty="0"/>
          </a:p>
        </p:txBody>
      </p:sp>
      <p:sp>
        <p:nvSpPr>
          <p:cNvPr id="3" name="Text 1"/>
          <p:cNvSpPr/>
          <p:nvPr/>
        </p:nvSpPr>
        <p:spPr>
          <a:xfrm>
            <a:off x="548640" y="731520"/>
            <a:ext cx="11064240" cy="914400"/>
          </a:xfrm>
          <a:prstGeom prst="rect">
            <a:avLst/>
          </a:prstGeom>
          <a:noFill/>
          <a:ln/>
        </p:spPr>
        <p:txBody>
          <a:bodyPr wrap="square" rtlCol="0" anchor="t"/>
          <a:lstStyle/>
          <a:p>
            <a:pPr indent="0" marL="0">
              <a:lnSpc>
                <a:spcPct val="105000"/>
              </a:lnSpc>
              <a:buNone/>
            </a:pPr>
            <a:r>
              <a:rPr lang="en-US" sz="2500" b="1" dirty="0">
                <a:solidFill>
                  <a:srgbClr val="12203A"/>
                </a:solidFill>
                <a:latin typeface="Arial" pitchFamily="34" charset="0"/>
                <a:ea typeface="Arial" pitchFamily="34" charset="-122"/>
                <a:cs typeface="Arial" pitchFamily="34" charset="-120"/>
              </a:rPr>
              <a:t>화이트칼라·고소득·대기업일수록 활용률 높아</a:t>
            </a:r>
            <a:endParaRPr lang="en-US" sz="2500" dirty="0"/>
          </a:p>
        </p:txBody>
      </p:sp>
      <p:sp>
        <p:nvSpPr>
          <p:cNvPr id="4" name="Text 2"/>
          <p:cNvSpPr/>
          <p:nvPr/>
        </p:nvSpPr>
        <p:spPr>
          <a:xfrm>
            <a:off x="822960" y="1783080"/>
            <a:ext cx="10515600" cy="2011680"/>
          </a:xfrm>
          <a:prstGeom prst="rect">
            <a:avLst/>
          </a:prstGeom>
          <a:noFill/>
          <a:ln/>
        </p:spPr>
        <p:txBody>
          <a:bodyPr wrap="square" rtlCol="0" anchor="t"/>
          <a:lstStyle/>
          <a:p>
            <a:pPr marL="342900" indent="-342900">
              <a:lnSpc>
                <a:spcPct val="115000"/>
              </a:lnSpc>
              <a:spcAft>
                <a:spcPts val="1000"/>
              </a:spcAft>
              <a:buSzPct val="100000"/>
              <a:buChar char="●"/>
            </a:pPr>
            <a:r>
              <a:rPr lang="en-US" sz="1400" dirty="0">
                <a:solidFill>
                  <a:srgbClr val="12203A"/>
                </a:solidFill>
                <a:latin typeface="Arial" pitchFamily="34" charset="0"/>
                <a:ea typeface="Arial" pitchFamily="34" charset="-122"/>
                <a:cs typeface="Arial" pitchFamily="34" charset="-120"/>
              </a:rPr>
              <a:t>전문직 74.7% (전 직종 중 최고)</a:t>
            </a:r>
            <a:endParaRPr lang="en-US" sz="1400" dirty="0"/>
          </a:p>
          <a:p>
            <a:pPr marL="342900" indent="-342900">
              <a:lnSpc>
                <a:spcPct val="115000"/>
              </a:lnSpc>
              <a:spcAft>
                <a:spcPts val="1000"/>
              </a:spcAft>
              <a:buSzPct val="100000"/>
              <a:buChar char="●"/>
            </a:pPr>
            <a:r>
              <a:rPr lang="en-US" sz="1400" dirty="0">
                <a:solidFill>
                  <a:srgbClr val="12203A"/>
                </a:solidFill>
                <a:latin typeface="Arial" pitchFamily="34" charset="0"/>
                <a:ea typeface="Arial" pitchFamily="34" charset="-122"/>
                <a:cs typeface="Arial" pitchFamily="34" charset="-120"/>
              </a:rPr>
              <a:t>단순노무직 23.9% (전 직종 중 최저)</a:t>
            </a:r>
            <a:endParaRPr lang="en-US" sz="1400" dirty="0"/>
          </a:p>
          <a:p>
            <a:pPr marL="342900" indent="-342900">
              <a:lnSpc>
                <a:spcPct val="115000"/>
              </a:lnSpc>
              <a:spcAft>
                <a:spcPts val="1000"/>
              </a:spcAft>
              <a:buSzPct val="100000"/>
              <a:buChar char="●"/>
            </a:pPr>
            <a:r>
              <a:rPr lang="en-US" sz="1400" dirty="0">
                <a:solidFill>
                  <a:srgbClr val="12203A"/>
                </a:solidFill>
                <a:latin typeface="Arial" pitchFamily="34" charset="0"/>
                <a:ea typeface="Arial" pitchFamily="34" charset="-122"/>
                <a:cs typeface="Arial" pitchFamily="34" charset="-120"/>
              </a:rPr>
              <a:t>월 소득 800만원 이상 71.9% / 100만원 미만 42.7%</a:t>
            </a:r>
            <a:endParaRPr lang="en-US" sz="1400" dirty="0"/>
          </a:p>
          <a:p>
            <a:pPr marL="342900" indent="-342900">
              <a:lnSpc>
                <a:spcPct val="115000"/>
              </a:lnSpc>
              <a:spcAft>
                <a:spcPts val="1000"/>
              </a:spcAft>
              <a:buSzPct val="100000"/>
              <a:buChar char="●"/>
            </a:pPr>
            <a:r>
              <a:rPr lang="en-US" sz="1400" dirty="0">
                <a:solidFill>
                  <a:srgbClr val="12203A"/>
                </a:solidFill>
                <a:latin typeface="Arial" pitchFamily="34" charset="0"/>
                <a:ea typeface="Arial" pitchFamily="34" charset="-122"/>
                <a:cs typeface="Arial" pitchFamily="34" charset="-120"/>
              </a:rPr>
              <a:t>300인 이상 기업 66.5% / 300인 미만 기업 52.7%</a:t>
            </a:r>
            <a:endParaRPr lang="en-US" sz="1400" dirty="0"/>
          </a:p>
        </p:txBody>
      </p:sp>
      <p:sp>
        <p:nvSpPr>
          <p:cNvPr id="5" name="Shape 3"/>
          <p:cNvSpPr/>
          <p:nvPr/>
        </p:nvSpPr>
        <p:spPr>
          <a:xfrm>
            <a:off x="640080" y="4069080"/>
            <a:ext cx="10881360" cy="1517904"/>
          </a:xfrm>
          <a:prstGeom prst="roundRect">
            <a:avLst>
              <a:gd name="adj" fmla="val 3614"/>
            </a:avLst>
          </a:prstGeom>
          <a:solidFill>
            <a:srgbClr val="F5F7FA"/>
          </a:solidFill>
          <a:ln w="12700">
            <a:solidFill>
              <a:srgbClr val="DCE4EA"/>
            </a:solidFill>
            <a:prstDash val="solid"/>
          </a:ln>
        </p:spPr>
      </p:sp>
      <p:sp>
        <p:nvSpPr>
          <p:cNvPr id="6" name="Text 4"/>
          <p:cNvSpPr/>
          <p:nvPr/>
        </p:nvSpPr>
        <p:spPr>
          <a:xfrm>
            <a:off x="914400" y="4178808"/>
            <a:ext cx="10332720" cy="1298448"/>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전문직(74.7%)의 활용 비중이 가장 높았으며 단순노무직(23.9%)은 가장 낮았다. 소득이 증가할수록 활용률이 꾸준히 상승하여 800만 원 이상 고소득 구간(71.9%)에서 가장 높은 도입률을 기록했다. 300인 이상 대기업 종사자의 활용 비중(66.5%)은 300인 미만 중소기업(52.7%)보다 유의미하게 높았다.</a:t>
            </a:r>
            <a:endParaRPr lang="en-US" sz="1350" dirty="0"/>
          </a:p>
        </p:txBody>
      </p:sp>
      <p:sp>
        <p:nvSpPr>
          <p:cNvPr id="7" name="Shape 5"/>
          <p:cNvSpPr/>
          <p:nvPr/>
        </p:nvSpPr>
        <p:spPr>
          <a:xfrm>
            <a:off x="640080" y="5815584"/>
            <a:ext cx="10881360" cy="822960"/>
          </a:xfrm>
          <a:prstGeom prst="roundRect">
            <a:avLst>
              <a:gd name="adj" fmla="val 6667"/>
            </a:avLst>
          </a:prstGeom>
          <a:solidFill>
            <a:srgbClr val="F5F7FA"/>
          </a:solidFill>
          <a:ln w="12700">
            <a:solidFill>
              <a:srgbClr val="DCE4EA"/>
            </a:solidFill>
            <a:prstDash val="solid"/>
          </a:ln>
        </p:spPr>
      </p:sp>
      <p:sp>
        <p:nvSpPr>
          <p:cNvPr id="8" name="Text 6"/>
          <p:cNvSpPr/>
          <p:nvPr/>
        </p:nvSpPr>
        <p:spPr>
          <a:xfrm>
            <a:off x="914400" y="5925312"/>
            <a:ext cx="10332720" cy="603504"/>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이러한 격차는 정부의 AI 바우처 지원사업 시행 이후 이미 절반 수준으로 축소된 것으로 확인되었다.</a:t>
            </a:r>
            <a:endParaRPr lang="en-US" sz="1350" dirty="0"/>
          </a:p>
        </p:txBody>
      </p:sp>
      <p:sp>
        <p:nvSpPr>
          <p:cNvPr id="9" name="Text 7"/>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5A6577"/>
                </a:solidFill>
                <a:latin typeface="Arial" pitchFamily="34" charset="0"/>
                <a:ea typeface="Arial" pitchFamily="34" charset="-122"/>
                <a:cs typeface="Arial"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 cy="365760"/>
          </a:xfrm>
          <a:prstGeom prst="rect">
            <a:avLst/>
          </a:prstGeom>
          <a:noFill/>
          <a:ln/>
        </p:spPr>
        <p:txBody>
          <a:bodyPr wrap="square" rtlCol="0" anchor="ctr"/>
          <a:lstStyle/>
          <a:p>
            <a:pPr indent="0" marL="0">
              <a:buNone/>
            </a:pPr>
            <a:r>
              <a:rPr lang="en-US" sz="1200" b="1" spc="200" kern="0" dirty="0">
                <a:solidFill>
                  <a:srgbClr val="1B4F5C"/>
                </a:solidFill>
                <a:latin typeface="Arial" pitchFamily="34" charset="0"/>
                <a:ea typeface="Arial" pitchFamily="34" charset="-122"/>
                <a:cs typeface="Arial" pitchFamily="34" charset="-120"/>
              </a:rPr>
              <a:t>07</a:t>
            </a:r>
            <a:endParaRPr lang="en-US" sz="1200" dirty="0"/>
          </a:p>
        </p:txBody>
      </p:sp>
      <p:sp>
        <p:nvSpPr>
          <p:cNvPr id="3" name="Text 1"/>
          <p:cNvSpPr/>
          <p:nvPr/>
        </p:nvSpPr>
        <p:spPr>
          <a:xfrm>
            <a:off x="548640" y="731520"/>
            <a:ext cx="11064240" cy="914400"/>
          </a:xfrm>
          <a:prstGeom prst="rect">
            <a:avLst/>
          </a:prstGeom>
          <a:noFill/>
          <a:ln/>
        </p:spPr>
        <p:txBody>
          <a:bodyPr wrap="square" rtlCol="0" anchor="t"/>
          <a:lstStyle/>
          <a:p>
            <a:pPr indent="0" marL="0">
              <a:lnSpc>
                <a:spcPct val="105000"/>
              </a:lnSpc>
              <a:buNone/>
            </a:pPr>
            <a:r>
              <a:rPr lang="en-US" sz="2500" b="1" dirty="0">
                <a:solidFill>
                  <a:srgbClr val="12203A"/>
                </a:solidFill>
                <a:latin typeface="Arial" pitchFamily="34" charset="0"/>
                <a:ea typeface="Arial" pitchFamily="34" charset="-122"/>
                <a:cs typeface="Arial" pitchFamily="34" charset="-120"/>
              </a:rPr>
              <a:t>사용 빈도가 높을수록 코딩 등 고차 업무로 확장</a:t>
            </a:r>
            <a:endParaRPr lang="en-US" sz="2500" dirty="0"/>
          </a:p>
        </p:txBody>
      </p:sp>
      <p:sp>
        <p:nvSpPr>
          <p:cNvPr id="4" name="Text 2"/>
          <p:cNvSpPr/>
          <p:nvPr/>
        </p:nvSpPr>
        <p:spPr>
          <a:xfrm>
            <a:off x="822960" y="1783080"/>
            <a:ext cx="10515600" cy="2011680"/>
          </a:xfrm>
          <a:prstGeom prst="rect">
            <a:avLst/>
          </a:prstGeom>
          <a:noFill/>
          <a:ln/>
        </p:spPr>
        <p:txBody>
          <a:bodyPr wrap="square" rtlCol="0" anchor="t"/>
          <a:lstStyle/>
          <a:p>
            <a:pPr marL="342900" indent="-342900">
              <a:lnSpc>
                <a:spcPct val="115000"/>
              </a:lnSpc>
              <a:spcAft>
                <a:spcPts val="1000"/>
              </a:spcAft>
              <a:buSzPct val="100000"/>
              <a:buChar char="●"/>
            </a:pPr>
            <a:r>
              <a:rPr lang="en-US" sz="1400" dirty="0">
                <a:solidFill>
                  <a:srgbClr val="12203A"/>
                </a:solidFill>
                <a:latin typeface="Arial" pitchFamily="34" charset="0"/>
                <a:ea typeface="Arial" pitchFamily="34" charset="-122"/>
                <a:cs typeface="Arial" pitchFamily="34" charset="-120"/>
              </a:rPr>
              <a:t>문서 작성·커뮤니케이션·요약 비중: 34.0%(저빈도) → 47.6%(매일 사용)</a:t>
            </a:r>
            <a:endParaRPr lang="en-US" sz="1400" dirty="0"/>
          </a:p>
          <a:p>
            <a:pPr marL="342900" indent="-342900">
              <a:lnSpc>
                <a:spcPct val="115000"/>
              </a:lnSpc>
              <a:spcAft>
                <a:spcPts val="1000"/>
              </a:spcAft>
              <a:buSzPct val="100000"/>
              <a:buChar char="●"/>
            </a:pPr>
            <a:r>
              <a:rPr lang="en-US" sz="1400" dirty="0">
                <a:solidFill>
                  <a:srgbClr val="12203A"/>
                </a:solidFill>
                <a:latin typeface="Arial" pitchFamily="34" charset="0"/>
                <a:ea typeface="Arial" pitchFamily="34" charset="-122"/>
                <a:cs typeface="Arial" pitchFamily="34" charset="-120"/>
              </a:rPr>
              <a:t>코딩(프로그래밍) 비중: 0.7%(미사용 집단) → 7.9%(매일 사용 집단)</a:t>
            </a:r>
            <a:endParaRPr lang="en-US" sz="1400" dirty="0"/>
          </a:p>
          <a:p>
            <a:pPr marL="342900" indent="-342900">
              <a:lnSpc>
                <a:spcPct val="115000"/>
              </a:lnSpc>
              <a:spcAft>
                <a:spcPts val="1000"/>
              </a:spcAft>
              <a:buSzPct val="100000"/>
              <a:buChar char="●"/>
            </a:pPr>
            <a:r>
              <a:rPr lang="en-US" sz="1400" dirty="0">
                <a:solidFill>
                  <a:srgbClr val="12203A"/>
                </a:solidFill>
                <a:latin typeface="Arial" pitchFamily="34" charset="0"/>
                <a:ea typeface="Arial" pitchFamily="34" charset="-122"/>
                <a:cs typeface="Arial" pitchFamily="34" charset="-120"/>
              </a:rPr>
              <a:t>사실·정보 검색 비중: 27.0%(저빈도) → 15.9%(매일 사용, 오히려 감소)</a:t>
            </a:r>
            <a:endParaRPr lang="en-US" sz="1400" dirty="0"/>
          </a:p>
        </p:txBody>
      </p:sp>
      <p:sp>
        <p:nvSpPr>
          <p:cNvPr id="5" name="Shape 3"/>
          <p:cNvSpPr/>
          <p:nvPr/>
        </p:nvSpPr>
        <p:spPr>
          <a:xfrm>
            <a:off x="640080" y="3611880"/>
            <a:ext cx="10881360" cy="1133856"/>
          </a:xfrm>
          <a:prstGeom prst="roundRect">
            <a:avLst>
              <a:gd name="adj" fmla="val 4839"/>
            </a:avLst>
          </a:prstGeom>
          <a:solidFill>
            <a:srgbClr val="F5F7FA"/>
          </a:solidFill>
          <a:ln w="12700">
            <a:solidFill>
              <a:srgbClr val="DCE4EA"/>
            </a:solidFill>
            <a:prstDash val="solid"/>
          </a:ln>
        </p:spPr>
      </p:sp>
      <p:sp>
        <p:nvSpPr>
          <p:cNvPr id="6" name="Text 4"/>
          <p:cNvSpPr/>
          <p:nvPr/>
        </p:nvSpPr>
        <p:spPr>
          <a:xfrm>
            <a:off x="914400" y="3721608"/>
            <a:ext cx="10332720" cy="914400"/>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초기 수용자나 저빈도 사용자는 기존 검색 엔진을 대체하는 수준의 단순 정보 탐색 및 일상적 관리 용도로 AI를 소비하는 경향이 강한 반면, 숙련도와 사용 경험이 축적된 고빈도 사용자는 단순 검색을 넘어선 복합적이고 전문적인 과업으로 기술의 주된 사용처를 전환하고 있다.</a:t>
            </a:r>
            <a:endParaRPr lang="en-US" sz="1350" dirty="0"/>
          </a:p>
        </p:txBody>
      </p:sp>
      <p:sp>
        <p:nvSpPr>
          <p:cNvPr id="7" name="Text 5"/>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5A6577"/>
                </a:solidFill>
                <a:latin typeface="Arial" pitchFamily="34" charset="0"/>
                <a:ea typeface="Arial" pitchFamily="34" charset="-122"/>
                <a:cs typeface="Arial"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 cy="365760"/>
          </a:xfrm>
          <a:prstGeom prst="rect">
            <a:avLst/>
          </a:prstGeom>
          <a:noFill/>
          <a:ln/>
        </p:spPr>
        <p:txBody>
          <a:bodyPr wrap="square" rtlCol="0" anchor="ctr"/>
          <a:lstStyle/>
          <a:p>
            <a:pPr indent="0" marL="0">
              <a:buNone/>
            </a:pPr>
            <a:r>
              <a:rPr lang="en-US" sz="1200" b="1" spc="200" kern="0" dirty="0">
                <a:solidFill>
                  <a:srgbClr val="1B4F5C"/>
                </a:solidFill>
                <a:latin typeface="Arial" pitchFamily="34" charset="0"/>
                <a:ea typeface="Arial" pitchFamily="34" charset="-122"/>
                <a:cs typeface="Arial" pitchFamily="34" charset="-120"/>
              </a:rPr>
              <a:t>08</a:t>
            </a:r>
            <a:endParaRPr lang="en-US" sz="1200" dirty="0"/>
          </a:p>
        </p:txBody>
      </p:sp>
      <p:sp>
        <p:nvSpPr>
          <p:cNvPr id="3" name="Text 1"/>
          <p:cNvSpPr/>
          <p:nvPr/>
        </p:nvSpPr>
        <p:spPr>
          <a:xfrm>
            <a:off x="548640" y="731520"/>
            <a:ext cx="11064240" cy="914400"/>
          </a:xfrm>
          <a:prstGeom prst="rect">
            <a:avLst/>
          </a:prstGeom>
          <a:noFill/>
          <a:ln/>
        </p:spPr>
        <p:txBody>
          <a:bodyPr wrap="square" rtlCol="0" anchor="t"/>
          <a:lstStyle/>
          <a:p>
            <a:pPr indent="0" marL="0">
              <a:lnSpc>
                <a:spcPct val="105000"/>
              </a:lnSpc>
              <a:buNone/>
            </a:pPr>
            <a:r>
              <a:rPr lang="en-US" sz="2500" b="1" dirty="0">
                <a:solidFill>
                  <a:srgbClr val="12203A"/>
                </a:solidFill>
                <a:latin typeface="Arial" pitchFamily="34" charset="0"/>
                <a:ea typeface="Arial" pitchFamily="34" charset="-122"/>
                <a:cs typeface="Arial" pitchFamily="34" charset="-120"/>
              </a:rPr>
              <a:t>활용 근로자, 근무시간의 17.6% 절감으로 인식</a:t>
            </a:r>
            <a:endParaRPr lang="en-US" sz="2500" dirty="0"/>
          </a:p>
        </p:txBody>
      </p:sp>
      <p:sp>
        <p:nvSpPr>
          <p:cNvPr id="4" name="Text 2"/>
          <p:cNvSpPr/>
          <p:nvPr/>
        </p:nvSpPr>
        <p:spPr>
          <a:xfrm>
            <a:off x="822960" y="1783080"/>
            <a:ext cx="10515600" cy="2011680"/>
          </a:xfrm>
          <a:prstGeom prst="rect">
            <a:avLst/>
          </a:prstGeom>
          <a:noFill/>
          <a:ln/>
        </p:spPr>
        <p:txBody>
          <a:bodyPr wrap="square" rtlCol="0" anchor="t"/>
          <a:lstStyle/>
          <a:p>
            <a:pPr marL="342900" indent="-342900">
              <a:lnSpc>
                <a:spcPct val="115000"/>
              </a:lnSpc>
              <a:spcAft>
                <a:spcPts val="1000"/>
              </a:spcAft>
              <a:buSzPct val="100000"/>
              <a:buChar char="●"/>
            </a:pPr>
            <a:r>
              <a:rPr lang="en-US" sz="1400" dirty="0">
                <a:solidFill>
                  <a:srgbClr val="12203A"/>
                </a:solidFill>
                <a:latin typeface="Arial" pitchFamily="34" charset="0"/>
                <a:ea typeface="Arial" pitchFamily="34" charset="-122"/>
                <a:cs typeface="Arial" pitchFamily="34" charset="-120"/>
              </a:rPr>
              <a:t>사용 빈도별 절약시간: 주1일 4.92시간 / 주2~4일 7.63시간 / 매일 14.29시간</a:t>
            </a:r>
            <a:endParaRPr lang="en-US" sz="1400" dirty="0"/>
          </a:p>
        </p:txBody>
      </p:sp>
      <p:sp>
        <p:nvSpPr>
          <p:cNvPr id="5" name="Shape 3"/>
          <p:cNvSpPr/>
          <p:nvPr/>
        </p:nvSpPr>
        <p:spPr>
          <a:xfrm>
            <a:off x="640080" y="2697480"/>
            <a:ext cx="10881360" cy="1517904"/>
          </a:xfrm>
          <a:prstGeom prst="roundRect">
            <a:avLst>
              <a:gd name="adj" fmla="val 3614"/>
            </a:avLst>
          </a:prstGeom>
          <a:solidFill>
            <a:srgbClr val="F5F7FA"/>
          </a:solidFill>
          <a:ln w="12700">
            <a:solidFill>
              <a:srgbClr val="DCE4EA"/>
            </a:solidFill>
            <a:prstDash val="solid"/>
          </a:ln>
        </p:spPr>
      </p:sp>
      <p:sp>
        <p:nvSpPr>
          <p:cNvPr id="6" name="Text 4"/>
          <p:cNvSpPr/>
          <p:nvPr/>
        </p:nvSpPr>
        <p:spPr>
          <a:xfrm>
            <a:off x="914400" y="2807208"/>
            <a:ext cx="10332720" cy="1298448"/>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생성형 AI 활용 근로자들은 평균적으로 주 39.3시간을 근무하는 가운데 주당 평균 5.45시간 생성형 AI를 활용하는 것으로 나타났다. '만약 생성형 AI가 없었다면 추가로 얼마나 더 일해야 했는가'라는 질문에 평균 8.41시간이라고 응답하여, 총 필요 노동시간 대비 약 17.6%의 시간 절감 효과를 인식하고 있음을 보여준다.</a:t>
            </a:r>
            <a:endParaRPr lang="en-US" sz="1350" dirty="0"/>
          </a:p>
        </p:txBody>
      </p:sp>
      <p:sp>
        <p:nvSpPr>
          <p:cNvPr id="7" name="Shape 5"/>
          <p:cNvSpPr/>
          <p:nvPr/>
        </p:nvSpPr>
        <p:spPr>
          <a:xfrm>
            <a:off x="640080" y="4443984"/>
            <a:ext cx="10881360" cy="822960"/>
          </a:xfrm>
          <a:prstGeom prst="roundRect">
            <a:avLst>
              <a:gd name="adj" fmla="val 6667"/>
            </a:avLst>
          </a:prstGeom>
          <a:solidFill>
            <a:srgbClr val="F5F7FA"/>
          </a:solidFill>
          <a:ln w="12700">
            <a:solidFill>
              <a:srgbClr val="DCE4EA"/>
            </a:solidFill>
            <a:prstDash val="solid"/>
          </a:ln>
        </p:spPr>
      </p:sp>
      <p:sp>
        <p:nvSpPr>
          <p:cNvPr id="8" name="Text 6"/>
          <p:cNvSpPr/>
          <p:nvPr/>
        </p:nvSpPr>
        <p:spPr>
          <a:xfrm>
            <a:off x="914400" y="4553712"/>
            <a:ext cx="10332720" cy="603504"/>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이러한 시간 절감은 반사실적 자기보고가 아닌 실제 업무 로그 데이터를 통해 객관적으로 검증되었다.</a:t>
            </a:r>
            <a:endParaRPr lang="en-US" sz="1350" dirty="0"/>
          </a:p>
        </p:txBody>
      </p:sp>
      <p:sp>
        <p:nvSpPr>
          <p:cNvPr id="9" name="Text 7"/>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5A6577"/>
                </a:solidFill>
                <a:latin typeface="Arial" pitchFamily="34" charset="0"/>
                <a:ea typeface="Arial" pitchFamily="34" charset="-122"/>
                <a:cs typeface="Arial"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 cy="365760"/>
          </a:xfrm>
          <a:prstGeom prst="rect">
            <a:avLst/>
          </a:prstGeom>
          <a:noFill/>
          <a:ln/>
        </p:spPr>
        <p:txBody>
          <a:bodyPr wrap="square" rtlCol="0" anchor="ctr"/>
          <a:lstStyle/>
          <a:p>
            <a:pPr indent="0" marL="0">
              <a:buNone/>
            </a:pPr>
            <a:r>
              <a:rPr lang="en-US" sz="1200" b="1" spc="200" kern="0" dirty="0">
                <a:solidFill>
                  <a:srgbClr val="1B4F5C"/>
                </a:solidFill>
                <a:latin typeface="Arial" pitchFamily="34" charset="0"/>
                <a:ea typeface="Arial" pitchFamily="34" charset="-122"/>
                <a:cs typeface="Arial" pitchFamily="34" charset="-120"/>
              </a:rPr>
              <a:t>09</a:t>
            </a:r>
            <a:endParaRPr lang="en-US" sz="1200" dirty="0"/>
          </a:p>
        </p:txBody>
      </p:sp>
      <p:sp>
        <p:nvSpPr>
          <p:cNvPr id="3" name="Text 1"/>
          <p:cNvSpPr/>
          <p:nvPr/>
        </p:nvSpPr>
        <p:spPr>
          <a:xfrm>
            <a:off x="548640" y="731520"/>
            <a:ext cx="11064240" cy="914400"/>
          </a:xfrm>
          <a:prstGeom prst="rect">
            <a:avLst/>
          </a:prstGeom>
          <a:noFill/>
          <a:ln/>
        </p:spPr>
        <p:txBody>
          <a:bodyPr wrap="square" rtlCol="0" anchor="t"/>
          <a:lstStyle/>
          <a:p>
            <a:pPr indent="0" marL="0">
              <a:lnSpc>
                <a:spcPct val="105000"/>
              </a:lnSpc>
              <a:buNone/>
            </a:pPr>
            <a:r>
              <a:rPr lang="en-US" sz="2500" b="1" dirty="0">
                <a:solidFill>
                  <a:srgbClr val="12203A"/>
                </a:solidFill>
                <a:latin typeface="Arial" pitchFamily="34" charset="0"/>
                <a:ea typeface="Arial" pitchFamily="34" charset="-122"/>
                <a:cs typeface="Arial" pitchFamily="34" charset="-120"/>
              </a:rPr>
              <a:t>활용시간의 생산성 효과는 프롬프트 역량과 결합될 때만 유의</a:t>
            </a:r>
            <a:endParaRPr lang="en-US" sz="2500" dirty="0"/>
          </a:p>
        </p:txBody>
      </p:sp>
      <p:sp>
        <p:nvSpPr>
          <p:cNvPr id="4" name="Text 2"/>
          <p:cNvSpPr/>
          <p:nvPr/>
        </p:nvSpPr>
        <p:spPr>
          <a:xfrm>
            <a:off x="822960" y="1783080"/>
            <a:ext cx="10515600" cy="2011680"/>
          </a:xfrm>
          <a:prstGeom prst="rect">
            <a:avLst/>
          </a:prstGeom>
          <a:noFill/>
          <a:ln/>
        </p:spPr>
        <p:txBody>
          <a:bodyPr wrap="square" rtlCol="0" anchor="t"/>
          <a:lstStyle/>
          <a:p>
            <a:pPr marL="342900" indent="-342900">
              <a:lnSpc>
                <a:spcPct val="115000"/>
              </a:lnSpc>
              <a:spcAft>
                <a:spcPts val="1000"/>
              </a:spcAft>
              <a:buSzPct val="100000"/>
              <a:buChar char="●"/>
            </a:pPr>
            <a:r>
              <a:rPr lang="en-US" sz="1400" dirty="0">
                <a:solidFill>
                  <a:srgbClr val="12203A"/>
                </a:solidFill>
                <a:latin typeface="Arial" pitchFamily="34" charset="0"/>
                <a:ea typeface="Arial" pitchFamily="34" charset="-122"/>
                <a:cs typeface="Arial" pitchFamily="34" charset="-120"/>
              </a:rPr>
              <a:t>모형(1) 생성형 AI 활용시간 단독: 계수 1.17*** (유의)</a:t>
            </a:r>
            <a:endParaRPr lang="en-US" sz="1400" dirty="0"/>
          </a:p>
          <a:p>
            <a:pPr marL="342900" indent="-342900">
              <a:lnSpc>
                <a:spcPct val="115000"/>
              </a:lnSpc>
              <a:spcAft>
                <a:spcPts val="1000"/>
              </a:spcAft>
              <a:buSzPct val="100000"/>
              <a:buChar char="●"/>
            </a:pPr>
            <a:r>
              <a:rPr lang="en-US" sz="1400" dirty="0">
                <a:solidFill>
                  <a:srgbClr val="12203A"/>
                </a:solidFill>
                <a:latin typeface="Arial" pitchFamily="34" charset="0"/>
                <a:ea typeface="Arial" pitchFamily="34" charset="-122"/>
                <a:cs typeface="Arial" pitchFamily="34" charset="-120"/>
              </a:rPr>
              <a:t>모형(3) 상호작용항 포함 시 활용시간 주효과: 계수 0.31 (비유의)</a:t>
            </a:r>
            <a:endParaRPr lang="en-US" sz="1400" dirty="0"/>
          </a:p>
          <a:p>
            <a:pPr marL="342900" indent="-342900">
              <a:lnSpc>
                <a:spcPct val="115000"/>
              </a:lnSpc>
              <a:spcAft>
                <a:spcPts val="1000"/>
              </a:spcAft>
              <a:buSzPct val="100000"/>
              <a:buChar char="●"/>
            </a:pPr>
            <a:r>
              <a:rPr lang="en-US" sz="1400" dirty="0">
                <a:solidFill>
                  <a:srgbClr val="12203A"/>
                </a:solidFill>
                <a:latin typeface="Arial" pitchFamily="34" charset="0"/>
                <a:ea typeface="Arial" pitchFamily="34" charset="-122"/>
                <a:cs typeface="Arial" pitchFamily="34" charset="-120"/>
              </a:rPr>
              <a:t>생성형 AI 활용시간 × 프롬프트 작성 능력 상호작용항: 초급 0.72** / 중급 0.60** / 상급 1.14*** / 전문가급 1.29**</a:t>
            </a:r>
            <a:endParaRPr lang="en-US" sz="1400" dirty="0"/>
          </a:p>
        </p:txBody>
      </p:sp>
      <p:sp>
        <p:nvSpPr>
          <p:cNvPr id="5" name="Shape 3"/>
          <p:cNvSpPr/>
          <p:nvPr/>
        </p:nvSpPr>
        <p:spPr>
          <a:xfrm>
            <a:off x="640080" y="3611880"/>
            <a:ext cx="10881360" cy="1133856"/>
          </a:xfrm>
          <a:prstGeom prst="roundRect">
            <a:avLst>
              <a:gd name="adj" fmla="val 4839"/>
            </a:avLst>
          </a:prstGeom>
          <a:solidFill>
            <a:srgbClr val="F5F7FA"/>
          </a:solidFill>
          <a:ln w="12700">
            <a:solidFill>
              <a:srgbClr val="DCE4EA"/>
            </a:solidFill>
            <a:prstDash val="solid"/>
          </a:ln>
        </p:spPr>
      </p:sp>
      <p:sp>
        <p:nvSpPr>
          <p:cNvPr id="6" name="Text 4"/>
          <p:cNvSpPr/>
          <p:nvPr/>
        </p:nvSpPr>
        <p:spPr>
          <a:xfrm>
            <a:off x="914400" y="3721608"/>
            <a:ext cx="10332720" cy="914400"/>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활용시간의 단순 주효과는 상호작용항을 포함한 모형(3)에서 통계적으로 유의하지 않았다. 반면 프롬프트 작성 능력과의 상호작용항은 초급부터 전문가급까지 모든 단계에서 유의한 양(+)의 값을 보여, 활용시간의 생산성 효과가 프롬프트 역량 수준에 따라 이질적으로 나타남을 확인하였다.</a:t>
            </a:r>
            <a:endParaRPr lang="en-US" sz="1350" dirty="0"/>
          </a:p>
        </p:txBody>
      </p:sp>
      <p:sp>
        <p:nvSpPr>
          <p:cNvPr id="7" name="Text 5"/>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5A6577"/>
                </a:solidFill>
                <a:latin typeface="Arial" pitchFamily="34" charset="0"/>
                <a:ea typeface="Arial" pitchFamily="34" charset="-122"/>
                <a:cs typeface="Arial"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 cy="365760"/>
          </a:xfrm>
          <a:prstGeom prst="rect">
            <a:avLst/>
          </a:prstGeom>
          <a:noFill/>
          <a:ln/>
        </p:spPr>
        <p:txBody>
          <a:bodyPr wrap="square" rtlCol="0" anchor="ctr"/>
          <a:lstStyle/>
          <a:p>
            <a:pPr indent="0" marL="0">
              <a:buNone/>
            </a:pPr>
            <a:r>
              <a:rPr lang="en-US" sz="1200" b="1" spc="200" kern="0" dirty="0">
                <a:solidFill>
                  <a:srgbClr val="1B4F5C"/>
                </a:solidFill>
                <a:latin typeface="Arial" pitchFamily="34" charset="0"/>
                <a:ea typeface="Arial" pitchFamily="34" charset="-122"/>
                <a:cs typeface="Arial" pitchFamily="34" charset="-120"/>
              </a:rPr>
              <a:t>10</a:t>
            </a:r>
            <a:endParaRPr lang="en-US" sz="1200" dirty="0"/>
          </a:p>
        </p:txBody>
      </p:sp>
      <p:sp>
        <p:nvSpPr>
          <p:cNvPr id="3" name="Text 1"/>
          <p:cNvSpPr/>
          <p:nvPr/>
        </p:nvSpPr>
        <p:spPr>
          <a:xfrm>
            <a:off x="548640" y="731520"/>
            <a:ext cx="11064240" cy="914400"/>
          </a:xfrm>
          <a:prstGeom prst="rect">
            <a:avLst/>
          </a:prstGeom>
          <a:noFill/>
          <a:ln/>
        </p:spPr>
        <p:txBody>
          <a:bodyPr wrap="square" rtlCol="0" anchor="t"/>
          <a:lstStyle/>
          <a:p>
            <a:pPr indent="0" marL="0">
              <a:lnSpc>
                <a:spcPct val="105000"/>
              </a:lnSpc>
              <a:buNone/>
            </a:pPr>
            <a:r>
              <a:rPr lang="en-US" sz="2500" b="1" dirty="0">
                <a:solidFill>
                  <a:srgbClr val="12203A"/>
                </a:solidFill>
                <a:latin typeface="Arial" pitchFamily="34" charset="0"/>
                <a:ea typeface="Arial" pitchFamily="34" charset="-122"/>
                <a:cs typeface="Arial" pitchFamily="34" charset="-120"/>
              </a:rPr>
              <a:t>구조화된 업무는 뚜렷, 고차원 업무는 미미</a:t>
            </a:r>
            <a:endParaRPr lang="en-US" sz="2500" dirty="0"/>
          </a:p>
        </p:txBody>
      </p:sp>
      <p:sp>
        <p:nvSpPr>
          <p:cNvPr id="4" name="Shape 2"/>
          <p:cNvSpPr/>
          <p:nvPr/>
        </p:nvSpPr>
        <p:spPr>
          <a:xfrm>
            <a:off x="640080" y="1783080"/>
            <a:ext cx="10881360" cy="1517904"/>
          </a:xfrm>
          <a:prstGeom prst="roundRect">
            <a:avLst>
              <a:gd name="adj" fmla="val 3614"/>
            </a:avLst>
          </a:prstGeom>
          <a:solidFill>
            <a:srgbClr val="F5F7FA"/>
          </a:solidFill>
          <a:ln w="12700">
            <a:solidFill>
              <a:srgbClr val="DCE4EA"/>
            </a:solidFill>
            <a:prstDash val="solid"/>
          </a:ln>
        </p:spPr>
      </p:sp>
      <p:sp>
        <p:nvSpPr>
          <p:cNvPr id="5" name="Text 3"/>
          <p:cNvSpPr/>
          <p:nvPr/>
        </p:nvSpPr>
        <p:spPr>
          <a:xfrm>
            <a:off x="914400" y="1892808"/>
            <a:ext cx="10332720" cy="1298448"/>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문서 작성·커뮤니케이션 등 정형적 업무에서는 활용시간×프롬프트 역량 상호작용항이 모든 역량 단계에서 유의한 양(+)의 관계를 보였다. 반면 아이디어 생성·개발 업무에서는 어떤 활용 역량 수준에서도 상호작용항이 유의하지 않아, 프롬프트 역량이 높아도 고차원 업무의 인식된 생산성 향상으로 이어지지 않았다.</a:t>
            </a:r>
            <a:endParaRPr lang="en-US" sz="1350" dirty="0"/>
          </a:p>
        </p:txBody>
      </p:sp>
      <p:sp>
        <p:nvSpPr>
          <p:cNvPr id="6" name="Shape 4"/>
          <p:cNvSpPr/>
          <p:nvPr/>
        </p:nvSpPr>
        <p:spPr>
          <a:xfrm>
            <a:off x="640080" y="3529584"/>
            <a:ext cx="10881360" cy="1133856"/>
          </a:xfrm>
          <a:prstGeom prst="roundRect">
            <a:avLst>
              <a:gd name="adj" fmla="val 4839"/>
            </a:avLst>
          </a:prstGeom>
          <a:solidFill>
            <a:srgbClr val="F5F7FA"/>
          </a:solidFill>
          <a:ln w="12700">
            <a:solidFill>
              <a:srgbClr val="DCE4EA"/>
            </a:solidFill>
            <a:prstDash val="solid"/>
          </a:ln>
        </p:spPr>
      </p:sp>
      <p:sp>
        <p:nvSpPr>
          <p:cNvPr id="7" name="Text 5"/>
          <p:cNvSpPr/>
          <p:nvPr/>
        </p:nvSpPr>
        <p:spPr>
          <a:xfrm>
            <a:off x="914400" y="3639312"/>
            <a:ext cx="10332720" cy="914400"/>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이는 'Jagged Frontier'(Dell'Acqua et al., 2026) 가설이 한국 임금근로자 자료에서도 유사하게 관찰됨을 보여준다.</a:t>
            </a:r>
            <a:endParaRPr lang="en-US" sz="1350" dirty="0"/>
          </a:p>
        </p:txBody>
      </p:sp>
      <p:sp>
        <p:nvSpPr>
          <p:cNvPr id="8" name="Text 6"/>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5A6577"/>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 cy="365760"/>
          </a:xfrm>
          <a:prstGeom prst="rect">
            <a:avLst/>
          </a:prstGeom>
          <a:noFill/>
          <a:ln/>
        </p:spPr>
        <p:txBody>
          <a:bodyPr wrap="square" rtlCol="0" anchor="ctr"/>
          <a:lstStyle/>
          <a:p>
            <a:pPr indent="0" marL="0">
              <a:buNone/>
            </a:pPr>
            <a:r>
              <a:rPr lang="en-US" sz="1200" b="1" spc="200" kern="0" dirty="0">
                <a:solidFill>
                  <a:srgbClr val="1B4F5C"/>
                </a:solidFill>
                <a:latin typeface="Arial" pitchFamily="34" charset="0"/>
                <a:ea typeface="Arial" pitchFamily="34" charset="-122"/>
                <a:cs typeface="Arial" pitchFamily="34" charset="-120"/>
              </a:rPr>
              <a:t>11</a:t>
            </a:r>
            <a:endParaRPr lang="en-US" sz="1200" dirty="0"/>
          </a:p>
        </p:txBody>
      </p:sp>
      <p:sp>
        <p:nvSpPr>
          <p:cNvPr id="3" name="Text 1"/>
          <p:cNvSpPr/>
          <p:nvPr/>
        </p:nvSpPr>
        <p:spPr>
          <a:xfrm>
            <a:off x="548640" y="731520"/>
            <a:ext cx="11064240" cy="914400"/>
          </a:xfrm>
          <a:prstGeom prst="rect">
            <a:avLst/>
          </a:prstGeom>
          <a:noFill/>
          <a:ln/>
        </p:spPr>
        <p:txBody>
          <a:bodyPr wrap="square" rtlCol="0" anchor="t"/>
          <a:lstStyle/>
          <a:p>
            <a:pPr indent="0" marL="0">
              <a:lnSpc>
                <a:spcPct val="105000"/>
              </a:lnSpc>
              <a:buNone/>
            </a:pPr>
            <a:r>
              <a:rPr lang="en-US" sz="2500" b="1" dirty="0">
                <a:solidFill>
                  <a:srgbClr val="12203A"/>
                </a:solidFill>
                <a:latin typeface="Arial" pitchFamily="34" charset="0"/>
                <a:ea typeface="Arial" pitchFamily="34" charset="-122"/>
                <a:cs typeface="Arial" pitchFamily="34" charset="-120"/>
              </a:rPr>
              <a:t>인과관계가 아닌 상관관계, 자기보고 기반 해석의 한계</a:t>
            </a:r>
            <a:endParaRPr lang="en-US" sz="2500" dirty="0"/>
          </a:p>
        </p:txBody>
      </p:sp>
      <p:sp>
        <p:nvSpPr>
          <p:cNvPr id="4" name="Shape 2"/>
          <p:cNvSpPr/>
          <p:nvPr/>
        </p:nvSpPr>
        <p:spPr>
          <a:xfrm>
            <a:off x="640080" y="1783080"/>
            <a:ext cx="10881360" cy="1133856"/>
          </a:xfrm>
          <a:prstGeom prst="roundRect">
            <a:avLst>
              <a:gd name="adj" fmla="val 4839"/>
            </a:avLst>
          </a:prstGeom>
          <a:solidFill>
            <a:srgbClr val="F5F7FA"/>
          </a:solidFill>
          <a:ln w="12700">
            <a:solidFill>
              <a:srgbClr val="DCE4EA"/>
            </a:solidFill>
            <a:prstDash val="solid"/>
          </a:ln>
        </p:spPr>
      </p:sp>
      <p:sp>
        <p:nvSpPr>
          <p:cNvPr id="5" name="Text 3"/>
          <p:cNvSpPr/>
          <p:nvPr/>
        </p:nvSpPr>
        <p:spPr>
          <a:xfrm>
            <a:off x="914400" y="1892808"/>
            <a:ext cx="10332720" cy="914400"/>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본 연구의 추정치는 자기보고식 설문에 기반한 횡단면 분석의 특성상 인과효과가 아닌 상관관계 수준의 증거임에 유의할 필요가 있다. 비사용자 비교집단이 표본에 포함되지 않으므로, 본 분석은 'AI 도입 효과'가 아닌 '사용자 내부의 이질성'에 대한 증거로 해석되어야 한다.</a:t>
            </a:r>
            <a:endParaRPr lang="en-US" sz="1350" dirty="0"/>
          </a:p>
        </p:txBody>
      </p:sp>
      <p:sp>
        <p:nvSpPr>
          <p:cNvPr id="6" name="Shape 4"/>
          <p:cNvSpPr/>
          <p:nvPr/>
        </p:nvSpPr>
        <p:spPr>
          <a:xfrm>
            <a:off x="640080" y="3145536"/>
            <a:ext cx="10881360" cy="1133856"/>
          </a:xfrm>
          <a:prstGeom prst="roundRect">
            <a:avLst>
              <a:gd name="adj" fmla="val 4839"/>
            </a:avLst>
          </a:prstGeom>
          <a:solidFill>
            <a:srgbClr val="F5F7FA"/>
          </a:solidFill>
          <a:ln w="12700">
            <a:solidFill>
              <a:srgbClr val="DCE4EA"/>
            </a:solidFill>
            <a:prstDash val="solid"/>
          </a:ln>
        </p:spPr>
      </p:sp>
      <p:sp>
        <p:nvSpPr>
          <p:cNvPr id="7" name="Text 5"/>
          <p:cNvSpPr/>
          <p:nvPr/>
        </p:nvSpPr>
        <p:spPr>
          <a:xfrm>
            <a:off x="914400" y="3255264"/>
            <a:ext cx="10332720" cy="914400"/>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프롬프트 작성 능력이 높은 근로자일수록 원래 업무 숙련도나 인지 능력도 높을 가능성이 있어, 추정된 상호작용항의 계수는 역량과 인식된 시간 절감 간의 인과적 효과가 아닌 선택 편향을 부분적으로 반영할 수 있다.</a:t>
            </a:r>
            <a:endParaRPr lang="en-US" sz="1350" dirty="0"/>
          </a:p>
        </p:txBody>
      </p:sp>
      <p:sp>
        <p:nvSpPr>
          <p:cNvPr id="8" name="Text 6"/>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5A6577"/>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 cy="365760"/>
          </a:xfrm>
          <a:prstGeom prst="rect">
            <a:avLst/>
          </a:prstGeom>
          <a:noFill/>
          <a:ln/>
        </p:spPr>
        <p:txBody>
          <a:bodyPr wrap="square" rtlCol="0" anchor="ctr"/>
          <a:lstStyle/>
          <a:p>
            <a:pPr indent="0" marL="0">
              <a:buNone/>
            </a:pPr>
            <a:r>
              <a:rPr lang="en-US" sz="1200" b="1" spc="200" kern="0" dirty="0">
                <a:solidFill>
                  <a:srgbClr val="1B4F5C"/>
                </a:solidFill>
                <a:latin typeface="Arial" pitchFamily="34" charset="0"/>
                <a:ea typeface="Arial" pitchFamily="34" charset="-122"/>
                <a:cs typeface="Arial" pitchFamily="34" charset="-120"/>
              </a:rPr>
              <a:t>12</a:t>
            </a:r>
            <a:endParaRPr lang="en-US" sz="1200" dirty="0"/>
          </a:p>
        </p:txBody>
      </p:sp>
      <p:sp>
        <p:nvSpPr>
          <p:cNvPr id="3" name="Text 1"/>
          <p:cNvSpPr/>
          <p:nvPr/>
        </p:nvSpPr>
        <p:spPr>
          <a:xfrm>
            <a:off x="548640" y="731520"/>
            <a:ext cx="11064240" cy="914400"/>
          </a:xfrm>
          <a:prstGeom prst="rect">
            <a:avLst/>
          </a:prstGeom>
          <a:noFill/>
          <a:ln/>
        </p:spPr>
        <p:txBody>
          <a:bodyPr wrap="square" rtlCol="0" anchor="t"/>
          <a:lstStyle/>
          <a:p>
            <a:pPr indent="0" marL="0">
              <a:lnSpc>
                <a:spcPct val="105000"/>
              </a:lnSpc>
              <a:buNone/>
            </a:pPr>
            <a:r>
              <a:rPr lang="en-US" sz="2500" b="1" dirty="0">
                <a:solidFill>
                  <a:srgbClr val="12203A"/>
                </a:solidFill>
                <a:latin typeface="Arial" pitchFamily="34" charset="0"/>
                <a:ea typeface="Arial" pitchFamily="34" charset="-122"/>
                <a:cs typeface="Arial" pitchFamily="34" charset="-120"/>
              </a:rPr>
              <a:t>AI 정책, '도입 확대'에서 '활용 역량 강화'로</a:t>
            </a:r>
            <a:endParaRPr lang="en-US" sz="2500" dirty="0"/>
          </a:p>
        </p:txBody>
      </p:sp>
      <p:sp>
        <p:nvSpPr>
          <p:cNvPr id="4" name="Shape 2"/>
          <p:cNvSpPr/>
          <p:nvPr/>
        </p:nvSpPr>
        <p:spPr>
          <a:xfrm>
            <a:off x="640080" y="1783080"/>
            <a:ext cx="10881360" cy="1517904"/>
          </a:xfrm>
          <a:prstGeom prst="roundRect">
            <a:avLst>
              <a:gd name="adj" fmla="val 3614"/>
            </a:avLst>
          </a:prstGeom>
          <a:solidFill>
            <a:srgbClr val="F5F7FA"/>
          </a:solidFill>
          <a:ln w="12700">
            <a:solidFill>
              <a:srgbClr val="DCE4EA"/>
            </a:solidFill>
            <a:prstDash val="solid"/>
          </a:ln>
        </p:spPr>
      </p:sp>
      <p:sp>
        <p:nvSpPr>
          <p:cNvPr id="5" name="Text 3"/>
          <p:cNvSpPr/>
          <p:nvPr/>
        </p:nvSpPr>
        <p:spPr>
          <a:xfrm>
            <a:off x="914400" y="1892808"/>
            <a:ext cx="10332720" cy="1298448"/>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성공적인 생성형 AI 정책은 단순한 보급 확대를 넘어, 근로자의 활용 역량 강화, 조직 단위의 지원 및 인사 구조 재설계, 기업 규모 간 격차 완화를 위한 거버넌스 체계 마련으로 나아가야 함을 시사한다. 2025년 제정되어 2026년부터 시행 중인 AI 기본법은 이러한 정책의 핵심 인프라로 기능할 수 있다.</a:t>
            </a:r>
            <a:endParaRPr lang="en-US" sz="1350" dirty="0"/>
          </a:p>
        </p:txBody>
      </p:sp>
      <p:sp>
        <p:nvSpPr>
          <p:cNvPr id="6" name="Shape 4"/>
          <p:cNvSpPr/>
          <p:nvPr/>
        </p:nvSpPr>
        <p:spPr>
          <a:xfrm>
            <a:off x="640080" y="3529584"/>
            <a:ext cx="10881360" cy="822960"/>
          </a:xfrm>
          <a:prstGeom prst="roundRect">
            <a:avLst>
              <a:gd name="adj" fmla="val 6667"/>
            </a:avLst>
          </a:prstGeom>
          <a:solidFill>
            <a:srgbClr val="F5F7FA"/>
          </a:solidFill>
          <a:ln w="12700">
            <a:solidFill>
              <a:srgbClr val="DCE4EA"/>
            </a:solidFill>
            <a:prstDash val="solid"/>
          </a:ln>
        </p:spPr>
      </p:sp>
      <p:sp>
        <p:nvSpPr>
          <p:cNvPr id="7" name="Text 5"/>
          <p:cNvSpPr/>
          <p:nvPr/>
        </p:nvSpPr>
        <p:spPr>
          <a:xfrm>
            <a:off x="914400" y="3639312"/>
            <a:ext cx="10332720" cy="603504"/>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정부는 이 연구 결과를 반영하여 2027년까지 전 국민 AI 활용 의무교육을 시행하기로 확정하였다.</a:t>
            </a:r>
            <a:endParaRPr lang="en-US" sz="1350" dirty="0"/>
          </a:p>
        </p:txBody>
      </p:sp>
      <p:sp>
        <p:nvSpPr>
          <p:cNvPr id="8" name="Text 6"/>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5A6577"/>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 cy="365760"/>
          </a:xfrm>
          <a:prstGeom prst="rect">
            <a:avLst/>
          </a:prstGeom>
          <a:noFill/>
          <a:ln/>
        </p:spPr>
        <p:txBody>
          <a:bodyPr wrap="square" rtlCol="0" anchor="ctr"/>
          <a:lstStyle/>
          <a:p>
            <a:pPr indent="0" marL="0">
              <a:buNone/>
            </a:pPr>
            <a:r>
              <a:rPr lang="en-US" sz="1200" b="1" spc="200" kern="0" dirty="0">
                <a:solidFill>
                  <a:srgbClr val="1B4F5C"/>
                </a:solidFill>
                <a:latin typeface="Arial" pitchFamily="34" charset="0"/>
                <a:ea typeface="Arial" pitchFamily="34" charset="-122"/>
                <a:cs typeface="Arial" pitchFamily="34" charset="-120"/>
              </a:rPr>
              <a:t>13</a:t>
            </a:r>
            <a:endParaRPr lang="en-US" sz="1200" dirty="0"/>
          </a:p>
        </p:txBody>
      </p:sp>
      <p:sp>
        <p:nvSpPr>
          <p:cNvPr id="3" name="Text 1"/>
          <p:cNvSpPr/>
          <p:nvPr/>
        </p:nvSpPr>
        <p:spPr>
          <a:xfrm>
            <a:off x="548640" y="731520"/>
            <a:ext cx="11064240" cy="914400"/>
          </a:xfrm>
          <a:prstGeom prst="rect">
            <a:avLst/>
          </a:prstGeom>
          <a:noFill/>
          <a:ln/>
        </p:spPr>
        <p:txBody>
          <a:bodyPr wrap="square" rtlCol="0" anchor="t"/>
          <a:lstStyle/>
          <a:p>
            <a:pPr indent="0" marL="0">
              <a:lnSpc>
                <a:spcPct val="105000"/>
              </a:lnSpc>
              <a:buNone/>
            </a:pPr>
            <a:r>
              <a:rPr lang="en-US" sz="2500" b="1" dirty="0">
                <a:solidFill>
                  <a:srgbClr val="12203A"/>
                </a:solidFill>
                <a:latin typeface="Arial" pitchFamily="34" charset="0"/>
                <a:ea typeface="Arial" pitchFamily="34" charset="-122"/>
                <a:cs typeface="Arial" pitchFamily="34" charset="-120"/>
              </a:rPr>
              <a:t>결론: 이질적 효과, 이질적 정책이 필요하다</a:t>
            </a:r>
            <a:endParaRPr lang="en-US" sz="2500" dirty="0"/>
          </a:p>
        </p:txBody>
      </p:sp>
      <p:sp>
        <p:nvSpPr>
          <p:cNvPr id="4" name="Shape 2"/>
          <p:cNvSpPr/>
          <p:nvPr/>
        </p:nvSpPr>
        <p:spPr>
          <a:xfrm>
            <a:off x="640080" y="1783080"/>
            <a:ext cx="10881360" cy="1517904"/>
          </a:xfrm>
          <a:prstGeom prst="roundRect">
            <a:avLst>
              <a:gd name="adj" fmla="val 3614"/>
            </a:avLst>
          </a:prstGeom>
          <a:solidFill>
            <a:srgbClr val="F5F7FA"/>
          </a:solidFill>
          <a:ln w="12700">
            <a:solidFill>
              <a:srgbClr val="DCE4EA"/>
            </a:solidFill>
            <a:prstDash val="solid"/>
          </a:ln>
        </p:spPr>
      </p:sp>
      <p:sp>
        <p:nvSpPr>
          <p:cNvPr id="5" name="Text 3"/>
          <p:cNvSpPr/>
          <p:nvPr/>
        </p:nvSpPr>
        <p:spPr>
          <a:xfrm>
            <a:off x="914400" y="1892808"/>
            <a:ext cx="10332720" cy="1298448"/>
          </a:xfrm>
          <a:prstGeom prst="rect">
            <a:avLst/>
          </a:prstGeom>
          <a:noFill/>
          <a:ln/>
        </p:spPr>
        <p:txBody>
          <a:bodyPr wrap="square" rtlCol="0" anchor="t"/>
          <a:lstStyle/>
          <a:p>
            <a:pPr indent="0" marL="0">
              <a:lnSpc>
                <a:spcPct val="125000"/>
              </a:lnSpc>
              <a:buNone/>
            </a:pPr>
            <a:r>
              <a:rPr lang="en-US" sz="1350" dirty="0">
                <a:solidFill>
                  <a:srgbClr val="12203A"/>
                </a:solidFill>
                <a:latin typeface="Arial" pitchFamily="34" charset="0"/>
                <a:ea typeface="Arial" pitchFamily="34" charset="-122"/>
                <a:cs typeface="Arial" pitchFamily="34" charset="-120"/>
              </a:rPr>
              <a:t>본 연구는 전국 임금근로자 2,992명을 대상으로 한 대규모 설문조사를 활용하여 한국 노동시장에서 생성형 AI의 업무 활용 실태를 기술하고, 활용 강도 및 프롬프트 작성 능력과 인식된 시간 절감 간의 관계를 분석하였다. 동일하게 도입된 AI 도구라도 활용 역량과 업무 유형에 따라 사용자가 인식하는 성과가 차별적으로 실현되며, 이는 AI 사용자 내부의 생산성 격차 확대로 이어질 수 있다.</a:t>
            </a:r>
            <a:endParaRPr lang="en-US" sz="1350" dirty="0"/>
          </a:p>
        </p:txBody>
      </p:sp>
      <p:sp>
        <p:nvSpPr>
          <p:cNvPr id="6" name="Text 4"/>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5A6577"/>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203A"/>
        </a:solidFill>
      </p:bgPr>
    </p:bg>
    <p:spTree>
      <p:nvGrpSpPr>
        <p:cNvPr id="1" name=""/>
        <p:cNvGrpSpPr/>
        <p:nvPr/>
      </p:nvGrpSpPr>
      <p:grpSpPr>
        <a:xfrm>
          <a:off x="0" y="0"/>
          <a:ext cx="0" cy="0"/>
          <a:chOff x="0" y="0"/>
          <a:chExt cx="0" cy="0"/>
        </a:xfrm>
      </p:grpSpPr>
      <p:sp>
        <p:nvSpPr>
          <p:cNvPr id="2" name="Text 0"/>
          <p:cNvSpPr/>
          <p:nvPr/>
        </p:nvSpPr>
        <p:spPr>
          <a:xfrm>
            <a:off x="0" y="2743200"/>
            <a:ext cx="12188952" cy="1097280"/>
          </a:xfrm>
          <a:prstGeom prst="rect">
            <a:avLst/>
          </a:prstGeom>
          <a:noFill/>
          <a:ln/>
        </p:spPr>
        <p:txBody>
          <a:bodyPr wrap="square"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감사합니다</a:t>
            </a:r>
            <a:endParaRPr lang="en-US" sz="4000" dirty="0"/>
          </a:p>
        </p:txBody>
      </p:sp>
      <p:sp>
        <p:nvSpPr>
          <p:cNvPr id="3" name="Text 1"/>
          <p:cNvSpPr/>
          <p:nvPr/>
        </p:nvSpPr>
        <p:spPr>
          <a:xfrm>
            <a:off x="0" y="3749040"/>
            <a:ext cx="12188952" cy="548640"/>
          </a:xfrm>
          <a:prstGeom prst="rect">
            <a:avLst/>
          </a:prstGeom>
          <a:noFill/>
          <a:ln/>
        </p:spPr>
        <p:txBody>
          <a:bodyPr wrap="square" rtlCol="0" anchor="ctr"/>
          <a:lstStyle/>
          <a:p>
            <a:pPr algn="ctr" indent="0" marL="0">
              <a:buNone/>
            </a:pPr>
            <a:r>
              <a:rPr lang="en-US" sz="1600" spc="300" kern="0" dirty="0">
                <a:solidFill>
                  <a:srgbClr val="2E8B8B"/>
                </a:solidFill>
                <a:latin typeface="Arial" pitchFamily="34" charset="0"/>
                <a:ea typeface="Arial" pitchFamily="34" charset="-122"/>
                <a:cs typeface="Arial" pitchFamily="34" charset="-120"/>
              </a:rPr>
              <a:t>Q &amp; A</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2026-08-19T12:00:39Z</dcterms:created>
  <dcterms:modified xsi:type="dcterms:W3CDTF">2026-08-19T12:00:39Z</dcterms:modified>
</cp:coreProperties>
</file>