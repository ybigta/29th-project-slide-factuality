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2245072"/>
            <a:ext cx="3124200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835622"/>
            <a:ext cx="11601450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b="1" sz="4050" i="0" u="none">
                <a:solidFill>
                  <a:srgbClr val="0F172A"/>
                </a:solidFill>
                <a:latin typeface="Poppins"/>
              </a:rPr>
              <a:t>압타머를 이용한</a:t>
            </a:r>
            <a:r>
              <a:t>
</a:t>
            </a:r>
            <a:r>
              <a:rPr b="1" sz="4050" i="0" u="none">
                <a:solidFill>
                  <a:srgbClr val="0F172A"/>
                </a:solidFill>
                <a:latin typeface="Poppins"/>
              </a:rPr>
              <a:t> 새로운 혈흔 탐지 방법의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12877"/>
            <a:ext cx="1104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Noto Sans KR"/>
              </a:rPr>
              <a:t>인간 면역글로불린 G(IgG) 특이적 압타센서를 활용한 법과학적 증거물 감정 기법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9812"/>
            <a:ext cx="5381625" cy="2990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09812"/>
            <a:ext cx="5381625" cy="2990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2712"/>
            <a:ext cx="493061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D9488"/>
                </a:solidFill>
                <a:latin typeface="Poppins"/>
              </a:rPr>
              <a:t>기존 루미놀(Luminol) 검사의 장점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2652712"/>
            <a:ext cx="493061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D9488"/>
                </a:solidFill>
                <a:latin typeface="Poppins"/>
              </a:rPr>
              <a:t>위양성(False Positive)의 한계점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071812"/>
            <a:ext cx="44672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대표적 예비시험: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산화-환원 반응을 통한 대표적인 화학발광 혈흔 탐지법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00462"/>
            <a:ext cx="44672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높은 민감도: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육안으로 보이지 않는 극미량의 잠재 혈흔 탐지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329112"/>
            <a:ext cx="44672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후속 검사 호환: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반응 이후에도 DNA 추출 및 유전자 분석 수행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0375" y="3071812"/>
            <a:ext cx="44672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강력 산화제 간섭: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가정용 표백제(유한락스) 등에 비특이적 발광 반응 발생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0375" y="3700462"/>
            <a:ext cx="44672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식물 효소 교차반응: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양배추, 마늘 등 식물 과산화효소(Peroxidase) 반응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0375" y="4329112"/>
            <a:ext cx="44672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금속 이온 간섭: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구리, 철, 망간 등 금속 이온에 의한 위양성 오류 발생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52762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0D9488"/>
                </a:solidFill>
                <a:latin typeface="Noto Sans K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81412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0D9488"/>
                </a:solidFill>
                <a:latin typeface="Noto Sans K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10062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0D9488"/>
                </a:solidFill>
                <a:latin typeface="Noto Sans K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3052762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0D9488"/>
                </a:solidFill>
                <a:latin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3681412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0D9488"/>
                </a:solidFill>
                <a:latin typeface="Noto Sans K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4310062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0D9488"/>
                </a:solidFill>
                <a:latin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기존 루미놀 검사의 특징 및 한계점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100" y="1995487"/>
            <a:ext cx="51530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높은 특이성 및 친화성: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20~60mer 단일가닥 DNA/RNA로서 표적 물질에 고선택적 결합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2624137"/>
            <a:ext cx="51530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화학적 합성 및 안정성: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인비트로(in vitro) 합성으로 높은 재현성과 열·pH 안정성 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252787"/>
            <a:ext cx="51530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낮은 생산 비용: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항체(Antibody) 대비 신속하고 경제적인 대량 생산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881437"/>
            <a:ext cx="51530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법과학 바이오센서 적용: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체액 감정 및 현장용 진단 키트 개발에 최적화된 기술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95487"/>
            <a:ext cx="5381625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976437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0D9488"/>
                </a:solidFill>
                <a:latin typeface="Noto Sans K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605087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0D9488"/>
                </a:solidFill>
                <a:latin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233737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0D9488"/>
                </a:solidFill>
                <a:latin typeface="Noto Sans K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862387"/>
            <a:ext cx="76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0D9488"/>
                </a:solidFill>
                <a:latin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압타머(Aptamer) 기술의 특성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압타센서의 작동 메커니즘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28725"/>
            <a:ext cx="555069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D9488"/>
                </a:solidFill>
                <a:latin typeface="Poppins"/>
              </a:rPr>
              <a:t>인간 IgG 표적 형광 소광 복원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647825"/>
            <a:ext cx="5286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Noto Sans KR"/>
              </a:rPr>
              <a:t>소광물질(BHQ1)이 결합된 압타머 가닥과 형광물질(6-FAM)이 결합된 상보가닥이 이중가닥을 형성하여 형광이 소광된 상태를 유지합니다.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276475"/>
            <a:ext cx="52863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Noto Sans KR"/>
              </a:rPr>
              <a:t>인간 면역글로불린 G(Human IgG)가 존재하면 압타머가 표적 단백질과 강하게 결합하여 형광가닥이 분리되고, 520nm에서 명확한 형광 신호가 발산됩니다.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6500"/>
            <a:ext cx="3530649" cy="2657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76500"/>
            <a:ext cx="3530649" cy="2657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76500"/>
            <a:ext cx="3530649" cy="2657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771775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533775"/>
            <a:ext cx="320711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D9488"/>
                </a:solidFill>
                <a:latin typeface="Poppins"/>
              </a:rPr>
              <a:t>압타머 가닥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52875"/>
            <a:ext cx="30543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Noto Sans KR"/>
              </a:rPr>
              <a:t>인간 IgG에 특이적으로 결합하는 60mer 단일가닥 DNA 3' 말단에 BHQ1 소광물질을 수식하여 기본 골격 구축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771775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533775"/>
            <a:ext cx="320711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D9488"/>
                </a:solidFill>
                <a:latin typeface="Poppins"/>
              </a:rPr>
              <a:t>상보가닥 길이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952875"/>
            <a:ext cx="30543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Noto Sans KR"/>
              </a:rPr>
              <a:t>8bp부터 12bp까지 길이별 상보가닥(AS-8 ~ AS-12)을 제작하여 표적 결합에 따른 형광 회복율 평가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771775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533775"/>
            <a:ext cx="320711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D9488"/>
                </a:solidFill>
                <a:latin typeface="Poppins"/>
              </a:rPr>
              <a:t>최적 센서 선별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952875"/>
            <a:ext cx="30543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Noto Sans KR"/>
              </a:rPr>
              <a:t>AS-10 및 AS-11 가닥이 표적 반응 시 최선의 신호 대 잡음비(S/N ratio)와 최대 형광 세기 증가를 보임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758" y="2905125"/>
            <a:ext cx="237083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6008" y="2905125"/>
            <a:ext cx="237083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5258" y="2905125"/>
            <a:ext cx="237083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압타센서 설계 및 최적화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6050"/>
            <a:ext cx="5381625" cy="2238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2412" y="3067050"/>
            <a:ext cx="2679799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0" sz="8250" i="0" u="none">
                <a:solidFill>
                  <a:srgbClr val="2DD4BF"/>
                </a:solidFill>
                <a:latin typeface="Poppins ExtraBold"/>
              </a:rPr>
              <a:t>200%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1975" y="4257675"/>
            <a:ext cx="206067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Noto Sans KR"/>
              </a:rPr>
              <a:t>형광 신호 세기 증가율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8875" y="2686050"/>
            <a:ext cx="5650706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D9488"/>
                </a:solidFill>
                <a:latin typeface="Poppins"/>
              </a:rPr>
              <a:t>정량적 감도 및 정밀 반응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3105150"/>
            <a:ext cx="53816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Noto Sans KR"/>
              </a:rPr>
              <a:t>인간 면역글로불린 G(Human IgG)의 농도가 증가함에 따라 개발된 압타센서의 형광 세기가 약 2배(200%) 비례하여 유의미하게 증가함을 확인하였습니다.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8875" y="3990975"/>
            <a:ext cx="5381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Noto Sans KR"/>
              </a:rPr>
              <a:t>이를 통해 미량의 혈흔 시료에서도 정량적이고 객관적인 신호 검출이 가능함을 입증하였습니다.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인간 IgG 농도별 형광 반응성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28725"/>
            <a:ext cx="11049000" cy="5153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95800"/>
            <a:ext cx="11049000" cy="800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위양성 요인 대비 압타센서 선택성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276475"/>
            <a:ext cx="11049000" cy="30575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276475"/>
          <a:ext cx="11029948" cy="3057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594496"/>
                <a:gridCol w="2235547"/>
                <a:gridCol w="2464296"/>
                <a:gridCol w="2735609"/>
              </a:tblGrid>
              <a:tr h="611505"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FFFFFF"/>
                          </a:solidFill>
                          <a:latin typeface="Noto Sans KR"/>
                        </a:rPr>
                        <a:t>시료 및 반응 조건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FFFFFF"/>
                          </a:solidFill>
                          <a:latin typeface="Noto Sans KR"/>
                        </a:rPr>
                        <a:t>기존 루미놀 반응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FFFFFF"/>
                          </a:solidFill>
                          <a:latin typeface="Noto Sans KR"/>
                        </a:rPr>
                        <a:t>신규 압타센서 반응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 i="0" u="none">
                          <a:solidFill>
                            <a:srgbClr val="FFFFFF"/>
                          </a:solidFill>
                          <a:latin typeface="Noto Sans KR"/>
                        </a:rPr>
                        <a:t>법과학적 감정 판정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인간 혈액 (Human Blood)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발광 반응</a:t>
                      </a:r>
                    </a:p>
                  </a:txBody>
                  <a:tcPr anchor="ctr" marL="247798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형광 발산</a:t>
                      </a:r>
                    </a:p>
                  </a:txBody>
                  <a:tcPr anchor="ctr" marL="247798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진양성 (True Positive)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유한락스 (Bleach)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강한 위양성</a:t>
                      </a:r>
                    </a:p>
                  </a:txBody>
                  <a:tcPr anchor="ctr" marL="247798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미반응 (소광)</a:t>
                      </a:r>
                    </a:p>
                  </a:txBody>
                  <a:tcPr anchor="ctr" marL="247798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위양성 오류 차단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식물 과산화효소 (양배추/마늘)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위양성 반응</a:t>
                      </a:r>
                    </a:p>
                  </a:txBody>
                  <a:tcPr anchor="ctr" marL="247798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미반응 (소광)</a:t>
                      </a:r>
                    </a:p>
                  </a:txBody>
                  <a:tcPr anchor="ctr" marL="247798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교차반응 차단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동물 혈액 (Bovine/Cat/Dog)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구별 불가</a:t>
                      </a:r>
                    </a:p>
                  </a:txBody>
                  <a:tcPr anchor="ctr" marL="247798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미반응 (소광)</a:t>
                      </a:r>
                    </a:p>
                  </a:txBody>
                  <a:tcPr anchor="ctr" marL="247798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인혈 종 특이성 확보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886075"/>
            <a:ext cx="35944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75521" y="2886075"/>
            <a:ext cx="22355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11069" y="2886075"/>
            <a:ext cx="24642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75365" y="2886075"/>
            <a:ext cx="27356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3495675"/>
            <a:ext cx="35944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5521" y="3495675"/>
            <a:ext cx="22355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1069" y="3495675"/>
            <a:ext cx="24642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75365" y="3495675"/>
            <a:ext cx="27356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4105275"/>
            <a:ext cx="35944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5521" y="4105275"/>
            <a:ext cx="22355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1069" y="4105275"/>
            <a:ext cx="24642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75365" y="4105275"/>
            <a:ext cx="27356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4714875"/>
            <a:ext cx="35944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75521" y="4714875"/>
            <a:ext cx="22355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11069" y="4714875"/>
            <a:ext cx="24642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75365" y="4714875"/>
            <a:ext cx="27356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868" y="3105150"/>
            <a:ext cx="133498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872" y="4933950"/>
            <a:ext cx="133498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147" y="4324350"/>
            <a:ext cx="133498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147" y="3714750"/>
            <a:ext cx="133498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2993" y="4324350"/>
            <a:ext cx="133498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5872" y="3105150"/>
            <a:ext cx="133498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2993" y="4933950"/>
            <a:ext cx="133498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2993" y="3714750"/>
            <a:ext cx="133498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5872" y="3105150"/>
            <a:ext cx="133498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868" y="3105150"/>
            <a:ext cx="133498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147" y="3714750"/>
            <a:ext cx="133498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2993" y="3714750"/>
            <a:ext cx="133498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147" y="4324350"/>
            <a:ext cx="133498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2993" y="4324350"/>
            <a:ext cx="133498" cy="1714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872" y="4933950"/>
            <a:ext cx="133498" cy="1714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2993" y="4933950"/>
            <a:ext cx="133498" cy="1714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주요 방해 물질 및 종 특이성 비교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581525"/>
            <a:ext cx="35306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Step 1. 혈흔 시료 수집</a:t>
            </a:r>
            <a:r>
              <a:t>
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다양한 재질의 표면에서 잠재 혈흔 증거물 채취 및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30749" y="4581525"/>
            <a:ext cx="3530649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Step 2. 압타센서 분무/반응</a:t>
            </a:r>
            <a:r>
              <a:t>
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IgG 표적 압타센서 처리를 통한 형광 반응 유도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89999" y="4581525"/>
            <a:ext cx="35306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Step 3. 형광 시각화 감정</a:t>
            </a:r>
            <a:r>
              <a:t>
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특정 파장 자극을 통해 위양성 없는 정밀 혈흔 탐지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43125"/>
            <a:ext cx="3530649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143125"/>
            <a:ext cx="3530649" cy="2286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143125"/>
            <a:ext cx="3530649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실제 증거물 적용 및 형광 탐지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90987"/>
            <a:ext cx="2541240" cy="1162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57437"/>
            <a:ext cx="2541240" cy="1162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90987"/>
            <a:ext cx="2541240" cy="1162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57437"/>
            <a:ext cx="2541240" cy="11620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861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7990" y="4291012"/>
            <a:ext cx="232825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oppins"/>
              </a:rPr>
              <a:t>1. 압타센서 탐지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24387"/>
            <a:ext cx="221739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Noto Sans KR"/>
              </a:rPr>
              <a:t>현장 혈흔 증거물 대상 비파괴적 형광 식별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557462"/>
            <a:ext cx="232825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oppins"/>
              </a:rPr>
              <a:t>2. DNA 추출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2890837"/>
            <a:ext cx="221739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Noto Sans KR"/>
              </a:rPr>
              <a:t>QIAamp DNA Micro 키트를 이용한 유전자 정제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291012"/>
            <a:ext cx="232825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oppins"/>
              </a:rPr>
              <a:t>3. 실시간 PCR 정량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624387"/>
            <a:ext cx="221739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Noto Sans KR"/>
              </a:rPr>
              <a:t>Quantifiler Trio 키트로 human DNA 정량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557462"/>
            <a:ext cx="232825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oppins"/>
              </a:rPr>
              <a:t>4. STR 프로파일링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2890837"/>
            <a:ext cx="221739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Noto Sans KR"/>
              </a:rPr>
              <a:t>GlobalFiler 분석을 통한 개인식별 프로필 완성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후속 유전자 분석 연계 워크플로우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45" y="37004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3265" y="37004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9184" y="37004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45104" y="37004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1800225"/>
            <a:ext cx="9525000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52625" y="1990725"/>
            <a:ext cx="86772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형광 물질 간섭 전무: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압타센서에 사용된 6-FAM 및 BHQ1 물질이 후속 DNA 정제 과정에서 완벽히 제거되어 형광 간섭이 발생하지 않음.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2867025"/>
            <a:ext cx="9525000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52625" y="3057525"/>
            <a:ext cx="86772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DNA 회복율 유지: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압타센서 처리 후 DNA 정량 분석(Quantifiler Trio) 결과, 무처리 대조군과 동일 수준의 높인 DNA 농도 및 수율 확보.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3933825"/>
            <a:ext cx="9525000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52625" y="4124325"/>
            <a:ext cx="86772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100% 완전한 STR 프로필: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GlobalFiler 및 PowerPlex Fusion 분석 결과 24개 이상의 마커에서 깨끗하고 완전한 유전자 프로필(DNA Profile) 획득.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3500" y="5000625"/>
            <a:ext cx="9525000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52625" y="5191125"/>
            <a:ext cx="86772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법정 제출 증거 능력: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단일 증거물에서 혈흔 식별과 개인식별 DNA 분석을 연속적으로 안심하고 적용 가능.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27051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33500" y="37719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33500" y="48387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33500" y="564832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005012"/>
            <a:ext cx="177849" cy="2571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3071812"/>
            <a:ext cx="177849" cy="2571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4138612"/>
            <a:ext cx="177849" cy="2571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625" y="5205412"/>
            <a:ext cx="177849" cy="2571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유전자 분석 간섭성 검증 결과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080" y="2257425"/>
            <a:ext cx="5087689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476250"/>
            <a:ext cx="116014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oppins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47800"/>
            <a:ext cx="1104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475569"/>
                </a:solidFill>
                <a:latin typeface="Noto Sans KR"/>
              </a:rPr>
              <a:t>압타머 기반 혈흔 탐지 감정 기법에 관한 질문을 환영합니다.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99543" y="1847850"/>
            <a:ext cx="7592913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99543" y="2619375"/>
            <a:ext cx="7592913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99543" y="3390900"/>
            <a:ext cx="7592913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99543" y="4162425"/>
            <a:ext cx="7592913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99543" y="2609850"/>
            <a:ext cx="759291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99543" y="2609850"/>
            <a:ext cx="759291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99543" y="3381375"/>
            <a:ext cx="759291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99543" y="3381375"/>
            <a:ext cx="759291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99543" y="4152900"/>
            <a:ext cx="759291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9543" y="4152900"/>
            <a:ext cx="759291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99543" y="4924425"/>
            <a:ext cx="759291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99543" y="4924425"/>
            <a:ext cx="759291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543" y="199072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94918" y="1997868"/>
            <a:ext cx="6497538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Noto Sans KR"/>
              </a:rPr>
              <a:t>https://www.mdpi.com/ijms/ijms-25-06833/article_deploy/html/images/ijms-25-06833-g001.png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4918" y="2231231"/>
            <a:ext cx="6497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www.mdpi.com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543" y="276225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94918" y="2769393"/>
            <a:ext cx="6497538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Noto Sans KR"/>
              </a:rPr>
              <a:t>https://www.mdpi.com/biosensors/biosensors-14-00376/article_deploy/html/images/biosensors-14-00376-g001-550.jpg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4918" y="3002756"/>
            <a:ext cx="6497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www.mdpi.com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9543" y="3533775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394918" y="3540918"/>
            <a:ext cx="6497538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Noto Sans KR"/>
              </a:rPr>
              <a:t>https://www.forensicsciencesimplified.org/blood/img/patterns0304.jpg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4918" y="3774281"/>
            <a:ext cx="6497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www.forensicsciencesimplified.org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9543" y="4305300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94918" y="4312443"/>
            <a:ext cx="6497538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Noto Sans KR"/>
              </a:rPr>
              <a:t>https://www.minipcr.com/wp-content/uploads/DSC_0254-800x533.jpg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4918" y="4545806"/>
            <a:ext cx="6497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www.minipcr.com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9543" y="5076825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394918" y="5083968"/>
            <a:ext cx="6497538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Noto Sans KR"/>
              </a:rPr>
              <a:t>https://www.azolifesciences.com/images/Article_Images/ImageForArticle_992_16690396971066182.jpg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4918" y="5317331"/>
            <a:ext cx="6497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www.azolifesciences.com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476250"/>
            <a:ext cx="11601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