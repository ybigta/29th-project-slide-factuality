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57a7c9380c4571" /><Relationship Type="http://schemas.openxmlformats.org/officeDocument/2006/relationships/extended-properties" Target="/docProps/app.xml" Id="Rcaa39aa1fcbb44d3" /><Relationship Type="http://schemas.openxmlformats.org/officeDocument/2006/relationships/officeDocument" Target="/ppt/presentation.xml" Id="R8a7da27a06cb47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4f1199ae514a71"/>
  </p:sldMasterIdLst>
  <p:notesMasterIdLst>
    <p:notesMasterId xmlns:r="http://schemas.openxmlformats.org/officeDocument/2006/relationships" r:id="Rb758cb434854494a"/>
  </p:notesMasterIdLst>
  <p:sldIdLst>
    <p:sldId xmlns:r="http://schemas.openxmlformats.org/officeDocument/2006/relationships" id="256" r:id="R3a05c56493eb4841"/>
    <p:sldId xmlns:r="http://schemas.openxmlformats.org/officeDocument/2006/relationships" id="257" r:id="Re588dfb8174a4eac"/>
    <p:sldId xmlns:r="http://schemas.openxmlformats.org/officeDocument/2006/relationships" id="258" r:id="Reb9e34d9b1154b2e"/>
    <p:sldId xmlns:r="http://schemas.openxmlformats.org/officeDocument/2006/relationships" id="259" r:id="Re32daaae5de04076"/>
    <p:sldId xmlns:r="http://schemas.openxmlformats.org/officeDocument/2006/relationships" id="260" r:id="Rdcbf11ea7aeb408a"/>
    <p:sldId xmlns:r="http://schemas.openxmlformats.org/officeDocument/2006/relationships" id="261" r:id="Ra1f8818cd6db4860"/>
    <p:sldId xmlns:r="http://schemas.openxmlformats.org/officeDocument/2006/relationships" id="262" r:id="R422aba5ed7ca464e"/>
    <p:sldId xmlns:r="http://schemas.openxmlformats.org/officeDocument/2006/relationships" id="263" r:id="Rb11c117193424d04"/>
    <p:sldId xmlns:r="http://schemas.openxmlformats.org/officeDocument/2006/relationships" id="264" r:id="R72c2b77f224946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d4ed013f894a14" /><Relationship Type="http://schemas.openxmlformats.org/officeDocument/2006/relationships/slideMaster" Target="/ppt/slideMasters/slideMaster1.xml" Id="R6b4f1199ae514a71" /><Relationship Type="http://schemas.openxmlformats.org/officeDocument/2006/relationships/notesMaster" Target="/ppt/notesMasters/notesMaster1.xml" Id="Rb758cb434854494a" /><Relationship Type="http://schemas.openxmlformats.org/officeDocument/2006/relationships/presProps" Target="/ppt/presProps.xml" Id="Re90ed3bdb6d44f50" /><Relationship Type="http://schemas.openxmlformats.org/officeDocument/2006/relationships/tableStyles" Target="/ppt/tableStyles.xml" Id="R9e9a38a6bfff482d" /><Relationship Type="http://schemas.openxmlformats.org/officeDocument/2006/relationships/slide" Target="/ppt/slides/slide1.xml" Id="R3a05c56493eb4841" /><Relationship Type="http://schemas.openxmlformats.org/officeDocument/2006/relationships/slide" Target="/ppt/slides/slide2.xml" Id="Re588dfb8174a4eac" /><Relationship Type="http://schemas.openxmlformats.org/officeDocument/2006/relationships/slide" Target="/ppt/slides/slide3.xml" Id="Reb9e34d9b1154b2e" /><Relationship Type="http://schemas.openxmlformats.org/officeDocument/2006/relationships/slide" Target="/ppt/slides/slide4.xml" Id="Re32daaae5de04076" /><Relationship Type="http://schemas.openxmlformats.org/officeDocument/2006/relationships/slide" Target="/ppt/slides/slide5.xml" Id="Rdcbf11ea7aeb408a" /><Relationship Type="http://schemas.openxmlformats.org/officeDocument/2006/relationships/slide" Target="/ppt/slides/slide6.xml" Id="Ra1f8818cd6db4860" /><Relationship Type="http://schemas.openxmlformats.org/officeDocument/2006/relationships/slide" Target="/ppt/slides/slide7.xml" Id="R422aba5ed7ca464e" /><Relationship Type="http://schemas.openxmlformats.org/officeDocument/2006/relationships/slide" Target="/ppt/slides/slide8.xml" Id="Rb11c117193424d04" /><Relationship Type="http://schemas.openxmlformats.org/officeDocument/2006/relationships/slide" Target="/ppt/slides/slide9.xml" Id="R72c2b77f224946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1b128942c242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84b503063e4478" /><Relationship Type="http://schemas.openxmlformats.org/officeDocument/2006/relationships/notesMaster" Target="/ppt/notesMasters/notesMaster1.xml" Id="R5e8d9860588b49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27fd80c59642ca" /><Relationship Type="http://schemas.openxmlformats.org/officeDocument/2006/relationships/notesMaster" Target="/ppt/notesMasters/notesMaster1.xml" Id="R163b5db4011f4f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e25664847b49da" /><Relationship Type="http://schemas.openxmlformats.org/officeDocument/2006/relationships/notesMaster" Target="/ppt/notesMasters/notesMaster1.xml" Id="Rdfa9c1a0e38443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7bbc3730f444ed" /><Relationship Type="http://schemas.openxmlformats.org/officeDocument/2006/relationships/notesMaster" Target="/ppt/notesMasters/notesMaster1.xml" Id="Rccfb0a4333844a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b79221ed144f68" /><Relationship Type="http://schemas.openxmlformats.org/officeDocument/2006/relationships/notesMaster" Target="/ppt/notesMasters/notesMaster1.xml" Id="R792d004c3ac042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643cf772814920" /><Relationship Type="http://schemas.openxmlformats.org/officeDocument/2006/relationships/notesMaster" Target="/ppt/notesMasters/notesMaster1.xml" Id="R551bce0045db49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1d8104b55c44ef" /><Relationship Type="http://schemas.openxmlformats.org/officeDocument/2006/relationships/notesMaster" Target="/ppt/notesMasters/notesMaster1.xml" Id="R0b483ff993ca49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ec3098400f46a4" /><Relationship Type="http://schemas.openxmlformats.org/officeDocument/2006/relationships/notesMaster" Target="/ppt/notesMasters/notesMaster1.xml" Id="R1f102009318142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ba83963dfb417d" /><Relationship Type="http://schemas.openxmlformats.org/officeDocument/2006/relationships/notesMaster" Target="/ppt/notesMasters/notesMaster1.xml" Id="Red0b95394fbf45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현세희 외, 「경기도와 제주도 야생화들로부터 효모의 분리, 동정 및 항통풍성 Xanthine oxidase 저해물질의 생산」, Korean J. Microbiol. Biotechnol. 41(4), 2013, pp. 383.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현세희 외, 「경기도와 제주도 야생화들로부터 효모의 분리, 동정 및 항통풍성 Xanthine oxidase 저해물질의 생산」, Korean J. Microbiol. Biotechnol. 41(4), 2013, pp. 383-384.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현세희 외, 「경기도와 제주도 야생화들로부터 효모의 분리, 동정 및 항통풍성 Xanthine oxidase 저해물질의 생산」, Korean J. Microbiol. Biotechnol. 41(4), 2013, pp. 384-386.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현세희 외, 「경기도와 제주도 야생화들로부터 효모의 분리, 동정 및 항통풍성 Xanthine oxidase 저해물질의 생산」, Korean J. Microbiol. Biotechnol. 41(4), 2013, pp. 385-386.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현세희 외, 「경기도와 제주도 야생화들로부터 효모의 분리, 동정 및 항통풍성 Xanthine oxidase 저해물질의 생산」, Korean J. Microbiol. Biotechnol. 41(4), 2013, pp. 384.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현세희 외, 「경기도와 제주도 야생화들로부터 효모의 분리, 동정 및 항통풍성 Xanthine oxidase 저해물질의 생산」, Korean J. Microbiol. Biotechnol. 41(4), 2013, pp. 386-388.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현세희 외, 「경기도와 제주도 야생화들로부터 효모의 분리, 동정 및 항통풍성 Xanthine oxidase 저해물질의 생산」, Korean J. Microbiol. Biotechnol. 41(4), 2013, pp. 387-388.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현세희 외, 「경기도와 제주도 야생화들로부터 효모의 분리, 동정 및 항통풍성 Xanthine oxidase 저해물질의 생산」, Korean J. Microbiol. Biotechnol. 41(4), 2013, pp. 388-389.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현세희 외, 「경기도와 제주도 야생화들로부터 효모의 분리, 동정 및 항통풍성 Xanthine oxidase 저해물질의 생산」, Korean J. Microbiol. Biotechnol. 41(4), 2013, pp. 389.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d9f27bf8140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942b1eab394772" /><Relationship Type="http://schemas.openxmlformats.org/officeDocument/2006/relationships/slideLayout" Target="/ppt/slideLayouts/slideLayout1.xml" Id="Rc614eed134d447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14eed134d447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78655dc224c83" /><Relationship Type="http://schemas.openxmlformats.org/officeDocument/2006/relationships/image" Target="/ppt/media/image.png" Id="R01995907f61a4cf7" /><Relationship Type="http://schemas.openxmlformats.org/officeDocument/2006/relationships/notesSlide" Target="/ppt/notesSlides/notesSlide1.xml" Id="R300adcae506140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05ba1f23643e2" /><Relationship Type="http://schemas.openxmlformats.org/officeDocument/2006/relationships/notesSlide" Target="/ppt/notesSlides/notesSlide2.xml" Id="R00b45a48042942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6a230d6fa4dfb" /><Relationship Type="http://schemas.openxmlformats.org/officeDocument/2006/relationships/notesSlide" Target="/ppt/notesSlides/notesSlide3.xml" Id="R95962043c7a844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42c750cae4d1a" /><Relationship Type="http://schemas.openxmlformats.org/officeDocument/2006/relationships/chart" Target="/ppt/slides/charts/chart1.xml" Id="R95a35f63e40d4a4a" /><Relationship Type="http://schemas.openxmlformats.org/officeDocument/2006/relationships/notesSlide" Target="/ppt/notesSlides/notesSlide4.xml" Id="R85cd1336670c4c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c5d7187b940af" /><Relationship Type="http://schemas.openxmlformats.org/officeDocument/2006/relationships/image" Target="/ppt/media/image2.png" Id="R823d93d78dc04991" /><Relationship Type="http://schemas.openxmlformats.org/officeDocument/2006/relationships/notesSlide" Target="/ppt/notesSlides/notesSlide5.xml" Id="R4a0f909bb89b46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1cc98eb224cbb" /><Relationship Type="http://schemas.openxmlformats.org/officeDocument/2006/relationships/notesSlide" Target="/ppt/notesSlides/notesSlide6.xml" Id="Re0e3430ea1d44b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1369b8dd94995" /><Relationship Type="http://schemas.openxmlformats.org/officeDocument/2006/relationships/chart" Target="/ppt/slides/charts/chart2.xml" Id="R1f035eae28d444d5" /><Relationship Type="http://schemas.openxmlformats.org/officeDocument/2006/relationships/notesSlide" Target="/ppt/notesSlides/notesSlide7.xml" Id="Rbff3da65c63c48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df0369ae34ccc" /><Relationship Type="http://schemas.openxmlformats.org/officeDocument/2006/relationships/image" Target="/ppt/media/image3.png" Id="R048d897b0d544974" /><Relationship Type="http://schemas.openxmlformats.org/officeDocument/2006/relationships/notesSlide" Target="/ppt/notesSlides/notesSlide8.xml" Id="Rbef2b4ff54014b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0e1c707cf47f6" /><Relationship Type="http://schemas.openxmlformats.org/officeDocument/2006/relationships/notesSlide" Target="/ppt/notesSlides/notesSlide9.xml" Id="R3e583e0d960049e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균주 수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경기도</c:v>
              </c:pt>
              <c:pt idx="1">
                <c:v>제주도</c:v>
              </c:pt>
            </c:strLit>
          </c:cat>
          <c:val>
            <c:numLit>
              <c:formatCode>General</c:formatCode>
              <c:ptCount val="2"/>
              <c:pt idx="0">
                <c:v>62</c:v>
              </c:pt>
              <c:pt idx="1">
                <c:v>40</c:v>
              </c:pt>
            </c:numLit>
          </c:val>
        </c:ser>
        <c:ser>
          <c:idx val="1"/>
          <c:order val="1"/>
          <c:tx>
            <c:v>종 수</c:v>
          </c:tx>
          <c:spPr>
            <a:solidFill xmlns:a="http://schemas.openxmlformats.org/drawingml/2006/main">
              <a:srgbClr val="0A8F7A"/>
            </a:solidFill>
          </c:spPr>
          <c:cat>
            <c:strLit>
              <c:ptCount val="2"/>
              <c:pt idx="0">
                <c:v>경기도</c:v>
              </c:pt>
              <c:pt idx="1">
                <c:v>제주도</c:v>
              </c:pt>
            </c:strLit>
          </c:cat>
          <c:val>
            <c:numLit>
              <c:formatCode>General</c:formatCode>
              <c:ptCount val="2"/>
              <c:pt idx="0">
                <c:v>31</c:v>
              </c:pt>
              <c:pt idx="1">
                <c:v>36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47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XOD 저해활성 (%)</c:v>
          </c:tx>
          <c:spPr>
            <a:solidFill xmlns:a="http://schemas.openxmlformats.org/drawingml/2006/main">
              <a:srgbClr val="0A8F7A"/>
            </a:solidFill>
          </c:spPr>
          <c:cat>
            <c:strLit>
              <c:ptCount val="2"/>
              <c:pt idx="0">
                <c:v>세포외</c:v>
              </c:pt>
              <c:pt idx="1">
                <c:v>세포내</c:v>
              </c:pt>
            </c:strLit>
          </c:cat>
          <c:val>
            <c:numLit>
              <c:formatCode>General</c:formatCode>
              <c:ptCount val="2"/>
              <c:pt idx="0">
                <c:v>35.2</c:v>
              </c:pt>
              <c:pt idx="1">
                <c:v>42.8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47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49323-6333-4196-B7F8-9005EA6B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rPr>
              <a:t>WILD YEAST · XOD INHIBITION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D0444D1-2859-4D3B-A56B-7A62EBEE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71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야생화 유래 효모의</a:t>
            </a:r>
          </a:p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분리·동정과 항통풍성</a:t>
            </a:r>
          </a:p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XOD 저해물질 생산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4DAD9-9DD3-4E23-A95E-9392101A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514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경기도와 제주도에서 확보한 야생 효모의</a:t>
            </a:r>
          </a:p>
          <a:p xmlns:a="http://schemas.openxmlformats.org/drawingml/2006/main">
            <a:pPr algn="l">
              <a:defRPr sz="180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다양성과 기능성 후보 균주 탐색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4632E-9AEC-4E8B-A4E8-C6EEE8DB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3714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7A"/>
          </a:solidFill>
          <a:ln xmlns:a="http://schemas.openxmlformats.org/drawingml/2006/main" w="0">
            <a:solidFill>
              <a:srgbClr val="0A8F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925B2-C347-498D-80D0-4420A6C6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현세희 외  |  Korean J. Microbiol. Biotechnol. 41(4), 2013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1B307-5DC0-4241-976A-07B25B9F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4350"/>
            <a:ext cx="5095875" cy="539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95907f61a4cf7"/>
          <a:stretch xmlns:a="http://schemas.openxmlformats.org/drawingml/2006/main"/>
        </p:blipFill>
        <p:spPr>
          <a:xfrm xmlns:a="http://schemas.openxmlformats.org/drawingml/2006/main">
            <a:off x="6600825" y="1193508"/>
            <a:ext cx="4943475" cy="403283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98DCF-AC59-4E11-86F1-D6969DF6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0483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rPr>
              <a:t>WILD FLOWER MICROBIOME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FCC3C-36DF-485C-B71C-732566AA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12398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B1170BF0-7EBE-48EB-9FA6-C258CD4E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야생화 64점에서 기능성 효모 102균주를 확보했다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FDBCC-E71C-4407-927D-9EA3DF3F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16D62-72D6-4541-93C7-4378AE9C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245B2-9BA1-4FA8-B713-E36C9B57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2012년 봄 · 경기도와 제주도 야생화 조사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4F756-6201-4801-862B-A8AD3DC7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7A"/>
          </a:solidFill>
          <a:ln xmlns:a="http://schemas.openxmlformats.org/drawingml/2006/main" w="0">
            <a:solidFill>
              <a:srgbClr val="0A8F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CA7CF-248D-4C98-828A-DC5C867B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rPr>
              <a:t>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FA606-4ADD-49A8-9A9D-CC681EA3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채집한 꽃 시료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F00F1-33B9-4EE2-9DBB-535EF15B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431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4619B-E46B-41A2-BBC3-930B89CE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50C49-F945-4F75-BBBF-DED773B0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분리 효모 균주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D95B3-AC4F-4B6B-983E-9B283BD1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431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94DCF-947F-49B5-8602-962F4DF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526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49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8DFE5-B75B-4C6F-8448-BF32B847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384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동정된 효모 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86D37-D639-424B-9552-1E1BB4FC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431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7A"/>
          </a:solidFill>
          <a:ln xmlns:a="http://schemas.openxmlformats.org/drawingml/2006/main" w="0">
            <a:solidFill>
              <a:srgbClr val="0A8F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1BCCA-7917-425F-8938-C0A91761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526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0FE7C-4668-4865-BA52-64ADE0FB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384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조사 권역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4E870-7D6B-4084-8060-56D2BBEF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7CEFA-4559-4633-BE7D-24373460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연구 질문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AC426-3C89-4F02-ACCC-60EE4095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자연환경의 효모 다양성이 지역에 따라 달라지는가?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98FD4-E277-40C5-9F40-4EBC4187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625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이들 중 xanthine oxidase 활성을 억제하는 균주가 있는가?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3C274-73CF-4041-AAA5-BB43DADF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선발 균주의 배양 조건을 조절해 항통풍 후보물질 생산을 높일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869130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E7B5870-B18A-4E71-999E-B7AC4FB0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배양·염기서열·질량분석을 결합해 균주를 동정했다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AF314-6234-4194-B379-26ADDF60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00A87-7D0C-4CBA-BD58-F7EDD7DE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99D4A-A790-43A2-AE40-0997B3A4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985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7A943-BF19-4B98-8C79-41D30594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3CBB3-008D-4A4C-8AC3-4610E06B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BEA3D-714A-4CEB-B527-BE3ECCD6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시료 현탁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21491-24AF-4277-98D7-2C83D7B9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꽃 시료를 멸균수에서</a:t>
            </a:r>
          </a:p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1시간 진탕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722A2-575A-4F83-93AE-92223C46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38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DEEAB-A86B-4B48-AC7A-999AD2BD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5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4DF21-A324-4E5E-962B-51815AAF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76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선택 배양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B582A-9EF9-48AC-8495-C25242ED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57625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항생제 YEPD에서</a:t>
            </a:r>
          </a:p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25°C · 72시간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79C5A-FFE3-4247-AEC4-AF885644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38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F7A"/>
          </a:solidFill>
          <a:ln xmlns:a="http://schemas.openxmlformats.org/drawingml/2006/main" w="19050">
            <a:solidFill>
              <a:srgbClr val="0A8F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1FFBA-780F-4322-BBDE-96F2B150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ECF06-4F97-4A94-AC48-D195CDEE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76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분자 동정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30D27-05A7-425F-B24F-D184A5A4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57625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26S D1/D2·ITS PCR과</a:t>
            </a:r>
          </a:p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전장유전체 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C2606-2ED0-487D-A0A3-4CFD7718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38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C4107-A0D3-4F0D-AECD-3044EA3C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98C93-AD45-4640-9347-B1A8B160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76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교차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F08C1-A7C5-43EF-92BB-C892EACA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BLAST 상동성 99%와</a:t>
            </a:r>
          </a:p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MALDI-TOF 일치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DF4477-2FE6-4799-BFB5-09AC1A1F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47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A644C-5158-452B-9D9C-6F862892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57825"/>
            <a:ext cx="1005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판정 기준  형태 관찰과 두 분자 마커가 모두 일치한 균주만 최종 목록에 포함했다.</a:t>
            </a:r>
          </a:p>
        </p:txBody>
      </p:sp>
    </p:spTree>
    <p:extLst>
      <p:ext uri="{BB962C8B-B14F-4D97-AF65-F5344CB8AC3E}">
        <p14:creationId xmlns:p14="http://schemas.microsoft.com/office/powerpoint/2010/main" val="15812921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F9F66F2-E668-41B4-9B4E-10CD21E8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경기도는 균주 수, 제주도는 종 다양성이 더 높았다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68C2F-431B-4884-955C-50E2A45E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39087-0718-4908-8480-CA768BE7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52450" y="1466850"/>
          <a:ext xmlns:a="http://schemas.openxmlformats.org/drawingml/2006/main" cx="5905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a35f63e40d4a4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6C3F7-812E-42ED-983C-699A76F1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240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지역별 우점군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561C2-A770-41AF-8F2E-2DCC927B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7A"/>
          </a:solidFill>
          <a:ln xmlns:a="http://schemas.openxmlformats.org/drawingml/2006/main" w="0">
            <a:solidFill>
              <a:srgbClr val="0A8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D8128-FA7F-4995-A9A5-A93951BF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0030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rPr>
              <a:t>경기도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BCFB2-5286-414F-A711-12346E70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Candida sp. 17균주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Cryptococcus sp. 11균주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413AE-A19B-41E4-8790-DB6402B4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A9551-B676-41BD-B2AF-3A32670E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385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rPr>
              <a:t>제주도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39459-6662-474D-8F1B-E55FE331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Saccharomyces cerevisiae 9균주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Pseudozyma sp. 7균주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13248-73D2-494B-8122-F9666B2B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482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EEF95-7660-456E-AA14-4014C4A6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5300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B3FF6-1747-482A-B50C-DE66A6CC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제주의 해안성 환경이 효모 종 풍부도를 높인 것으로 해석된다.</a:t>
            </a:r>
          </a:p>
        </p:txBody>
      </p:sp>
    </p:spTree>
    <p:extLst>
      <p:ext uri="{BB962C8B-B14F-4D97-AF65-F5344CB8AC3E}">
        <p14:creationId xmlns:p14="http://schemas.microsoft.com/office/powerpoint/2010/main" val="344038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30C0BA16-FEAB-418C-B52E-93F27876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XOD 저해활성은 요산 생성 신호의 감소로 계산했다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99890-12D2-4F7C-8A53-C7D5DEB5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1EF1B-90C9-42F8-BF0A-512F7EED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7F3B4-9A24-4679-B974-214B95C7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d93d78dc04991"/>
          <a:stretch xmlns:a="http://schemas.openxmlformats.org/drawingml/2006/main"/>
        </p:blipFill>
        <p:spPr>
          <a:xfrm xmlns:a="http://schemas.openxmlformats.org/drawingml/2006/main">
            <a:off x="866775" y="1562100"/>
            <a:ext cx="4324350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35C5C-398E-4D15-A52C-BFC4CD37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측정 조건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2E671-12F3-450A-BE97-3907D7D4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• 효모 배양물 10 mg/mL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• 1 mM xanthine + 0.1 U/mL XOD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• pH 7.5 phosphate buffer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• 37°C에서 30분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• 450 nm 형광 측정 · 5반복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F21B9-B7CE-4C52-9866-2D012392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4E7C0-DD47-4C31-9F14-9B3F7AFC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대조군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87EF0-0A15-4872-80EE-B61D538F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673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Allopurinol 100 μM을 양성대조로 사용했다.</a:t>
            </a:r>
          </a:p>
        </p:txBody>
      </p:sp>
    </p:spTree>
    <p:extLst>
      <p:ext uri="{BB962C8B-B14F-4D97-AF65-F5344CB8AC3E}">
        <p14:creationId xmlns:p14="http://schemas.microsoft.com/office/powerpoint/2010/main" val="5065698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E0BD1E97-5E18-4248-8CDE-88290C93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P. hubeiensis 228-S-1이 가장 강한 세포내 활성을 보였다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CCE7C-F167-4AD5-8764-78772C0B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0FDBA-7F96-40E7-B965-B673CED4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63A3B-E783-42AB-BE5D-13B91F40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102개 분리주 가운데 대표 활성 균주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381250"/>
                <a:gridCol w="2305050"/>
                <a:gridCol w="230505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균주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분리번호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세포외 (%)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세포내 (%)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R. paludigenum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328-GY-1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n.d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P. hubeiensis</a:t>
                      </a:r>
                    </a:p>
                  </a:txBody>
                  <a:tcPr marL="91440" marR="91440" marT="45720" marB="45720">
                    <a:solidFill>
                      <a:srgbClr val="E5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228-S-1</a:t>
                      </a:r>
                    </a:p>
                  </a:txBody>
                  <a:tcPr marL="91440" marR="91440" marT="45720" marB="45720">
                    <a:solidFill>
                      <a:srgbClr val="E5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35.2</a:t>
                      </a:r>
                    </a:p>
                  </a:txBody>
                  <a:tcPr marL="91440" marR="91440" marT="45720" marB="45720">
                    <a:solidFill>
                      <a:srgbClr val="E5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42.8</a:t>
                      </a:r>
                    </a:p>
                  </a:txBody>
                  <a:tcPr marL="91440" marR="91440" marT="45720" marB="45720">
                    <a:solidFill>
                      <a:srgbClr val="E5F4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M. viticola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326-GS-2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S. loudetiae-pedicellatae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332-GY-3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n.d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28.6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S. bombicola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80-J-1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n.d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6616B-A3D7-4AD2-9E7F-62955479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92E6C-AD6F-4B71-93B0-9BA7171C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79EF2-B44E-46F7-BB75-19085A45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세포외 활성 균주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BA9D3-9C30-4AE6-88FD-6C16DD06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578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7A"/>
          </a:solidFill>
          <a:ln xmlns:a="http://schemas.openxmlformats.org/drawingml/2006/main" w="0">
            <a:solidFill>
              <a:srgbClr val="0A8F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FD166-4B8B-42F8-B354-E5004E55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673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rPr>
              <a:t>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0C6AD-6779-419D-842D-811CCD10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1531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세포내 활성 균주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3186A-C01C-4DFD-A0AF-BCDCE27D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638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n.d = not detected</a:t>
            </a:r>
          </a:p>
        </p:txBody>
      </p:sp>
    </p:spTree>
    <p:extLst>
      <p:ext uri="{BB962C8B-B14F-4D97-AF65-F5344CB8AC3E}">
        <p14:creationId xmlns:p14="http://schemas.microsoft.com/office/powerpoint/2010/main" val="1071784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1C56AB4B-29D8-432A-82B0-352C40EF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228-S-1은 세포외·세포내 활성을 동시에 생산한다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A6E3E-54B3-4ACA-B888-6EC51501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11DA9-0A10-4143-90EF-7E0A7C4D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52450" y="1524000"/>
          <a:ext xmlns:a="http://schemas.openxmlformats.org/drawingml/2006/main" cx="6191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035eae28d444d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5D259-3B77-412F-A936-DE5181CD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선발 근거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838C4-A6EF-42B0-8B67-C874A5D1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3857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7A"/>
          </a:solidFill>
          <a:ln xmlns:a="http://schemas.openxmlformats.org/drawingml/2006/main" w="0">
            <a:solidFill>
              <a:srgbClr val="0A8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61B6E-3A26-434F-9434-0126E3F8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3840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rPr>
              <a:t>42.8%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3D537-F8B7-49D0-8394-5D482B6C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05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최고 세포내 저해활성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6C84D-5ED9-4D46-8940-449C19A4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62375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59DB3-5467-4C2B-9645-77F51A6F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분자 동정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8A6EA-2C5A-44C7-A14B-D8B77992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26S rDNA 100% 일치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ITS 계통수에서 독립 클러스터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60A2A-022A-4A74-82DB-B16BD942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0CD1A-E1D3-4AA8-84A7-A2594F0E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149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세포 위치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1BC47-6C45-4362-91E1-6F05B23A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9590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저해물질의 55%가 배양액으로 분비</a:t>
            </a:r>
          </a:p>
        </p:txBody>
      </p:sp>
    </p:spTree>
    <p:extLst>
      <p:ext uri="{BB962C8B-B14F-4D97-AF65-F5344CB8AC3E}">
        <p14:creationId xmlns:p14="http://schemas.microsoft.com/office/powerpoint/2010/main" val="19555542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A973EC6C-BEB9-4A76-A546-F42612BB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48시간에 생육과 XOD 저해활성이 함께 최대가 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E871C-BF05-404A-96B7-64905B11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7E931-B704-4CA1-8389-77D8A853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8436E-9629-49FB-BA0C-591AFD83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5429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d897b0d544974"/>
          <a:stretch xmlns:a="http://schemas.openxmlformats.org/drawingml/2006/main"/>
        </p:blipFill>
        <p:spPr>
          <a:xfrm xmlns:a="http://schemas.openxmlformats.org/drawingml/2006/main">
            <a:off x="1295400" y="1581150"/>
            <a:ext cx="3943350" cy="3943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6C6AC-035F-4D4E-9597-9C219D8C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최적 생산조건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8A4CD-E8E0-4E4B-8799-34A6E007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7A"/>
          </a:solidFill>
          <a:ln xmlns:a="http://schemas.openxmlformats.org/drawingml/2006/main" w="0">
            <a:solidFill>
              <a:srgbClr val="0A8F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85192-C0E8-4EDF-9999-62F4C33F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rPr>
              <a:t>28°C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495B4-AF8D-44D5-805E-B6D0E07D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최적 온도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37AFA-0D3F-4E9A-993D-4C1B2DFB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C6AB1-34EC-4687-A9C4-3E3E6B71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193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60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745C6-72EC-4343-8A0E-20FBF56A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최적 배양시간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1BC97-DF01-4199-9296-5C635117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A5C7E-2CDB-44DD-9A44-0FD0CC06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4572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• 48시간에서 생육과 저해활성이 동시에 최고점에 도달했다.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• 포도당이 없는 최소배지에서도 41.3% 활성이 유지되었다.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• 72시간 이후에는 분비형 저해물질이 빠르게 분해되었다.</a:t>
            </a:r>
          </a:p>
        </p:txBody>
      </p:sp>
    </p:spTree>
    <p:extLst>
      <p:ext uri="{BB962C8B-B14F-4D97-AF65-F5344CB8AC3E}">
        <p14:creationId xmlns:p14="http://schemas.microsoft.com/office/powerpoint/2010/main" val="1160206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2610C295-0868-437A-9F3D-F1C1D7C2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야생 효모는 항통풍 기능성 소재의 생산 플랫폼이 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68BA2-D176-4D6D-BE56-D9D45CF9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A7457-2968-42EC-BD6A-736EAFF4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2CA9C-8164-4DAF-9FED-213307A0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연구가 보여준 가능성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64DA0-22AE-42DA-B54E-739E649B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야생화 미생물 자원에서 산업적 후보 균주를 직접 탐색하고, 단시간 배양으로 XOD 저해물질을 생산할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E21E6-5D81-4572-8D5F-6F3CA983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7A"/>
          </a:solidFill>
          <a:ln xmlns:a="http://schemas.openxmlformats.org/drawingml/2006/main" w="0">
            <a:solidFill>
              <a:srgbClr val="0A8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C04A9-9516-484F-9108-AF85B93F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A8F7A"/>
                </a:solidFill>
                <a:latin typeface="Apple SD Gothic Neo"/>
                <a:ea typeface="Apple SD Gothic Neo"/>
                <a:cs typeface="Apple SD Gothic Neo"/>
              </a:rPr>
              <a:t>확장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5B9D3-FB88-4566-AFFC-493A7283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50 L 발효조에서 생산성이 6.4배 증가했고, 고요산혈증 생쥐의 혈중 요산을 38% 낮췄다.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477BF-9E81-4597-BDDC-8409A8AA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저해물질은 pH 2-10과 100°C 열처리 후에도 90% 이상의 활성을 유지했다.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862A7-C29C-405F-AFCE-070A3096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5334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4B6EF-74E6-447B-B71A-6EF8EAD9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EF0E9-DCBE-43DB-998D-62E4B859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활성물질 구조 규명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49F16-BF49-4B82-8C55-55067183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99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9387E-008F-438E-8109-6E764941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337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안전성·용량반응 평가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A217E-6C01-4006-9D1A-10FDC880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624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15BF8-28CD-43E6-AC2D-3BB4C247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862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발효 공정의 스케일업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5CE5C-46FF-4732-A177-9EB0BE83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149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236CFB-5FB7-45B1-9D02-3D824359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387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식품·의약 소재로의 적용</a:t>
            </a:r>
          </a:p>
        </p:txBody>
      </p:sp>
    </p:spTree>
    <p:extLst>
      <p:ext uri="{BB962C8B-B14F-4D97-AF65-F5344CB8AC3E}">
        <p14:creationId xmlns:p14="http://schemas.microsoft.com/office/powerpoint/2010/main" val="992976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2026-08-14T13:45:00.5780000Z</dcterms:created>
  <dcterms:modified xsi:type="dcterms:W3CDTF">2026-08-14T13:45:00.5780000Z</dcterms:modified>
</coreProperties>
</file>