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a98e0cdb3845e9" /><Relationship Type="http://schemas.openxmlformats.org/officeDocument/2006/relationships/extended-properties" Target="/docProps/app.xml" Id="Rbf18963638e848a2" /><Relationship Type="http://schemas.openxmlformats.org/officeDocument/2006/relationships/officeDocument" Target="/ppt/presentation.xml" Id="Rdbaf1836fc8a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4cd2246a141b9"/>
  </p:sldMasterIdLst>
  <p:notesMasterIdLst>
    <p:notesMasterId xmlns:r="http://schemas.openxmlformats.org/officeDocument/2006/relationships" r:id="R41f40fbaa8a64e18"/>
  </p:notesMasterIdLst>
  <p:sldIdLst>
    <p:sldId xmlns:r="http://schemas.openxmlformats.org/officeDocument/2006/relationships" id="256" r:id="Rf52524a8a46a4660"/>
    <p:sldId xmlns:r="http://schemas.openxmlformats.org/officeDocument/2006/relationships" id="257" r:id="R3ccfb62edbc1472b"/>
    <p:sldId xmlns:r="http://schemas.openxmlformats.org/officeDocument/2006/relationships" id="258" r:id="R46632c04323246d4"/>
    <p:sldId xmlns:r="http://schemas.openxmlformats.org/officeDocument/2006/relationships" id="259" r:id="R5a60de056a854a60"/>
    <p:sldId xmlns:r="http://schemas.openxmlformats.org/officeDocument/2006/relationships" id="260" r:id="R5e14e8bad37c45e3"/>
    <p:sldId xmlns:r="http://schemas.openxmlformats.org/officeDocument/2006/relationships" id="261" r:id="R6a1cebde40ed40cd"/>
    <p:sldId xmlns:r="http://schemas.openxmlformats.org/officeDocument/2006/relationships" id="262" r:id="R7862168786f6457a"/>
    <p:sldId xmlns:r="http://schemas.openxmlformats.org/officeDocument/2006/relationships" id="263" r:id="Racadfac1f9b7445e"/>
    <p:sldId xmlns:r="http://schemas.openxmlformats.org/officeDocument/2006/relationships" id="264" r:id="R78f1fb9b18674d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a701598934021" /><Relationship Type="http://schemas.openxmlformats.org/officeDocument/2006/relationships/slideMaster" Target="/ppt/slideMasters/slideMaster1.xml" Id="R9a84cd2246a141b9" /><Relationship Type="http://schemas.openxmlformats.org/officeDocument/2006/relationships/notesMaster" Target="/ppt/notesMasters/notesMaster1.xml" Id="R41f40fbaa8a64e18" /><Relationship Type="http://schemas.openxmlformats.org/officeDocument/2006/relationships/presProps" Target="/ppt/presProps.xml" Id="Rea54d0e471d34e70" /><Relationship Type="http://schemas.openxmlformats.org/officeDocument/2006/relationships/tableStyles" Target="/ppt/tableStyles.xml" Id="Rdfdc1893d0c141b9" /><Relationship Type="http://schemas.openxmlformats.org/officeDocument/2006/relationships/slide" Target="/ppt/slides/slide1.xml" Id="Rf52524a8a46a4660" /><Relationship Type="http://schemas.openxmlformats.org/officeDocument/2006/relationships/slide" Target="/ppt/slides/slide2.xml" Id="R3ccfb62edbc1472b" /><Relationship Type="http://schemas.openxmlformats.org/officeDocument/2006/relationships/slide" Target="/ppt/slides/slide3.xml" Id="R46632c04323246d4" /><Relationship Type="http://schemas.openxmlformats.org/officeDocument/2006/relationships/slide" Target="/ppt/slides/slide4.xml" Id="R5a60de056a854a60" /><Relationship Type="http://schemas.openxmlformats.org/officeDocument/2006/relationships/slide" Target="/ppt/slides/slide5.xml" Id="R5e14e8bad37c45e3" /><Relationship Type="http://schemas.openxmlformats.org/officeDocument/2006/relationships/slide" Target="/ppt/slides/slide6.xml" Id="R6a1cebde40ed40cd" /><Relationship Type="http://schemas.openxmlformats.org/officeDocument/2006/relationships/slide" Target="/ppt/slides/slide7.xml" Id="R7862168786f6457a" /><Relationship Type="http://schemas.openxmlformats.org/officeDocument/2006/relationships/slide" Target="/ppt/slides/slide8.xml" Id="Racadfac1f9b7445e" /><Relationship Type="http://schemas.openxmlformats.org/officeDocument/2006/relationships/slide" Target="/ppt/slides/slide9.xml" Id="R78f1fb9b1867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43a2afaf24a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c1ee2760f4de8" /><Relationship Type="http://schemas.openxmlformats.org/officeDocument/2006/relationships/notesMaster" Target="/ppt/notesMasters/notesMaster1.xml" Id="R081e217c959c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3c463803d4c97" /><Relationship Type="http://schemas.openxmlformats.org/officeDocument/2006/relationships/notesMaster" Target="/ppt/notesMasters/notesMaster1.xml" Id="R3032a8e94ca342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31fcd1fc3b4ec7" /><Relationship Type="http://schemas.openxmlformats.org/officeDocument/2006/relationships/notesMaster" Target="/ppt/notesMasters/notesMaster1.xml" Id="Rfc90e34da844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77aa262314540" /><Relationship Type="http://schemas.openxmlformats.org/officeDocument/2006/relationships/notesMaster" Target="/ppt/notesMasters/notesMaster1.xml" Id="Rbc055a27ee6340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38ef79d8a543d5" /><Relationship Type="http://schemas.openxmlformats.org/officeDocument/2006/relationships/notesMaster" Target="/ppt/notesMasters/notesMaster1.xml" Id="Rd0d06b62e6d648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b618fbd9a4396" /><Relationship Type="http://schemas.openxmlformats.org/officeDocument/2006/relationships/notesMaster" Target="/ppt/notesMasters/notesMaster1.xml" Id="R2c48f9215adc43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04a4a05d74bc4" /><Relationship Type="http://schemas.openxmlformats.org/officeDocument/2006/relationships/notesMaster" Target="/ppt/notesMasters/notesMaster1.xml" Id="R7c64411d9b4e41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9007cf3e4a4e16" /><Relationship Type="http://schemas.openxmlformats.org/officeDocument/2006/relationships/notesMaster" Target="/ppt/notesMasters/notesMaster1.xml" Id="R392d14c41ed44f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09a3e13ed24d27" /><Relationship Type="http://schemas.openxmlformats.org/officeDocument/2006/relationships/notesMaster" Target="/ppt/notesMasters/notesMaster1.xml" Id="R0200984f8c70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609-613.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611-613.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612-614.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614-616.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616-617.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616-617.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616-617.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617-618.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권보미·이기용, 「방향각 공간에서의 확산 모델을 이용한 텍스트 기반 2D 인체 포즈 생성」, 정보처리학회 논문지 15(7), 2026, pp. 617-619.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541f10d384f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11426ddab342d9" /><Relationship Type="http://schemas.openxmlformats.org/officeDocument/2006/relationships/slideLayout" Target="/ppt/slideLayouts/slideLayout1.xml" Id="R71c5369b46a0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5369b46a0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63a9e09bc4ae3" /><Relationship Type="http://schemas.openxmlformats.org/officeDocument/2006/relationships/image" Target="/ppt/media/image.png" Id="R8aad15e567734e5d" /><Relationship Type="http://schemas.openxmlformats.org/officeDocument/2006/relationships/notesSlide" Target="/ppt/notesSlides/notesSlide1.xml" Id="R0678f5d0c222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3d53b6637446c" /><Relationship Type="http://schemas.openxmlformats.org/officeDocument/2006/relationships/image" Target="/ppt/media/image2.png" Id="Rf16caad9c37d4edf" /><Relationship Type="http://schemas.openxmlformats.org/officeDocument/2006/relationships/notesSlide" Target="/ppt/notesSlides/notesSlide2.xml" Id="R7321337bd05647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0de36572a4049" /><Relationship Type="http://schemas.openxmlformats.org/officeDocument/2006/relationships/notesSlide" Target="/ppt/notesSlides/notesSlide3.xml" Id="Rdda06289ea0247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6f1db5c8f4ecb" /><Relationship Type="http://schemas.openxmlformats.org/officeDocument/2006/relationships/notesSlide" Target="/ppt/notesSlides/notesSlide4.xml" Id="R9e8a34bbbee9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78de26a24a67" /><Relationship Type="http://schemas.openxmlformats.org/officeDocument/2006/relationships/notesSlide" Target="/ppt/notesSlides/notesSlide5.xml" Id="Rba84b62c536e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df07ad314b5f" /><Relationship Type="http://schemas.openxmlformats.org/officeDocument/2006/relationships/notesSlide" Target="/ppt/notesSlides/notesSlide6.xml" Id="R7bfe7a6a3710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5fdcb087f4065" /><Relationship Type="http://schemas.openxmlformats.org/officeDocument/2006/relationships/notesSlide" Target="/ppt/notesSlides/notesSlide7.xml" Id="R162160a1be3e41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c9522dcb247a6" /><Relationship Type="http://schemas.openxmlformats.org/officeDocument/2006/relationships/image" Target="/ppt/media/image3.png" Id="R1778442f92d047e1" /><Relationship Type="http://schemas.openxmlformats.org/officeDocument/2006/relationships/image" Target="/ppt/media/image4.png" Id="Rb1b27d8f988d4061" /><Relationship Type="http://schemas.openxmlformats.org/officeDocument/2006/relationships/notesSlide" Target="/ppt/notesSlides/notesSlide8.xml" Id="R75413001e17c4d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1a9c25a7d4087" /><Relationship Type="http://schemas.openxmlformats.org/officeDocument/2006/relationships/image" Target="/ppt/media/image5.png" Id="R1aadc7d4b3544855" /><Relationship Type="http://schemas.openxmlformats.org/officeDocument/2006/relationships/notesSlide" Target="/ppt/notesSlides/notesSlide9.xml" Id="R07d4995793a846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8186B-3A7F-447F-AB7A-91CAC73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TEXT-TO-POSE · DIFFUSION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A1A0576-C276-4A04-BF83-B53458C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방향각 공간의 확산 모델로</a:t>
            </a:r>
          </a:p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2D 인체 포즈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0B624-5D94-43CA-B9F7-F8FA4C0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91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텍스트 조건을 정적 스켈레톤으로 변환하는</a:t>
            </a:r>
          </a:p>
          <a:p xmlns:a="http://schemas.openxmlformats.org/drawingml/2006/main">
            <a:pPr algn="l">
              <a:def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저차원 생성 파이프라인과 실험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2B0A8-B1DA-4277-A52E-20EBB99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371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E4158-1F9D-46BC-8514-D197751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권보미 · 이기용  |  정보처리학회 논문지 15(7),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9E27E-663B-4800-8ACD-A976A00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"/>
            <a:ext cx="5095875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d15e567734e5d"/>
          <a:stretch xmlns:a="http://schemas.openxmlformats.org/drawingml/2006/main"/>
        </p:blipFill>
        <p:spPr>
          <a:xfrm xmlns:a="http://schemas.openxmlformats.org/drawingml/2006/main">
            <a:off x="6600825" y="1427975"/>
            <a:ext cx="4943475" cy="35639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F5EE6-3737-42D7-B887-DBE01F1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048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DIRECTION-ANGLE 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35835-C7A9-45D8-8DCF-C62BAC4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4263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032A812-02E5-45F4-837E-6A34A2F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관절 좌표 대신 ‘뼈의 방향’을 생성한다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0B827-5C8F-4849-90E5-E4652E88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748A7-C822-4AAA-8701-BD125F3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02DC5-0AA7-448A-AE78-7C95D6E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44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D4453A"/>
                </a:solidFill>
                <a:latin typeface="Apple SD Gothic Neo"/>
                <a:ea typeface="Apple SD Gothic Neo"/>
                <a:cs typeface="Apple SD Gothic Neo"/>
              </a:rPr>
              <a:t>좌표 공간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9ECF-DF0C-494C-911F-26B0A68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21개 관절의 3축 좌표를 직접 예측하면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관절 간 종속성과 뼈 길이 제약을 함께 학습해야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73AEB-933E-4649-85D8-AACB7FD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24217-DB4D-46DE-BF45-0C062BE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방향각 공간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9D724-BB16-4580-9A53-644B5972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12개 주요 뼈를 방위각 θ와 고도각 φ로 나타내어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24차원의 저차원 벡터로 압축한다.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A6780-6173-436E-AC1B-CE266985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생성 뒤에는 샘플마다 기준 뼈 길이를 재추정해</a:t>
            </a:r>
          </a:p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순방향 기구학으로 2D 관절을 복원한다.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BAAA4-D93C-4B19-AE95-C421AD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5476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caad9c37d4edf"/>
          <a:stretch xmlns:a="http://schemas.openxmlformats.org/drawingml/2006/main"/>
        </p:blipFill>
        <p:spPr>
          <a:xfrm xmlns:a="http://schemas.openxmlformats.org/drawingml/2006/main">
            <a:off x="6219825" y="1784642"/>
            <a:ext cx="5324475" cy="362209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2B60-4FE2-4D07-9903-13ABB5D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76925"/>
            <a:ext cx="547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원문 Fig. 1 ·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320438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56A09B8-C336-49F3-9F6D-7FD3099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텍스트 분류와 포즈 생성을 분리한 2단계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4CD35-B9F8-4E27-A9EE-120C3B28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2712-88F5-4F83-A658-6C245D7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08502-5676-4ECB-84F0-93257A49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B4BB0-8652-4112-9649-9F15AD9F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28C6C-8A1D-4496-9297-D485C34D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0E8EE-9FE0-4AB0-95DA-8E50742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텍스트 인코딩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3DBB5-0B1E-4295-8C9A-DF39AF4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BGE-M3가 한국어·영어 프롬프트를 공동 임베딩한다.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80D83-9DD5-40C3-8767-4CCC0AF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A6CC3-3CBE-46F3-8889-5AD38F6D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2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A73B3-B5CE-4FDB-BBF8-035BA598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4개 클래스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9E90D-16D2-42C0-8CB1-BD4A5CCF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sitting · walking · standing · lying 프로토타입 중 하나를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7517D-5CCD-4C95-AAFF-68FD0A85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28344-A3F7-4BF2-AED9-7BBFCCDA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5FB84-0F30-49F2-B4D7-9A52F7C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조건부 확산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8EB1D-F1C8-4C7E-8C08-BECFF737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182→512→512→256→22 MLP가 노이즈를 반복 제거한다.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4D7D9-84D4-4FD4-8B36-CE38B0E6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0A399-E87B-4A47-B125-1A3AE44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8CF7E-C6E5-438D-B176-E2188B34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관절 복원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09A76-2A98-4FF8-BC62-D89F74A3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가변 뼈 길이와 방향 벡터를 결합해 3D 포즈를 만든 뒤 2D로 투영한다.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B0A9F-BC9C-464D-ABDF-C81A636E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D6701-E7F6-4571-9B3B-480249B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67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텍스트 의미 해석은 프로토타입 분류기가, 자세 다양성은 확산 모델이 담당한다.</a:t>
            </a:r>
          </a:p>
        </p:txBody>
      </p:sp>
    </p:spTree>
    <p:extLst>
      <p:ext uri="{BB962C8B-B14F-4D97-AF65-F5344CB8AC3E}">
        <p14:creationId xmlns:p14="http://schemas.microsoft.com/office/powerpoint/2010/main" val="396316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2500B37-13BB-4ED0-B91D-BD566B62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정적 프레임 선별과 증강으로 학습 데이터를 구축한다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2F0BA-8EA8-4E62-B940-05525182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F6B18-5C34-449B-AE69-B58A7C6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6E20-E30C-4307-A066-935E300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HumanML3D train split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A7F5-1FA5-4DB6-B40D-5D725D0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44D18-2B21-4CC4-9A03-DEBE17DD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4,888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B683A-A384-4927-90A9-BC3E362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원천 모션 시퀀스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EAAD1-04E8-444B-A800-E4ABA8F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85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775A6-E9B0-47D2-88F3-789E039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126,048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5FC61-537F-4ECF-89A1-7DD4AE9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증강 후 최종 포즈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FBF11-A98E-4482-9A02-7B1FA26E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D0264-A9D8-4CF1-AB91-9A3B0F1B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2272C-F13A-43CF-B91D-AECF8CE6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학습 epoch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67116-89F1-4523-8FC9-F4424914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08092-B02D-4F28-9FB8-4CC21D3E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766F0-0AFE-43DB-B649-C58C797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diffusion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B1B49-B01E-4E50-9075-E46F8DA3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2D864-FF4D-4238-91E7-ECDB69A7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선별 규칙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EA9A2-0D89-4D9F-8521-728B13C1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sitting  골반 높이와 관절 속도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walking  양쪽 발목의 X-Z 보폭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standing  전체 관절의 평균 이동 속도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D9F80-D813-4286-89AA-4257050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학습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A0C99-B453-4C13-89E8-5F8EB9A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Batch 128 · AdamW · LR 3×10⁻⁴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선형 β: 10⁻⁴ → 0.02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RTX 4090 · PyTorch 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63FF6-B392-498C-9FF2-71611B4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증강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AFB80-B4B8-4D02-9772-98B62E8F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좌우 미러링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클래스별 Gaussian jitter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가중 랜덤 샘플러</a:t>
            </a:r>
          </a:p>
        </p:txBody>
      </p:sp>
    </p:spTree>
    <p:extLst>
      <p:ext uri="{BB962C8B-B14F-4D97-AF65-F5344CB8AC3E}">
        <p14:creationId xmlns:p14="http://schemas.microsoft.com/office/powerpoint/2010/main" val="1153293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8A9301F-638C-4C63-98DA-06348A4F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생성 품질은 의미·분포·다양성·구조로 평가한다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23085-E299-44D0-8EFB-557F0396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B71E-0909-4AAC-8365-EEBC8782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8F0E7-FF85-44E5-B4BC-198F642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21D7A-CFBA-4606-8E17-B735101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SC 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009C6-34AC-4259-96B1-49055D0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92.6%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299EF-BF66-4292-B141-2D250C6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별도 각도 분류기의 Top-1 정확도로 텍스트 조건 일치도를 측정한다.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6E946-F5EA-45AD-8F01-A39F4BD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CBF97-04A1-452D-8735-360EDBB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573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FID 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842A7-0967-487B-905A-1B2A2F5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64D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B2554-8885-4786-8301-7E19857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관절 좌표 특징 공간에서 실제와 생성 분포의 거리를 계산한다.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2DFEA-68C6-4040-921B-CB748CD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CDDB7-9DA3-4FE7-A9D5-892BDE8B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APD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BD1C8-5804-4373-810C-61ADF52A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137F4-CFEF-40C2-B1BA-53202B8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클래스별 생성 포즈 500개의 모든 쌍 거리를 평균한다.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367C5-F1E4-4618-8EFC-C359384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F64"/>
          </a:solidFill>
          <a:ln xmlns:a="http://schemas.openxmlformats.org/drawingml/2006/main" w="0">
            <a:solidFill>
              <a:srgbClr val="2E9F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F23FB-7282-4FEA-A8CD-D60ED40B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BLD 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9DA1B-84CD-45B1-AC4F-ECE5109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9F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E9F64"/>
                </a:solidFill>
                <a:latin typeface="Apple SD Gothic Neo"/>
                <a:ea typeface="Apple SD Gothic Neo"/>
                <a:cs typeface="Apple SD Gothic Neo"/>
              </a:rPr>
              <a:t>0에 가까울수록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93511-0619-42DB-9CD5-2EBCEBB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샘플 간 뼈 길이 편차가 작을수록 구조가 안정적이다.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DFF41-3920-49D1-B9DF-FAF7145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2A306-AE1A-48F0-9EEB-099CB80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평가의 관점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6F2BA-921F-4CD3-9A16-2983D09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24500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높은 SC만으로는 충분하지 않다. 실제 분포와 유사하면서도 다양성과 뼈대 구조를 함께 보존해야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951590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179EA0A-BEE9-46D5-B42E-45244C3B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방향각 모델은 좌표 베이스라인보다 일관된 포즈를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79D6B-4817-46D4-8544-83E4DA1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01850-5E9F-4C89-89D6-280718ED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1279E-CA9F-428F-BA49-2A915716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두 모델의 출력을 동일한 평가 공간으로 변환해 비교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52450" y="1866900"/>
          <a:ext xmlns:a="http://schemas.openxmlformats.org/drawingml/2006/main" cx="110871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05000"/>
                <a:gridCol w="1905000"/>
                <a:gridCol w="2066925"/>
                <a:gridCol w="2066925"/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SC ↑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FID ↓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APD_gen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BLD ↓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Angle (Ours)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94.7%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1.54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9.01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Coord (Baseline)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70.2%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8.69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8.52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1.647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08B2F-28FD-4532-8389-67B2F2B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9B38F-BD96-429F-AAFA-CB080AE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+24.5%p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B0718-4AB6-4559-B594-A3DE3163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의미 일관성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FB433-E37C-41B6-8BC5-045E8C32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7F8EA-D1C7-4FC9-9C7C-9421C90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5.6×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BB26B-C6D7-4631-AEE2-2AF0247A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FID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80DF1-73BF-4D45-9F75-5EFA8BE8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6CB39-9923-4D64-914B-C93EB796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863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9.01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2460B-5010-4C97-A420-11A36E0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10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실제 APD 9.17에 근접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896B1-72F1-4C00-8CEA-B19203A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F64"/>
          </a:solidFill>
          <a:ln xmlns:a="http://schemas.openxmlformats.org/drawingml/2006/main" w="0">
            <a:solidFill>
              <a:srgbClr val="2E9F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256AE-BD8F-4A5C-A098-F5D139F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9F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E9F64"/>
                </a:solidFill>
                <a:latin typeface="Apple SD Gothic Neo"/>
                <a:ea typeface="Apple SD Gothic Neo"/>
                <a:cs typeface="Apple SD Gothic Neo"/>
              </a:rPr>
              <a:t>0.000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8EA98-BC4D-444A-A1F4-7DB0C3E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10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뼈 길이 편차</a:t>
            </a:r>
          </a:p>
        </p:txBody>
      </p:sp>
    </p:spTree>
    <p:extLst>
      <p:ext uri="{BB962C8B-B14F-4D97-AF65-F5344CB8AC3E}">
        <p14:creationId xmlns:p14="http://schemas.microsoft.com/office/powerpoint/2010/main" val="1505377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B9ABFC9-D68B-4041-B7D4-1C2E97C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보행은 가장 분명하고, 정지는 가장 모호한 클래스다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B8174-3A89-4663-9167-7FDAED8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1D4EF-5735-48A2-8639-9F54C5AC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6572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  <a:gridCol w="1143000"/>
                <a:gridCol w="1143000"/>
                <a:gridCol w="1143000"/>
              </a:tblGrid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SC ↑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FID ↓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APD_real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APD_gen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walking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97.0%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1.19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9.31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9.11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89.5%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90.7%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0.54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68F32-B8FD-41ED-B75C-B281D4F5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07CD5-0720-47AE-87CC-AB1C3D6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walking 데이터가 전체의 41.2%로 가장 많아 조건 패턴이 선명하다.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1EF2D-1FE1-47BD-9A09-EB4A3CC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standing은 시간적 일관성 모듈을 추가하면서 클래스 혼동이 크게 줄었다.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7A9A3-8232-4E53-8300-588B78E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클래스별 APD_gen은 실제 데이터의 다양성을 대부분 보존한다.</a:t>
            </a:r>
          </a:p>
        </p:txBody>
      </p:sp>
    </p:spTree>
    <p:extLst>
      <p:ext uri="{BB962C8B-B14F-4D97-AF65-F5344CB8AC3E}">
        <p14:creationId xmlns:p14="http://schemas.microsoft.com/office/powerpoint/2010/main" val="1211267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4B56D0F-F6DA-4047-9B75-C9BA65F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같은 텍스트에서도 방향각 표현은 자세 구조를 유지한다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BE1F4-96B2-4A7B-8C28-FB9966B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006FC-8C4A-4916-950A-B0C9A9D8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3DDD6-382D-40E1-B1C8-AB80400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4762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442f92d047e1"/>
          <a:stretch xmlns:a="http://schemas.openxmlformats.org/drawingml/2006/main"/>
        </p:blipFill>
        <p:spPr>
          <a:xfrm xmlns:a="http://schemas.openxmlformats.org/drawingml/2006/main">
            <a:off x="1174891" y="1543050"/>
            <a:ext cx="3517619" cy="37052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F0D4C-4894-412A-9AD3-77860DF3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66850"/>
            <a:ext cx="59436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27d8f988d4061"/>
          <a:stretch xmlns:a="http://schemas.openxmlformats.org/drawingml/2006/main"/>
        </p:blipFill>
        <p:spPr>
          <a:xfrm xmlns:a="http://schemas.openxmlformats.org/drawingml/2006/main">
            <a:off x="7291524" y="1543050"/>
            <a:ext cx="2752453" cy="3705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27665-CFE3-49B4-BA9A-1E6C4C15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0A8B4-6714-4838-8714-96085AF9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다양성  sitting·standing·walking이 서로 다른 관절 방향 패턴으로 나타난다.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안정성  좌표 모델은 모든 샘플에서 구조 붕괴가 발생했다. 한국어 프롬프트와 모바일 CPU에서도 평균 25 ms/pose를 확인했다.</a:t>
            </a:r>
          </a:p>
        </p:txBody>
      </p:sp>
    </p:spTree>
    <p:extLst>
      <p:ext uri="{BB962C8B-B14F-4D97-AF65-F5344CB8AC3E}">
        <p14:creationId xmlns:p14="http://schemas.microsoft.com/office/powerpoint/2010/main" val="2110479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9C3F56C-4C5F-4A9F-9410-15A89388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βT=0.02가 의미 일관성과 분포 품질의 균형점이다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45D54-3D9C-4572-B853-EC602E8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7752-B6DF-4591-9099-573C693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D647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4E7F4-D485-4A32-8642-AE9CFC04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dc7d4b3544855"/>
          <a:stretch xmlns:a="http://schemas.openxmlformats.org/drawingml/2006/main"/>
        </p:blipFill>
        <p:spPr>
          <a:xfrm xmlns:a="http://schemas.openxmlformats.org/drawingml/2006/main">
            <a:off x="1289844" y="1543050"/>
            <a:ext cx="3859212" cy="3562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880AD-36C9-4794-8F58-F2FCCB0E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노이즈 스케줄 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DE7DB-FE7B-43CE-922D-0569A797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cosine schedule에서 βT=0.02가 최고 SC를 기록했다.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βT=0.05는 FID와 SC를 동시에 개선했다.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• APD는 전 구간에서 거의 일정했다.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A1A5C-4846-4FA7-B281-D4A3462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A6748-D6C2-449B-9A3E-DA9CF37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F05DC-37DC-48CC-A25A-CE244816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방향각 생성은 뼈대 구조를 명시적으로 보존하며, 실시간 모바일 자세 인터페이스로 배포 가능성이 검증되었다.</a:t>
            </a:r>
          </a:p>
        </p:txBody>
      </p:sp>
    </p:spTree>
    <p:extLst>
      <p:ext uri="{BB962C8B-B14F-4D97-AF65-F5344CB8AC3E}">
        <p14:creationId xmlns:p14="http://schemas.microsoft.com/office/powerpoint/2010/main" val="1525711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2026-08-14T13:24:35.9390000Z</dcterms:created>
  <dcterms:modified xsi:type="dcterms:W3CDTF">2026-08-14T13:24:35.9390000Z</dcterms:modified>
</coreProperties>
</file>