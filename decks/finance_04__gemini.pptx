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462462"/>
            <a:ext cx="7058917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024062"/>
            <a:ext cx="22388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Noto Sans KR"/>
              </a:rPr>
              <a:t>소비자정책교육연구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366962"/>
            <a:ext cx="9074571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b="1" sz="3900" i="0" u="none">
                <a:solidFill>
                  <a:srgbClr val="0F172A"/>
                </a:solidFill>
                <a:latin typeface="Poppins"/>
              </a:rPr>
              <a:t>금융소비자의 </a:t>
            </a:r>
            <a:r>
              <a:rPr b="1" sz="3900" i="0" u="none">
                <a:solidFill>
                  <a:srgbClr val="0284C7"/>
                </a:solidFill>
                <a:latin typeface="Poppins"/>
              </a:rPr>
              <a:t>시간선호</a:t>
            </a:r>
            <a:r>
              <a:rPr b="1" sz="3900" i="0" u="none">
                <a:solidFill>
                  <a:srgbClr val="0F172A"/>
                </a:solidFill>
                <a:latin typeface="Poppins"/>
              </a:rPr>
              <a:t>와</a:t>
            </a:r>
            <a:r>
              <a:t>
</a:t>
            </a:r>
            <a:r>
              <a:rPr b="1" sz="3900" i="0" u="none">
                <a:solidFill>
                  <a:srgbClr val="0284C7"/>
                </a:solidFill>
                <a:latin typeface="Poppins"/>
              </a:rPr>
              <a:t>위험감수성향</a:t>
            </a:r>
            <a:r>
              <a:rPr b="1" sz="3900" i="0" u="none">
                <a:solidFill>
                  <a:srgbClr val="0F172A"/>
                </a:solidFill>
                <a:latin typeface="Poppins"/>
              </a:rPr>
              <a:t>이 재무행동에 미치는 영향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95712"/>
            <a:ext cx="618187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4748B"/>
                </a:solidFill>
                <a:latin typeface="Noto Sans KR"/>
              </a:rPr>
              <a:t>개인연금 가입, 주식 투자 및 금융자산 포트폴리오 구성을 중심으로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633912"/>
            <a:ext cx="410616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Noto Sans KR"/>
              </a:rPr>
              <a:t>연구자:</a:t>
            </a:r>
            <a:r>
              <a:rPr b="0" sz="1200" i="0" u="none">
                <a:solidFill>
                  <a:srgbClr val="475569"/>
                </a:solidFill>
                <a:latin typeface="Noto Sans KR Medium"/>
              </a:rPr>
              <a:t> 양혜경 (건국대학교 교수) · 정우진 (서울대학교 박사)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8667" y="4648200"/>
            <a:ext cx="3958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Noto Sans KR Medium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8756" y="4633912"/>
            <a:ext cx="2532161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Noto Sans KR"/>
              </a:rPr>
              <a:t>분석 자료:</a:t>
            </a:r>
            <a:r>
              <a:rPr b="0" sz="1200" i="0" u="none">
                <a:solidFill>
                  <a:srgbClr val="475569"/>
                </a:solidFill>
                <a:latin typeface="Noto Sans KR Medium"/>
              </a:rPr>
              <a:t> 재정패널조사 (2020-2022)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00538" y="2586037"/>
            <a:ext cx="119092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Noto Sans KR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5612" y="2900362"/>
            <a:ext cx="376062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oppins"/>
              </a:rPr>
              <a:t>연구 배경 및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6450" y="3662362"/>
            <a:ext cx="469909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Noto Sans KR"/>
              </a:rPr>
              <a:t>개인의 경제적 의사결정을 좌우하는 내재적 성향 분석과</a:t>
            </a:r>
            <a:r>
              <a:t>
</a:t>
            </a:r>
            <a:r>
              <a:rPr b="0" sz="1500" i="0" u="none">
                <a:solidFill>
                  <a:srgbClr val="64748B"/>
                </a:solidFill>
                <a:latin typeface="Noto Sans KR"/>
              </a:rPr>
              <a:t> 금융소비자 정책 및 교육에 대한 시사점 도출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5790"/>
            <a:ext cx="5381625" cy="26074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86310"/>
            <a:ext cx="5381625" cy="286642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8608" y="561975"/>
            <a:ext cx="1321891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8924" y="2858690"/>
            <a:ext cx="4703869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oppins"/>
              </a:rPr>
              <a:t>시간선호 (Time Preference)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6299" y="2729210"/>
            <a:ext cx="4703869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oppins"/>
              </a:rPr>
              <a:t>위험감수성향 (Risk Tolerance)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896790"/>
            <a:ext cx="177849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6325" y="3315890"/>
            <a:ext cx="45624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Noto Sans KR"/>
              </a:rPr>
              <a:t>동일한 효용에 대한 시점별 가치 평가 차이 (시간 할인율)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689151"/>
            <a:ext cx="45624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Noto Sans KR"/>
              </a:rPr>
              <a:t>미래선호: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현재 소비를 유예하고 미래 효용 가치를 높게 평가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062412"/>
            <a:ext cx="45624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Noto Sans KR"/>
              </a:rPr>
              <a:t>현재선호: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즉각적인 소비와 현재 효용을 미래보다 우의에 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435673"/>
            <a:ext cx="45624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Noto Sans KR"/>
              </a:rPr>
              <a:t>재무 연관성: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연금 가입, 장기 저축 등 장기 재무 계획 결정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2767310"/>
            <a:ext cx="177849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43700" y="3186410"/>
            <a:ext cx="45624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Noto Sans KR"/>
              </a:rPr>
              <a:t>자산 운용 시 불확실성 및 변동성을 감수하려는 개도와 의지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3559671"/>
            <a:ext cx="45624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Noto Sans KR"/>
              </a:rPr>
              <a:t>위험회피형: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원금 보장 및 안전자산 선호 (추가 위험 프리미엄 요구)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4191892"/>
            <a:ext cx="45624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Noto Sans KR"/>
              </a:rPr>
              <a:t>위험추구형: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고위험·고수익 자산 투자 및 변동성 감수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4565153"/>
            <a:ext cx="45624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Noto Sans KR"/>
              </a:rPr>
              <a:t>재무 연관성: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주식/펀드 투자 및 자산 포트폴리오 구성 규정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296840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284C7"/>
                </a:solidFill>
                <a:latin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670101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284C7"/>
                </a:solidFill>
                <a:latin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043362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284C7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416623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284C7"/>
                </a:solidFill>
                <a:latin typeface="Noto Sans K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3167360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284C7"/>
                </a:solidFill>
                <a:latin typeface="Noto Sans K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3540621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284C7"/>
                </a:solidFill>
                <a:latin typeface="Noto Sans K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4172842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284C7"/>
                </a:solidFill>
                <a:latin typeface="Noto Sans K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4546103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284C7"/>
                </a:solidFill>
                <a:latin typeface="Noto Sans K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핵심 개념: 시간선호 &amp; 위험감수성향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7196" y="561975"/>
            <a:ext cx="1193303" cy="2476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120503"/>
            <a:ext cx="11049000" cy="620910"/>
          </a:xfrm>
          <a:prstGeom prst="roundRect">
            <a:avLst>
              <a:gd name="adj" fmla="val 12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291953"/>
            <a:ext cx="10363200" cy="2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Noto Sans KR"/>
              </a:rPr>
              <a:t>분석 자료: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한국조세재정연구원 </a:t>
            </a:r>
            <a:r>
              <a:rPr b="1" sz="1275" i="0" u="none">
                <a:solidFill>
                  <a:srgbClr val="0F172A"/>
                </a:solidFill>
                <a:latin typeface="Noto Sans KR"/>
              </a:rPr>
              <a:t>재정패널조사 13~15차 (2020~2022년)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통합 데이터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970014"/>
            <a:ext cx="11049000" cy="620910"/>
          </a:xfrm>
          <a:prstGeom prst="roundRect">
            <a:avLst>
              <a:gd name="adj" fmla="val 12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800" y="3141464"/>
            <a:ext cx="10363200" cy="2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Noto Sans KR"/>
              </a:rPr>
              <a:t>표본 구성: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20세 이상 60세 이하 경제활동 성인 (가구주 및 배우자 총 </a:t>
            </a:r>
            <a:r>
              <a:rPr b="1" sz="1275" i="0" u="none">
                <a:solidFill>
                  <a:srgbClr val="0F172A"/>
                </a:solidFill>
                <a:latin typeface="Noto Sans KR"/>
              </a:rPr>
              <a:t>11,541명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819525"/>
            <a:ext cx="11049000" cy="620910"/>
          </a:xfrm>
          <a:prstGeom prst="roundRect">
            <a:avLst>
              <a:gd name="adj" fmla="val 12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800" y="3990975"/>
            <a:ext cx="10363200" cy="2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Noto Sans KR"/>
              </a:rPr>
              <a:t>성별 표본: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여성 </a:t>
            </a:r>
            <a:r>
              <a:rPr b="1" sz="1275" i="0" u="none">
                <a:solidFill>
                  <a:srgbClr val="0F172A"/>
                </a:solidFill>
                <a:latin typeface="Noto Sans KR"/>
              </a:rPr>
              <a:t>7,590명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/ 남성 </a:t>
            </a:r>
            <a:r>
              <a:rPr b="1" sz="1275" i="0" u="none">
                <a:solidFill>
                  <a:srgbClr val="0F172A"/>
                </a:solidFill>
                <a:latin typeface="Noto Sans KR"/>
              </a:rPr>
              <a:t>3,951명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(은퇴자 및 기존 연금 수급자 제외)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4669035"/>
            <a:ext cx="11049000" cy="620910"/>
          </a:xfrm>
          <a:prstGeom prst="roundRect">
            <a:avLst>
              <a:gd name="adj" fmla="val 12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4840485"/>
            <a:ext cx="10363200" cy="2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Noto Sans KR"/>
              </a:rPr>
              <a:t>분석 방법: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시간선호와 위험감수성향을 </a:t>
            </a:r>
            <a:r>
              <a:rPr b="1" sz="1275" i="0" u="none">
                <a:solidFill>
                  <a:srgbClr val="0F172A"/>
                </a:solidFill>
                <a:latin typeface="Noto Sans KR"/>
              </a:rPr>
              <a:t>동시에 통제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하여 편향(Bias)을 최소화한 실증 모형 구축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731889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5814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43091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280421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306240"/>
            <a:ext cx="148232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155751"/>
            <a:ext cx="148232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005262"/>
            <a:ext cx="148232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854773"/>
            <a:ext cx="148232" cy="2190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연구 데이터 및 분석 대상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9775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5783" y="561975"/>
            <a:ext cx="1064716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417861"/>
            <a:ext cx="5334000" cy="807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284C7"/>
                </a:solidFill>
                <a:latin typeface="Noto Sans KR"/>
              </a:rPr>
              <a:t>1. 시간선호 측정 (Multiple Price List)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20개 토큰을 '내일'과 '1달 뒤' 보상에 분배하는 5가지 이자율 시나리오 적용. 미래지향성(PreferFuture) 및 현재지향성(PreferPresent) 도출.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15754"/>
            <a:ext cx="5334000" cy="807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284C7"/>
                </a:solidFill>
                <a:latin typeface="Noto Sans KR"/>
              </a:rPr>
              <a:t>2. 위험감수성향 측정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1억 원 자산을 '안전예금(연 2%)'과 '펀드(50% 확률로 +5% 또는 -1%)'에 분배하는 선택 실험을 통해 위험회피/중립/추구 성향 분류.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413646"/>
            <a:ext cx="5334000" cy="807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284C7"/>
                </a:solidFill>
                <a:latin typeface="Noto Sans KR"/>
              </a:rPr>
              <a:t>3. 종속변수 (재무 행동)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 개인연금 보유 여부, 주식 보유 여부, 금융자산 내 위험자산 및 안전자산 비중.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9300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변수의 조작적 정의 및 측정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2225"/>
            <a:ext cx="5334000" cy="116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4775"/>
            <a:ext cx="5334000" cy="1162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079" y="561975"/>
            <a:ext cx="103242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0" y="2776835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성향 분포의 핵심 특성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262610"/>
            <a:ext cx="5334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Noto Sans KR"/>
              </a:rPr>
              <a:t>한국 성인은 전반적으로 </a:t>
            </a:r>
            <a:r>
              <a:rPr b="1" sz="1275" i="0" u="none">
                <a:solidFill>
                  <a:srgbClr val="334155"/>
                </a:solidFill>
                <a:latin typeface="Noto Sans KR"/>
              </a:rPr>
              <a:t>미래지향적 성향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을 지니고 있어 장기적인 은퇴 대비 및 저축에 잠재적 강점을 가짐.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32932"/>
            <a:ext cx="533400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Noto Sans KR"/>
              </a:rPr>
              <a:t>반면 투자와 관련해서는 </a:t>
            </a:r>
            <a:r>
              <a:rPr b="1" sz="1275" i="0" u="none">
                <a:solidFill>
                  <a:srgbClr val="334155"/>
                </a:solidFill>
                <a:latin typeface="Noto Sans KR"/>
              </a:rPr>
              <a:t>위험회피성향이 압도적으로 강함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을 확인.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344292"/>
            <a:ext cx="5334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Noto Sans KR"/>
              </a:rPr>
              <a:t>이러한 특성이 가계 금융자산 포트폴리오의 과도한 안전자산 쏠림 현상을 설명하는 주요 내적 요인임.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2752725"/>
            <a:ext cx="4743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b="1" sz="3900" i="0" u="none">
                <a:solidFill>
                  <a:srgbClr val="0284C7"/>
                </a:solidFill>
                <a:latin typeface="Poppins"/>
              </a:rPr>
              <a:t>68.4%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3305175"/>
            <a:ext cx="4743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전반적 미래선호성향 보유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4105275"/>
            <a:ext cx="4743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b="1" sz="3900" i="0" u="none">
                <a:solidFill>
                  <a:srgbClr val="E11D48"/>
                </a:solidFill>
                <a:latin typeface="Poppins"/>
              </a:rPr>
              <a:t>74.2%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657725"/>
            <a:ext cx="4743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높은 위험회피성향 보유 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한국 성인의 내재적 성향 주요 분포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7196" y="561975"/>
            <a:ext cx="1193303" cy="2476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1863328"/>
            <a:ext cx="11049000" cy="3912393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863328"/>
          <a:ext cx="11048998" cy="3912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55589"/>
                <a:gridCol w="3173759"/>
                <a:gridCol w="2764928"/>
                <a:gridCol w="3254722"/>
              </a:tblGrid>
              <a:tr h="558913">
                <a:tc>
                  <a:txBody>
                    <a:bodyPr/>
                    <a:lstStyle/>
                    <a:p>
                      <a:pPr algn="ctr"/>
                      <a:r>
                        <a:rPr b="0" sz="127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구분 요인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7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세부 집단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7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시간선호 (미래선호)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7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위험감수성향 (위험회피)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8913"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성별 및 혼인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여성 및 기혼자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상대적 높음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상대적 높음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913"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남성 및 미혼자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상대적 낮음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상대적 낮음 (위험추구)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8913"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교육 수준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고학력층 (대졸 이상)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유의적 증가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유의적 감소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913"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저학력층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상대적 낮음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강한 위험회피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8913"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소득 및 자산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고소득 · 고순자산 가구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유의적 증가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유의적 감소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915"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취약계층 (저소득·저자산)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현재선호 우세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Noto Sans KR"/>
                        </a:rPr>
                        <a:t>극심한 위험회피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3529012"/>
            <a:ext cx="1855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27089" y="2970907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00848" y="2970907"/>
            <a:ext cx="2764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5777" y="2970907"/>
            <a:ext cx="32547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27089" y="3529012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848" y="3529012"/>
            <a:ext cx="2764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5777" y="3529012"/>
            <a:ext cx="32547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645223"/>
            <a:ext cx="1855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7089" y="4087117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00848" y="4087117"/>
            <a:ext cx="2764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5777" y="4087117"/>
            <a:ext cx="32547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7089" y="4645223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00848" y="4645223"/>
            <a:ext cx="2764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5777" y="4645223"/>
            <a:ext cx="32547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761434"/>
            <a:ext cx="1855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27089" y="5203328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00848" y="5203328"/>
            <a:ext cx="2764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5777" y="5203328"/>
            <a:ext cx="32547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7089" y="5761434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0848" y="5761434"/>
            <a:ext cx="2764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5777" y="5761434"/>
            <a:ext cx="32547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084" y="2589014"/>
            <a:ext cx="894308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5984" y="2589014"/>
            <a:ext cx="894308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084" y="3147119"/>
            <a:ext cx="894308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6330" y="3147119"/>
            <a:ext cx="1553616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084" y="3705225"/>
            <a:ext cx="894308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5984" y="3705225"/>
            <a:ext cx="894308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6084" y="4263330"/>
            <a:ext cx="894308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9309" y="4263330"/>
            <a:ext cx="1027658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6084" y="4821435"/>
            <a:ext cx="894308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45984" y="4821435"/>
            <a:ext cx="894308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9409" y="5379541"/>
            <a:ext cx="1027658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2634" y="5379541"/>
            <a:ext cx="1161008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인구통계적 특성별 성향 차이 비교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7300"/>
            <a:ext cx="11049000" cy="512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079" y="561975"/>
            <a:ext cx="1032420" cy="247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" y="4490144"/>
            <a:ext cx="11049000" cy="7542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4623494"/>
            <a:ext cx="10668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34155"/>
                </a:solidFill>
                <a:latin typeface="Noto Sans KR"/>
              </a:rPr>
              <a:t>핵심 발견:</a:t>
            </a:r>
            <a:r>
              <a:rPr b="0" sz="1200" i="0" u="none">
                <a:solidFill>
                  <a:srgbClr val="334155"/>
                </a:solidFill>
                <a:latin typeface="Noto Sans KR"/>
              </a:rPr>
              <a:t> 미래선호성향이 높을수록 장기 금융상품(개인연금) 가입 및 주식 시장 참여 확률이 크게 증가함. 위험회피성향은 남녀 모두에게서 주식 시장 참여를 강력하게 억제함.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490144"/>
            <a:ext cx="38100" cy="7542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내재적 성향이 상품 가입 확률에 미치는 영향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7300"/>
            <a:ext cx="11049000" cy="512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079" y="561975"/>
            <a:ext cx="1032420" cy="247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" y="4871144"/>
            <a:ext cx="11049000" cy="7542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004494"/>
            <a:ext cx="10668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위험선호적 남성은 포트폴리오 내 </a:t>
            </a:r>
            <a:r>
              <a:rPr b="1" sz="1200" i="0" u="none">
                <a:solidFill>
                  <a:srgbClr val="334155"/>
                </a:solidFill>
                <a:latin typeface="Noto Sans KR"/>
              </a:rPr>
              <a:t>위험자산 비중이 상승</a:t>
            </a:r>
            <a:r>
              <a:rPr b="0" sz="1200" i="0" u="none">
                <a:solidFill>
                  <a:srgbClr val="334155"/>
                </a:solidFill>
                <a:latin typeface="Noto Sans KR"/>
              </a:rPr>
              <a:t>하고 안전자산 비중이 감소함. 반면, 위험회피적인 여성 및 저소득층은 포트폴리오가 </a:t>
            </a:r>
            <a:r>
              <a:rPr b="1" sz="1200" i="0" u="none">
                <a:solidFill>
                  <a:srgbClr val="334155"/>
                </a:solidFill>
                <a:latin typeface="Noto Sans KR"/>
              </a:rPr>
              <a:t>안전자산에 절대적으로 치중</a:t>
            </a:r>
            <a:r>
              <a:rPr b="0" sz="1200" i="0" u="none">
                <a:solidFill>
                  <a:srgbClr val="334155"/>
                </a:solidFill>
                <a:latin typeface="Noto Sans KR"/>
              </a:rPr>
              <a:t>되어 장기 자산증식에 한계가 존재함.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871144"/>
            <a:ext cx="38100" cy="7542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금융자산 포트폴리오 구성 영향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00538" y="2586037"/>
            <a:ext cx="119092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Noto Sans KR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5582" y="2900362"/>
            <a:ext cx="424068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oppins"/>
              </a:rPr>
              <a:t>시사점 및 정책 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49984" y="3662362"/>
            <a:ext cx="5291881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Noto Sans KR"/>
              </a:rPr>
              <a:t>실증적 연구 결과를 바탕으로 한 금융소비자 보호, 맞춤형 교육,</a:t>
            </a:r>
            <a:r>
              <a:t>
</a:t>
            </a:r>
            <a:r>
              <a:rPr b="0" sz="1500" i="0" u="none">
                <a:solidFill>
                  <a:srgbClr val="64748B"/>
                </a:solidFill>
                <a:latin typeface="Noto Sans KR"/>
              </a:rPr>
              <a:t> 그리고 노후 대비 지원 정책 수립 방안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6512"/>
            <a:ext cx="3530649" cy="2486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76512"/>
            <a:ext cx="3530649" cy="2486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76512"/>
            <a:ext cx="3530649" cy="2486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6666" y="561975"/>
            <a:ext cx="903833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852737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576637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취약계층 미래선호 강화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29062"/>
            <a:ext cx="305439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Noto Sans KR"/>
              </a:rPr>
              <a:t>소득·교육 수준이 낮은 계층일수록 현재선호 경향이 강함. 이들을 대상으로 장기 재무 목표 설정 및 미래지향적 선택을 유도하는 금융교육 확대 필요.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874" y="2852737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8874" y="3576637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포트폴리오 다각화 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929062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Noto Sans KR"/>
              </a:rPr>
              <a:t>과도한 위험회피로 인한 안전자산 쏠림 극복. 적절한 리스크 분산, 장기투자 전략 및 사적연금 활용법에 관한 실질적 투자 맞춤 교육 추진.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8124" y="2852737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28124" y="3576637"/>
            <a:ext cx="32071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제도 및 판매 현장 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124" y="3929062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Noto Sans KR"/>
              </a:rPr>
              <a:t>금융상품 적합성 평가 시 위험감수성향뿐만 아니라 '시간선호'도 고려하여 완전판매 수준 제고 및 맞춤형 사적연금 안내체계 구축.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876" y="2967037"/>
            <a:ext cx="266848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1125" y="2967037"/>
            <a:ext cx="266848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0375" y="2967037"/>
            <a:ext cx="266848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정책 및 금융교육 가이드라인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176" y="3930848"/>
            <a:ext cx="5937646" cy="542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09157" y="2384077"/>
            <a:ext cx="1973684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0F172A"/>
                </a:solidFill>
                <a:latin typeface="Poppins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5150" y="3279427"/>
            <a:ext cx="2641699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0284C7"/>
                </a:solidFill>
                <a:latin typeface="Noto Sans KR Medium"/>
              </a:rPr>
              <a:t>경청해 주셔서 감사합니다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069" y="3547913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69444" y="3541365"/>
            <a:ext cx="4548336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Noto Sans KR"/>
              </a:rPr>
              <a:t>https://img.staticimg.com/feed/2026/08/11/f8f75fe95e184dd6a0b63fa714a1f200.jpg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9444" y="3787080"/>
            <a:ext cx="4548336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www.kucoin.com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942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