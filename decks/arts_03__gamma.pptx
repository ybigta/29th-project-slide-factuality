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59582"/>
            <a:ext cx="378693" cy="215354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702073"/>
            <a:ext cx="6657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서평</a:t>
            </a:r>
            <a:endParaRPr lang="ko-KR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9316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김홍도의 다양한 면모를 탐구하다</a:t>
            </a:r>
            <a:endParaRPr lang="ko-KR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03021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정병모 저, 『김홍도 새로움: 무엇을 그려도 색다르게 표현하는 천재화가 김홍도』(다할미디어, 2024) · 진준현 전 서울대학교박물관 학예관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2287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전체 구성과 내용</a:t>
            </a:r>
            <a:endParaRPr lang="ko-KR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7845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김홍도는 서양의 마네·모네·피카소에 비견되는 천재화가이나, 20세기까지 해외는 물론 국내에서도 관련 단행본이 많지 않았다. 이 책은 오주석, 진준현, 장진성 등의 선행 연구를 바탕으로 저자 나름의 시각으로 새롭게 펴낸 것이다.</a:t>
            </a:r>
            <a:endParaRPr lang="ko-KR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318370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2460129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전체 구성</a:t>
            </a:r>
            <a:endParaRPr lang="ko-KR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2766640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프롤로그·에필로그 + 8개 부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318370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2460129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주제</a:t>
            </a:r>
            <a:endParaRPr lang="ko-KR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766640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풍속화, 민화, 판화를 중심으로 김홍도의 다양한 면모 탐구</a:t>
            </a:r>
            <a:endParaRPr lang="ko-KR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0378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64554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집필 의도</a:t>
            </a:r>
            <a:endParaRPr lang="ko-KR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9520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전문적 서술을 지양하고 대중이 쉽게 읽을 수 있도록 평이하게 기술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분량이 많은 두 개의 핵심 부</a:t>
            </a:r>
            <a:endParaRPr lang="ko-KR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1257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2부 — 풍속화의 혁신적 변화</a:t>
            </a:r>
            <a:endParaRPr lang="ko-KR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64457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95쪽 내외로, 김홍도의 대중적 선호도가 풍속화에 집중된 점과 저자의 초기 연구 분야가 풍속화였다는 점을 반영한다.</a:t>
            </a:r>
            <a:endParaRPr lang="ko-KR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9066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6부 — 정조의 개혁정치와 혁신회화</a:t>
            </a:r>
            <a:endParaRPr lang="ko-KR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842543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100쪽을 상회하여 분량이 가장 많다. 책거리·호렵도·화성원행도·『오륜행실도』 등을 정조의 개혁정치와 연계하여 서술하며, 저자의 민화·판화 연구 관심과 맞닿아 있다.</a:t>
            </a:r>
            <a:endParaRPr lang="ko-KR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82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프롤로그: 왜 '새로움'인가</a:t>
            </a:r>
            <a:endParaRPr lang="ko-KR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00324"/>
            <a:ext cx="5188893" cy="29187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3206" y="1099245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저자의 주장</a:t>
            </a:r>
            <a:endParaRPr lang="ko-KR" sz="1250" dirty="0"/>
          </a:p>
        </p:txBody>
      </p:sp>
      <p:sp>
        <p:nvSpPr>
          <p:cNvPr id="5" name="Text 2"/>
          <p:cNvSpPr/>
          <p:nvPr/>
        </p:nvSpPr>
        <p:spPr>
          <a:xfrm>
            <a:off x="6003206" y="1416323"/>
            <a:ext cx="26493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김홍도가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0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조선 회화의 패러다임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을 바꾸었기 때문에 '새로움'이라 명명했다. 오주석·진준현·장진성 등의 선행 연구도 같은 지점을 지적했으나, 저자는 자신의 시각의 새로움을 재삼 강조한다.</a:t>
            </a:r>
            <a:endParaRPr lang="ko-KR" sz="1000" dirty="0"/>
          </a:p>
        </p:txBody>
      </p:sp>
      <p:sp>
        <p:nvSpPr>
          <p:cNvPr id="6" name="Text 3"/>
          <p:cNvSpPr/>
          <p:nvPr/>
        </p:nvSpPr>
        <p:spPr>
          <a:xfrm>
            <a:off x="6003206" y="2316435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비판적 검토</a:t>
            </a:r>
            <a:endParaRPr lang="ko-KR" sz="1250" dirty="0"/>
          </a:p>
        </p:txBody>
      </p:sp>
      <p:sp>
        <p:nvSpPr>
          <p:cNvPr id="7" name="Text 4"/>
          <p:cNvSpPr/>
          <p:nvPr/>
        </p:nvSpPr>
        <p:spPr>
          <a:xfrm>
            <a:off x="6003206" y="2633514"/>
            <a:ext cx="2649364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1970~80년대 민주화 열망과 풍속화가 김홍도를 '국민화가'로 만들었다는 서술은 문제가 있다. 김홍도의 풍속화는 당대부터 그를 유명하게 했으며(강세황의 「단원기」), 최순우도 1960년대에 이미 풍속화로 평가했다.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6003206" y="3744144"/>
            <a:ext cx="2649364" cy="861492"/>
          </a:xfrm>
          <a:prstGeom prst="roundRect">
            <a:avLst>
              <a:gd name="adj" fmla="val 2237"/>
            </a:avLst>
          </a:prstGeom>
          <a:solidFill>
            <a:srgbClr val="0D3E7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644" y="3918272"/>
            <a:ext cx="160586" cy="1284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20669" y="3880991"/>
            <a:ext cx="210346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지리적 오류 지적: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행려풍속도병풍 &lt;나루터&gt;에서 노량진 배경에 인왕산이 보인다는 해석은 방향상 모순이다.</a:t>
            </a:r>
            <a:endParaRPr lang="ko-KR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080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1부·2부: 천재화가의 탄생과 풍속화 혁신</a:t>
            </a:r>
            <a:endParaRPr lang="ko-KR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67310"/>
            <a:ext cx="4004965" cy="15353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28118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1부 — 천재화가 김홍도</a:t>
            </a:r>
            <a:endParaRPr lang="ko-KR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634630"/>
            <a:ext cx="36071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강세황과의 만남으로 재능이 발현되었고, 심사정·최북·허필 등과의 교류를 통해 발전하여 도화서 화원으로 발탁되었다. 세 절로 나누어 스승과 제자의 관계, 최초의 기년작 &lt;균외아집도&gt;, 궁중화원 입문을 서술한다.</a:t>
            </a:r>
            <a:endParaRPr lang="ko-KR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167310"/>
            <a:ext cx="4005039" cy="15353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328118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2부 — 풍속화의 혁신적 변화</a:t>
            </a:r>
            <a:endParaRPr lang="ko-KR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2634630"/>
            <a:ext cx="36072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저자는 김홍도를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'천부적인 스토리텔러'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라 칭하며, 성호 이익의 실학사상과의 연결(안산이라는 공동 공간)을 지적한다. 그러나 "자유와 평등이란 보편적 가치를 지향한다"는 주장은 지나친 해석으로, 김홍도는 정조 시대의 유교적 질서에 충실했다.</a:t>
            </a:r>
            <a:endParaRPr lang="ko-K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797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해석상 수정이 필요한 지점들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6448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풍속화는 복식과 인물 동작을 통해 시대상을 표현하므로 해석이 중요하고 어렵다. 아래 몇 가지 해석은 보완이 필요하다.</a:t>
            </a:r>
            <a:endParaRPr lang="ko-KR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50765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549287" y="19773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56816" y="1999431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&lt;매해과행도&gt; 화제 해석</a:t>
            </a:r>
            <a:endParaRPr lang="ko-KR" sz="1350" dirty="0"/>
          </a:p>
        </p:txBody>
      </p:sp>
      <p:sp>
        <p:nvSpPr>
          <p:cNvPr id="7" name="Text 5"/>
          <p:cNvSpPr/>
          <p:nvPr/>
        </p:nvSpPr>
        <p:spPr>
          <a:xfrm>
            <a:off x="956816" y="2305943"/>
            <a:ext cx="35265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강세황의 화제 후반부 해석이 애매하며, "쓸쓸하고 차가운 풍경이 필묵 밖에 눈에 선하다… 시골(안산)로 돌아가고 싶은 마음을 가지게 한다"로 수정이 필요하다.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4660553" y="1950765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9" name="Text 7"/>
          <p:cNvSpPr/>
          <p:nvPr/>
        </p:nvSpPr>
        <p:spPr>
          <a:xfrm>
            <a:off x="4713722" y="19773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121250" y="1999431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&lt;타작&gt; 나그네 일행</a:t>
            </a:r>
            <a:endParaRPr lang="ko-KR" sz="1350" dirty="0"/>
          </a:p>
        </p:txBody>
      </p:sp>
      <p:sp>
        <p:nvSpPr>
          <p:cNvPr id="11" name="Text 9"/>
          <p:cNvSpPr/>
          <p:nvPr/>
        </p:nvSpPr>
        <p:spPr>
          <a:xfrm>
            <a:off x="5121250" y="2305943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아래 나그네 일행을 김홍도 부부로 추정하는 것은 복색으로 보아 설득력이 부족하다.</a:t>
            </a:r>
            <a:endParaRPr lang="ko-KR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2699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3" name="Text 11"/>
          <p:cNvSpPr/>
          <p:nvPr/>
        </p:nvSpPr>
        <p:spPr>
          <a:xfrm>
            <a:off x="549287" y="329646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6816" y="3318570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&lt;후원의 풍류&gt; 기생 설명</a:t>
            </a:r>
            <a:endParaRPr lang="ko-KR" sz="1350" dirty="0"/>
          </a:p>
        </p:txBody>
      </p:sp>
      <p:sp>
        <p:nvSpPr>
          <p:cNvPr id="15" name="Text 13"/>
          <p:cNvSpPr/>
          <p:nvPr/>
        </p:nvSpPr>
        <p:spPr>
          <a:xfrm>
            <a:off x="956816" y="3625081"/>
            <a:ext cx="35265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"기생의 여유로운 행색"보다는 "음악회 실무자들이 무대 뒤에서 기다리는 모습"으로 보는 것이 복식과 태도로 보아 타당하다.</a:t>
            </a:r>
            <a:endParaRPr lang="ko-KR" sz="1100" dirty="0"/>
          </a:p>
        </p:txBody>
      </p:sp>
      <p:sp>
        <p:nvSpPr>
          <p:cNvPr id="16" name="Shape 14"/>
          <p:cNvSpPr/>
          <p:nvPr/>
        </p:nvSpPr>
        <p:spPr>
          <a:xfrm>
            <a:off x="4660553" y="326990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7" name="Text 15"/>
          <p:cNvSpPr/>
          <p:nvPr/>
        </p:nvSpPr>
        <p:spPr>
          <a:xfrm>
            <a:off x="4713722" y="329646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121250" y="3318570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생황·꽹과니 나그네</a:t>
            </a:r>
            <a:endParaRPr lang="ko-KR" sz="1350" dirty="0"/>
          </a:p>
        </p:txBody>
      </p:sp>
      <p:sp>
        <p:nvSpPr>
          <p:cNvPr id="19" name="Text 17"/>
          <p:cNvSpPr/>
          <p:nvPr/>
        </p:nvSpPr>
        <p:spPr>
          <a:xfrm>
            <a:off x="5121250" y="3625081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나그네를 김홍도로 해석한 것도 다소 무리해 보인다.</a:t>
            </a:r>
            <a:endParaRPr lang="ko-KR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106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3부·4부와 종합 평가</a:t>
            </a:r>
            <a:endParaRPr lang="ko-KR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469082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3부 — 다양한 모티브에 개성을 입히다</a:t>
            </a:r>
            <a:endParaRPr lang="ko-KR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749698"/>
            <a:ext cx="2666926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alt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김홍도의 신선도를 '풍속화의 신적 버전'이라 설명하며, 중국 전래 도상을 한국적 캐릭터로 재해석한 점을 강조한다. 다만 작품 설명상 오류(조국구의 사모·홍포 부재, 여동빈 손 자세 등)가 있어 보완이 필요하다.</a:t>
            </a:r>
            <a:endParaRPr lang="ko-KR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2533576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4부 — 사실성에서 서정성까지</a:t>
            </a:r>
            <a:endParaRPr lang="ko-KR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2814191"/>
            <a:ext cx="2666926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altLang="en-US" sz="9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동물화·화조화·서원아집도를 통해 김홍도 회화의 두 축인 사실성과 서정성을 재강조한다. &lt;송하맹호도&gt;의 호랑이 눈·눈썹이 실제 사진과 다르다는 분석은 김홍도의 독창적 해석을 보여준다.</a:t>
            </a:r>
            <a:endParaRPr lang="ko-KR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152" y="1018059"/>
            <a:ext cx="5198418" cy="29241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6119" y="4160788"/>
            <a:ext cx="8151763" cy="586606"/>
          </a:xfrm>
          <a:prstGeom prst="roundRect">
            <a:avLst>
              <a:gd name="adj" fmla="val 3002"/>
            </a:avLst>
          </a:prstGeom>
          <a:solidFill>
            <a:srgbClr val="0D3E7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70" y="4298900"/>
            <a:ext cx="146745" cy="117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7565" y="4287292"/>
            <a:ext cx="765296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종합:</a:t>
            </a:r>
            <a:pPr algn="l" indent="0" marL="0">
              <a:lnSpc>
                <a:spcPct val="122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이 책은 김홍도의 다양한 면모를 대중적 시각으로 조명한 의미 있는 연구이나, 일부 해석과 작품 설명에서 오류와 지나친 주장을 포함하고 있어 비판적으로 읽을 필요가 있다.</a:t>
            </a:r>
            <a:endParaRPr lang="ko-K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2026-08-16T09:07:18Z</dcterms:created>
  <dcterms:modified xsi:type="dcterms:W3CDTF">2026-08-16T09:07:18Z</dcterms:modified>
</cp:coreProperties>
</file>