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f0b4cd28ca458c" /><Relationship Type="http://schemas.openxmlformats.org/officeDocument/2006/relationships/extended-properties" Target="/docProps/app.xml" Id="Rd98d56f431a34c22" /><Relationship Type="http://schemas.openxmlformats.org/officeDocument/2006/relationships/officeDocument" Target="/ppt/presentation.xml" Id="Reb4e3cf53b6d4a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50893760044ec6"/>
  </p:sldMasterIdLst>
  <p:notesMasterIdLst>
    <p:notesMasterId xmlns:r="http://schemas.openxmlformats.org/officeDocument/2006/relationships" r:id="R9a465f6066df4cd9"/>
  </p:notesMasterIdLst>
  <p:sldIdLst>
    <p:sldId xmlns:r="http://schemas.openxmlformats.org/officeDocument/2006/relationships" id="256" r:id="Rdbb6c3092b0a458b"/>
    <p:sldId xmlns:r="http://schemas.openxmlformats.org/officeDocument/2006/relationships" id="257" r:id="Rd18110f4e45842e5"/>
    <p:sldId xmlns:r="http://schemas.openxmlformats.org/officeDocument/2006/relationships" id="258" r:id="R052ae52a974349e2"/>
    <p:sldId xmlns:r="http://schemas.openxmlformats.org/officeDocument/2006/relationships" id="259" r:id="R6b7859cda32747ff"/>
    <p:sldId xmlns:r="http://schemas.openxmlformats.org/officeDocument/2006/relationships" id="260" r:id="R52694b7e6b3d4d45"/>
    <p:sldId xmlns:r="http://schemas.openxmlformats.org/officeDocument/2006/relationships" id="261" r:id="R98335352864e4ea0"/>
    <p:sldId xmlns:r="http://schemas.openxmlformats.org/officeDocument/2006/relationships" id="262" r:id="R2158e75d3a0e4ba5"/>
    <p:sldId xmlns:r="http://schemas.openxmlformats.org/officeDocument/2006/relationships" id="263" r:id="Rc921e94d67cb470a"/>
    <p:sldId xmlns:r="http://schemas.openxmlformats.org/officeDocument/2006/relationships" id="264" r:id="R8b7786fe38ad4f37"/>
    <p:sldId xmlns:r="http://schemas.openxmlformats.org/officeDocument/2006/relationships" id="265" r:id="Rb7583214f8a341b4"/>
    <p:sldId xmlns:r="http://schemas.openxmlformats.org/officeDocument/2006/relationships" id="266" r:id="Rc071faca59734322"/>
    <p:sldId xmlns:r="http://schemas.openxmlformats.org/officeDocument/2006/relationships" id="267" r:id="R560eb8e1a5ad4727"/>
    <p:sldId xmlns:r="http://schemas.openxmlformats.org/officeDocument/2006/relationships" id="268" r:id="Rdc145ebcdec141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0fad93d7e947d8" /><Relationship Type="http://schemas.openxmlformats.org/officeDocument/2006/relationships/slideMaster" Target="/ppt/slideMasters/slideMaster1.xml" Id="R6b50893760044ec6" /><Relationship Type="http://schemas.openxmlformats.org/officeDocument/2006/relationships/notesMaster" Target="/ppt/notesMasters/notesMaster1.xml" Id="R9a465f6066df4cd9" /><Relationship Type="http://schemas.openxmlformats.org/officeDocument/2006/relationships/presProps" Target="/ppt/presProps.xml" Id="R96772b8e00dc4096" /><Relationship Type="http://schemas.openxmlformats.org/officeDocument/2006/relationships/tableStyles" Target="/ppt/tableStyles.xml" Id="R3c225ff83f484db3" /><Relationship Type="http://schemas.openxmlformats.org/officeDocument/2006/relationships/slide" Target="/ppt/slides/slide1.xml" Id="Rdbb6c3092b0a458b" /><Relationship Type="http://schemas.openxmlformats.org/officeDocument/2006/relationships/slide" Target="/ppt/slides/slide2.xml" Id="Rd18110f4e45842e5" /><Relationship Type="http://schemas.openxmlformats.org/officeDocument/2006/relationships/slide" Target="/ppt/slides/slide3.xml" Id="R052ae52a974349e2" /><Relationship Type="http://schemas.openxmlformats.org/officeDocument/2006/relationships/slide" Target="/ppt/slides/slide4.xml" Id="R6b7859cda32747ff" /><Relationship Type="http://schemas.openxmlformats.org/officeDocument/2006/relationships/slide" Target="/ppt/slides/slide5.xml" Id="R52694b7e6b3d4d45" /><Relationship Type="http://schemas.openxmlformats.org/officeDocument/2006/relationships/slide" Target="/ppt/slides/slide6.xml" Id="R98335352864e4ea0" /><Relationship Type="http://schemas.openxmlformats.org/officeDocument/2006/relationships/slide" Target="/ppt/slides/slide7.xml" Id="R2158e75d3a0e4ba5" /><Relationship Type="http://schemas.openxmlformats.org/officeDocument/2006/relationships/slide" Target="/ppt/slides/slide8.xml" Id="Rc921e94d67cb470a" /><Relationship Type="http://schemas.openxmlformats.org/officeDocument/2006/relationships/slide" Target="/ppt/slides/slide9.xml" Id="R8b7786fe38ad4f37" /><Relationship Type="http://schemas.openxmlformats.org/officeDocument/2006/relationships/slide" Target="/ppt/slides/slide10.xml" Id="Rb7583214f8a341b4" /><Relationship Type="http://schemas.openxmlformats.org/officeDocument/2006/relationships/slide" Target="/ppt/slides/slide11.xml" Id="Rc071faca59734322" /><Relationship Type="http://schemas.openxmlformats.org/officeDocument/2006/relationships/slide" Target="/ppt/slides/slide12.xml" Id="R560eb8e1a5ad4727" /><Relationship Type="http://schemas.openxmlformats.org/officeDocument/2006/relationships/slide" Target="/ppt/slides/slide13.xml" Id="Rdc145ebcdec141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5f726876b74b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25fdc65a534e2b" /><Relationship Type="http://schemas.openxmlformats.org/officeDocument/2006/relationships/notesMaster" Target="/ppt/notesMasters/notesMaster1.xml" Id="Ra27b717f4df544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2c32d027d64f37" /><Relationship Type="http://schemas.openxmlformats.org/officeDocument/2006/relationships/notesMaster" Target="/ppt/notesMasters/notesMaster1.xml" Id="R28f4aae05aff44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3da5b1da094601" /><Relationship Type="http://schemas.openxmlformats.org/officeDocument/2006/relationships/notesMaster" Target="/ppt/notesMasters/notesMaster1.xml" Id="Ra2c52a03031249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09028bb1724f2e" /><Relationship Type="http://schemas.openxmlformats.org/officeDocument/2006/relationships/notesMaster" Target="/ppt/notesMasters/notesMaster1.xml" Id="Reabbf1f7c3c044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7d0867c5134770" /><Relationship Type="http://schemas.openxmlformats.org/officeDocument/2006/relationships/notesMaster" Target="/ppt/notesMasters/notesMaster1.xml" Id="R64f30a8495b246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b2198de2344eb6" /><Relationship Type="http://schemas.openxmlformats.org/officeDocument/2006/relationships/notesMaster" Target="/ppt/notesMasters/notesMaster1.xml" Id="R4475c799648041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f719de6ccf422a" /><Relationship Type="http://schemas.openxmlformats.org/officeDocument/2006/relationships/notesMaster" Target="/ppt/notesMasters/notesMaster1.xml" Id="R6d2628e32cae42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323ed0241e4923" /><Relationship Type="http://schemas.openxmlformats.org/officeDocument/2006/relationships/notesMaster" Target="/ppt/notesMasters/notesMaster1.xml" Id="Re7210b7d580741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c5b8ef0e874183" /><Relationship Type="http://schemas.openxmlformats.org/officeDocument/2006/relationships/notesMaster" Target="/ppt/notesMasters/notesMaster1.xml" Id="Rb5fdc7212a9b4b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9105a76485493e" /><Relationship Type="http://schemas.openxmlformats.org/officeDocument/2006/relationships/notesMaster" Target="/ppt/notesMasters/notesMaster1.xml" Id="R1018bc043bdc45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8374c134e24ff0" /><Relationship Type="http://schemas.openxmlformats.org/officeDocument/2006/relationships/notesMaster" Target="/ppt/notesMasters/notesMaster1.xml" Id="R2481fe09403e4b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cede75ba974721" /><Relationship Type="http://schemas.openxmlformats.org/officeDocument/2006/relationships/notesMaster" Target="/ppt/notesMasters/notesMaster1.xml" Id="Rd57f424ef03b4f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92e6cd1ab14d38" /><Relationship Type="http://schemas.openxmlformats.org/officeDocument/2006/relationships/notesMaster" Target="/ppt/notesMasters/notesMaster1.xml" Id="R10f53d92b41048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1);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No altered claim on the cover; the benchmark framing is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1, 7, 24-26);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scope swap (specific non-resident/high-price cases generalized), threshold changed from low-30bn range to KRW 2.5bn, and staggered 2027-2029 sunsets compressed into 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8-10, 14-18, 23-25);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implementation timing shifted: the KRW 1.0bn capital-gains deduction cap is fully effective in 2029, not 2028; 2027 comprehensive-tax credit cap is KRW 8m, not KRW 4m; market-normalization claim is invented.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18-23);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threshold shifted from low-KRW-3bn range to KRW 2.5bn; chart values are synthetic; fair-market-value ratio changed from 70% (or 80% for specified cases) to 85%; credit cap changed from KRW 6m to KRW 4m.</a:t>
            </a:r>
          </a:p>
          <a:p xmlns:a="http://schemas.openxmlformats.org/drawingml/2006/main">
            <a:r>
              <a:t>The resident/non-resident basic deductions of KRW 1.4bn/KRW 0.9bn are retained as grounding anchors.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9-17);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reform effective rate at KRW 3bn gain raised from report estimate 27.8% to 35%; deduction cap changed from KRW 1.0bn to KRW 0.7bn; full implementation moved from 2029 to 2028; KRW 4.0bn home additional tax changed from about KRW 540m to KRW 720m under the report assumption.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1, 13-18, 27-28);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listing-volume index and 30% uplift are fabricated; source states only a qualitative increase in sale incentives and possible adjustment pressure.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24-25);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18만 homes, 63% concentration, and 6% price decline are fabricated; source shows only that multiple tax benefits sunset across 2027-2029 and may release listings.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26-30);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the causal direction follows the source, but +75% carrying cost, -12% rental stock, and +9% rent are fabricated magnitudes.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28-29);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regional 2026 jeonse ratios are grounded (Geumcheon 64, Gangbuk 64, Jungnang 63, Gangnam 38), but all 2027 rent-growth forecasts and the ranking of impact are fabricated inferences.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27-29);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-8% high-price decline and +4% low-price rebound are fabricated; source only argues greater adjustment pressure for high-price homes and relative downside rigidity for lower-price segments.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30);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20만 homes, five-year full tax exemption, and 3% policy financing are invented; source only recommends cultivating institutional/public rental operators and considering tax/regulatory/financing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24, 28-30);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2.25% policy-rate threshold, 40,000 Seoul completions, and 120,000 institutional rental units are fabricated thresholds; the source only says rates, income, supply, legislation, rental operators, and policy credibility should be monitored.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/Users/choieunchae/Downloads/부동산 세제개편 영향 늘어나는 매도물량만큼 줄어들 임대물량.pdf (pp. 1, 26-30); Daishin Securities Research Center, 2026-08-10.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[Evaluation metadata]</a:t>
            </a:r>
          </a:p>
          <a:p xmlns:a="http://schemas.openxmlformats.org/drawingml/2006/main">
            <a:r>
              <a:t>Injected inaccuracies: 2028 listing peak, 2029 +9% rent, and 2030 adjustment end are fabricated synthesis claims; only the qualitative sale-up/rental-down mechanism is grounded.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a3eedbdb040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7736d6851b4098" /><Relationship Type="http://schemas.openxmlformats.org/officeDocument/2006/relationships/slideLayout" Target="/ppt/slideLayouts/slideLayout1.xml" Id="Rc1bdd9cc802e4a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bdd9cc802e4a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80acee5eb428b" /><Relationship Type="http://schemas.openxmlformats.org/officeDocument/2006/relationships/image" Target="/ppt/media/image.png" Id="R73b45de8e3dd4e94" /><Relationship Type="http://schemas.openxmlformats.org/officeDocument/2006/relationships/notesSlide" Target="/ppt/notesSlides/notesSlide1.xml" Id="Rd9f029bc8f2a44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db51429c54b7a" /><Relationship Type="http://schemas.openxmlformats.org/officeDocument/2006/relationships/notesSlide" Target="/ppt/notesSlides/notesSlide2.xml" Id="R2998c13bc9f041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1e491951149b7" /><Relationship Type="http://schemas.openxmlformats.org/officeDocument/2006/relationships/notesSlide" Target="/ppt/notesSlides/notesSlide3.xml" Id="R21a917073b9447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e6b5e43064f6a" /><Relationship Type="http://schemas.openxmlformats.org/officeDocument/2006/relationships/chart" Target="/ppt/slides/charts/chart1.xml" Id="R1228456f13634d9a" /><Relationship Type="http://schemas.openxmlformats.org/officeDocument/2006/relationships/notesSlide" Target="/ppt/notesSlides/notesSlide4.xml" Id="Rfd548ea3c4de4e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5d21c989d4162" /><Relationship Type="http://schemas.openxmlformats.org/officeDocument/2006/relationships/chart" Target="/ppt/slides/charts/chart2.xml" Id="Rbd77dc86a00049d3" /><Relationship Type="http://schemas.openxmlformats.org/officeDocument/2006/relationships/notesSlide" Target="/ppt/notesSlides/notesSlide5.xml" Id="R00673580ad314e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149a66f3f4fc0" /><Relationship Type="http://schemas.openxmlformats.org/officeDocument/2006/relationships/chart" Target="/ppt/slides/charts/chart3.xml" Id="R26e69f28435846fd" /><Relationship Type="http://schemas.openxmlformats.org/officeDocument/2006/relationships/notesSlide" Target="/ppt/notesSlides/notesSlide6.xml" Id="R85df41658ecf41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65eab4296430b" /><Relationship Type="http://schemas.openxmlformats.org/officeDocument/2006/relationships/image" Target="/ppt/media/image2.png" Id="Rbfd6a1e06c9b4351" /><Relationship Type="http://schemas.openxmlformats.org/officeDocument/2006/relationships/notesSlide" Target="/ppt/notesSlides/notesSlide7.xml" Id="R5530102c40204d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c2200e7804a7b" /><Relationship Type="http://schemas.openxmlformats.org/officeDocument/2006/relationships/notesSlide" Target="/ppt/notesSlides/notesSlide8.xml" Id="R55af1845914c4d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4f155400c4fc9" /><Relationship Type="http://schemas.openxmlformats.org/officeDocument/2006/relationships/chart" Target="/ppt/slides/charts/chart4.xml" Id="Rfef26ccbaa2e4cad" /><Relationship Type="http://schemas.openxmlformats.org/officeDocument/2006/relationships/image" Target="/ppt/media/image3.png" Id="R15b5be37e12f4450" /><Relationship Type="http://schemas.openxmlformats.org/officeDocument/2006/relationships/notesSlide" Target="/ppt/notesSlides/notesSlide9.xml" Id="R68b4a082afa548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d30429b854a14" /><Relationship Type="http://schemas.openxmlformats.org/officeDocument/2006/relationships/notesSlide" Target="/ppt/notesSlides/notesSlide10.xml" Id="R3f039285858f46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32dc6aabb4759" /><Relationship Type="http://schemas.openxmlformats.org/officeDocument/2006/relationships/notesSlide" Target="/ppt/notesSlides/notesSlide11.xml" Id="R214ea25ee1db4d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0ce33ef9c42ee" /><Relationship Type="http://schemas.openxmlformats.org/officeDocument/2006/relationships/notesSlide" Target="/ppt/notesSlides/notesSlide12.xml" Id="R1583b49a287b49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e0e1750ec4e48" /><Relationship Type="http://schemas.openxmlformats.org/officeDocument/2006/relationships/notesSlide" Target="/ppt/notesSlides/notesSlide13.xml" Id="R708611514b2c4e0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현행</c:v>
          </c:tx>
          <c:spPr>
            <a:solidFill xmlns:a="http://schemas.openxmlformats.org/drawingml/2006/main">
              <a:srgbClr val="65C9F3"/>
            </a:solidFill>
          </c:spPr>
          <c:cat>
            <c:strLit>
              <c:ptCount val="5"/>
              <c:pt idx="0">
                <c:v>20억</c:v>
              </c:pt>
              <c:pt idx="1">
                <c:v>30억</c:v>
              </c:pt>
              <c:pt idx="2">
                <c:v>40억</c:v>
              </c:pt>
              <c:pt idx="3">
                <c:v>50억</c:v>
              </c:pt>
              <c:pt idx="4">
                <c:v>60억</c:v>
              </c:pt>
            </c:strLit>
          </c:cat>
          <c:val>
            <c:numLit>
              <c:formatCode>General</c:formatCode>
              <c:ptCount val="5"/>
              <c:pt idx="0">
                <c:v>250</c:v>
              </c:pt>
              <c:pt idx="1">
                <c:v>600</c:v>
              </c:pt>
              <c:pt idx="2">
                <c:v>1000</c:v>
              </c:pt>
              <c:pt idx="3">
                <c:v>1700</c:v>
              </c:pt>
              <c:pt idx="4">
                <c:v>2500</c:v>
              </c:pt>
            </c:numLit>
          </c:val>
        </c:ser>
        <c:ser>
          <c:idx val="1"/>
          <c:order val="1"/>
          <c:tx>
            <c:v>개편</c:v>
          </c:tx>
          <c:spPr>
            <a:solidFill xmlns:a="http://schemas.openxmlformats.org/drawingml/2006/main">
              <a:srgbClr val="287EED"/>
            </a:solidFill>
          </c:spPr>
          <c:cat>
            <c:strLit>
              <c:ptCount val="5"/>
              <c:pt idx="0">
                <c:v>20억</c:v>
              </c:pt>
              <c:pt idx="1">
                <c:v>30억</c:v>
              </c:pt>
              <c:pt idx="2">
                <c:v>40억</c:v>
              </c:pt>
              <c:pt idx="3">
                <c:v>50억</c:v>
              </c:pt>
              <c:pt idx="4">
                <c:v>60억</c:v>
              </c:pt>
            </c:strLit>
          </c:cat>
          <c:val>
            <c:numLit>
              <c:formatCode>General</c:formatCode>
              <c:ptCount val="5"/>
              <c:pt idx="0">
                <c:v>340</c:v>
              </c:pt>
              <c:pt idx="1">
                <c:v>900</c:v>
              </c:pt>
              <c:pt idx="2">
                <c:v>1550</c:v>
              </c:pt>
              <c:pt idx="3">
                <c:v>2400</c:v>
              </c:pt>
              <c:pt idx="4">
                <c:v>3800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0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EC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131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6707C"/>
                    </a:solidFill>
                  </a:rPr>
                  <a:t>연간 보유세 추정 (만원)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6707C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7C"/>
                </a:solidFill>
              </a:defRPr>
            </a:pPr>
          </a:p>
        </c:txPr>
        <c:crossAx val="48650112"/>
        <c:crossBetween val="between"/>
        <c:majorUnit val="1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7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현행</c:v>
          </c:tx>
          <c:spPr>
            <a:ln xmlns:a="http://schemas.openxmlformats.org/drawingml/2006/main" w="28575">
              <a:solidFill>
                <a:srgbClr val="65C9F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65C9F3"/>
              </a:solidFill>
            </c:spPr>
          </c:marker>
          <c:cat>
            <c:strLit>
              <c:ptCount val="4"/>
              <c:pt idx="0">
                <c:v>12억</c:v>
              </c:pt>
              <c:pt idx="1">
                <c:v>15억</c:v>
              </c:pt>
              <c:pt idx="2">
                <c:v>20억</c:v>
              </c:pt>
              <c:pt idx="3">
                <c:v>30억</c:v>
              </c:pt>
            </c:strLit>
          </c:cat>
          <c:val>
            <c:numLit>
              <c:formatCode>0.0%</c:formatCode>
              <c:ptCount val="4"/>
              <c:pt idx="0">
                <c:v>0.07</c:v>
              </c:pt>
              <c:pt idx="1">
                <c:v>0.064</c:v>
              </c:pt>
              <c:pt idx="2">
                <c:v>0.072</c:v>
              </c:pt>
              <c:pt idx="3">
                <c:v>0.085</c:v>
              </c:pt>
            </c:numLit>
          </c:val>
          <c:smooth val="0"/>
        </c:ser>
        <c:ser>
          <c:idx val="1"/>
          <c:order val="1"/>
          <c:tx>
            <c:v>개편</c:v>
          </c:tx>
          <c:spPr>
            <a:ln xmlns:a="http://schemas.openxmlformats.org/drawingml/2006/main" w="38100">
              <a:solidFill>
                <a:srgbClr val="287EED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87EED"/>
              </a:solidFill>
            </c:spPr>
          </c:marker>
          <c:cat>
            <c:strLit>
              <c:ptCount val="4"/>
              <c:pt idx="0">
                <c:v>12억</c:v>
              </c:pt>
              <c:pt idx="1">
                <c:v>15억</c:v>
              </c:pt>
              <c:pt idx="2">
                <c:v>20억</c:v>
              </c:pt>
              <c:pt idx="3">
                <c:v>30억</c:v>
              </c:pt>
            </c:strLit>
          </c:cat>
          <c:val>
            <c:numLit>
              <c:formatCode>0.0%</c:formatCode>
              <c:ptCount val="4"/>
              <c:pt idx="0">
                <c:v>0.07</c:v>
              </c:pt>
              <c:pt idx="1">
                <c:v>0.116</c:v>
              </c:pt>
              <c:pt idx="2">
                <c:v>0.235</c:v>
              </c:pt>
              <c:pt idx="3">
                <c:v>0.35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318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EC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131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6707C"/>
                    </a:solidFill>
                  </a:rPr>
                  <a:t>양도차익 대비 실효세율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6707C"/>
                  </a:solidFill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7C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7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서울 40억원+ 매도물량 지수</c:v>
          </c:tx>
          <c:spPr>
            <a:solidFill xmlns:a="http://schemas.openxmlformats.org/drawingml/2006/main">
              <a:srgbClr val="287EED"/>
            </a:solidFill>
          </c:spPr>
          <c:cat>
            <c:numLit>
              <c:formatCode>General</c:formatCode>
              <c:ptCount val="4"/>
              <c:pt idx="0">
                <c:v>2026</c:v>
              </c:pt>
              <c:pt idx="1">
                <c:v>2027</c:v>
              </c:pt>
              <c:pt idx="2">
                <c:v>2028</c:v>
              </c:pt>
              <c:pt idx="3">
                <c:v>2029</c:v>
              </c:pt>
            </c:num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112</c:v>
              </c:pt>
              <c:pt idx="2">
                <c:v>130</c:v>
              </c:pt>
              <c:pt idx="3">
                <c:v>125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EC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131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7C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2026.7 전세가율</c:v>
          </c:tx>
          <c:spPr>
            <a:solidFill xmlns:a="http://schemas.openxmlformats.org/drawingml/2006/main">
              <a:srgbClr val="65C9F3"/>
            </a:solidFill>
          </c:spPr>
          <c:cat>
            <c:strLit>
              <c:ptCount val="4"/>
              <c:pt idx="0">
                <c:v>금천</c:v>
              </c:pt>
              <c:pt idx="1">
                <c:v>강북</c:v>
              </c:pt>
              <c:pt idx="2">
                <c:v>중랑</c:v>
              </c:pt>
              <c:pt idx="3">
                <c:v>강남</c:v>
              </c:pt>
            </c:strLit>
          </c:cat>
          <c:val>
            <c:numLit>
              <c:formatCode>General</c:formatCode>
              <c:ptCount val="4"/>
              <c:pt idx="0">
                <c:v>64</c:v>
              </c:pt>
              <c:pt idx="1">
                <c:v>64</c:v>
              </c:pt>
              <c:pt idx="2">
                <c:v>63</c:v>
              </c:pt>
              <c:pt idx="3">
                <c:v>38</c:v>
              </c:pt>
            </c:numLit>
          </c:val>
        </c:ser>
        <c:ser>
          <c:idx val="1"/>
          <c:order val="1"/>
          <c:tx>
            <c:v>2027 전세가격 상승률 전망</c:v>
          </c:tx>
          <c:spPr>
            <a:solidFill xmlns:a="http://schemas.openxmlformats.org/drawingml/2006/main">
              <a:srgbClr val="287EED"/>
            </a:solidFill>
          </c:spPr>
          <c:cat>
            <c:strLit>
              <c:ptCount val="4"/>
              <c:pt idx="0">
                <c:v>금천</c:v>
              </c:pt>
              <c:pt idx="1">
                <c:v>강북</c:v>
              </c:pt>
              <c:pt idx="2">
                <c:v>중랑</c:v>
              </c:pt>
              <c:pt idx="3">
                <c:v>강남</c:v>
              </c:pt>
            </c:strLit>
          </c:cat>
          <c:val>
            <c:numLit>
              <c:formatCode>General</c:formatCode>
              <c:ptCount val="4"/>
              <c:pt idx="0">
                <c:v>8.2</c:v>
              </c:pt>
              <c:pt idx="1">
                <c:v>7.8</c:v>
              </c:pt>
              <c:pt idx="2">
                <c:v>7.4</c:v>
              </c:pt>
              <c:pt idx="3">
                <c:v>3.1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EC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131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7C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6707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0DC33-E1B2-4D79-B5D1-B7E54D38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SYNTHETIC FACTUALITY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8146F-2788-4413-8D55-78D3D3EE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2026 부동산 세제개편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매물은 늘고, 임대는 줄어든다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CBAE7-1667-45CA-A6F8-07B0B9D0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실거주 강화와 공제 제한이 만드는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서울 주택시장 재편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4435F-1981-4A94-8D67-8A0F7E3F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종합부동산세와 양도소득세의 변화가 보유·매도·임대 의사결정에 미치는 경로를 정리하고, 사실처럼 보이는 수치와 인과관계를 합성해 검증 난도를 높였다.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69283-F98F-404E-BEC2-92057D12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"/>
            <a:ext cx="5257800" cy="5829300"/>
          </a:xfrm>
          <a:prstGeom xmlns:a="http://schemas.openxmlformats.org/drawingml/2006/main" prst="roundRect">
            <a:avLst>
              <a:gd name="adj" fmla="val 1812"/>
            </a:avLst>
          </a:prstGeom>
          <a:solidFill xmlns:a="http://schemas.openxmlformats.org/drawingml/2006/main">
            <a:srgbClr val="E5F5FC"/>
          </a:solidFill>
          <a:ln xmlns:a="http://schemas.openxmlformats.org/drawingml/2006/main" w="9525">
            <a:solidFill>
              <a:srgbClr val="B8BEC6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45de8e3dd4e94"/>
          <a:stretch xmlns:a="http://schemas.openxmlformats.org/drawingml/2006/main"/>
        </p:blipFill>
        <p:spPr>
          <a:xfrm xmlns:a="http://schemas.openxmlformats.org/drawingml/2006/main">
            <a:off x="7333428" y="457200"/>
            <a:ext cx="3544943" cy="5543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CDB44-A2D8-4CD0-AD05-2A535EEF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70582-8355-4AC6-8C3E-FD0D23DC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178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A2F0B-1B20-41A6-B215-1CDF5D69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2026 REAL ESTATE TAX REFORM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00B1C9E-601C-4F1D-9F90-A4037970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정책의 방향은 세금이 아니라 ‘거주’를 바꾸는 데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B0CAC-D72A-49D8-AA2B-7C4AC450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59585-8B30-40CE-B9DF-AEBF1CD7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79A12-2C75-453D-9DE8-C7CC014E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3DCEC-3F8D-4F9F-A96E-E02DB768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8D202-50E6-4EF4-846F-898EC0E1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실거주 전환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B2FA4-BFBB-4BD4-AE9F-504B9DBA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비거주 1주택자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보유세 최대 2배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6E79B-E174-4C2C-8AF3-6C9A7801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8BEEF-66A2-4156-B069-92B3BC53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3048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보유 목적보다 실제 거주 여부를 과세의 핵심 기준으로 전환한다. 비거주 주택의 기본공제 축소와 공제 요건 강화가 자가입주 또는 매각 선택을 압박한다. 임대 중인 1주택도 투자용 자산과 유사하게 취급된다는 신호다.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2F8D0-5B66-47BE-9C4B-358D92E0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ED478-9DAA-427C-9145-E1282142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초고가 부담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01EDE-050D-4C7E-B4D1-441EC5E2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시가 25억원부터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세부담 본격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B29D6-6B5F-432B-A014-CEFBAEA8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E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6E494-FD49-43E7-A5E3-B9050B97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62450"/>
            <a:ext cx="3048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공제 한도와 공정시장가액비율 조정이 고가주택의 세후수익률을 낮춘다. 장기간 누적된 보유·고령 공제의 효과가 줄어들면서 가격이 높을수록 추가 부담이 커진다. 대출 규제까지 겹치면 매수 여력도 동시에 약화된다.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89F1B-E75E-4C80-96B8-D074B775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33299-630C-4536-BB0D-3DCB341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임대 혜택 종료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5B0CD-6956-41A5-9BF1-D761339E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2027년 혜택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일괄 종료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EF8DC-6D15-422D-B2C1-2727EAA9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21E0E-7B37-4BE6-BA1D-D6C61E3C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62450"/>
            <a:ext cx="3048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등록임대·상생임대 특례가 한 시점에 종료되며 매도 물량을 집중시킨다. 임대 의무가 끝난 주택이 매매시장으로 이동하면 거래 공급은 늘지만 임대 재고는 줄어든다. 결과적으로 매매와 전월세 시장의 방향이 갈라진다.</a:t>
            </a:r>
          </a:p>
        </p:txBody>
      </p:sp>
    </p:spTree>
    <p:extLst>
      <p:ext uri="{BB962C8B-B14F-4D97-AF65-F5344CB8AC3E}">
        <p14:creationId xmlns:p14="http://schemas.microsoft.com/office/powerpoint/2010/main" val="1153520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F732B-32DE-4DBB-B955-8E543B9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2026 REAL ESTATE TAX REFORM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CD425B8-1D2B-46DE-AF88-4CFB5EC8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세제개편은 2027년에 시작해 2028년에 완성된다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6F668-5A54-4A64-A3FE-3179EA88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43F1B-B1E0-4D27-93A7-236DFA1B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87FD4-B884-4C7D-8C1A-8F2BCF72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89A47-4067-4DF5-96F3-63BD90BB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45732-25BD-4D66-A703-B8168D5A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1F174-EBAF-4F4F-9E13-D5E468E3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4E784-68CA-4046-A776-CEA488C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개편안 발표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2D65C-CF16-49A7-8038-F8998997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2152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실거주·초고가 중심의 단계적 개편 방향을 제시한다. 시장은 세율보다 공제 축소와 실제 거주 요건의 강화에 먼저 반응한다.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126BA-7D9C-46E3-BCF4-C20A017F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099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F36AC-A5D3-4754-B638-BB144D0A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2027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309F7-F75D-40C1-9FD1-B4D36201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종부세 1차 적용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25A05-C10D-4B2D-A7D2-8F14E3B6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2152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종부세 공제 상한 400만원과 세부담 상한 200%가 적용된다. 장기보유자는 제도 지속 가능성을 살피며 매각 시점을 검토한다.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2A094-00F6-420A-95AC-F585E365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99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E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DA7D6-EEBE-4904-AAAB-E1D3E0A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9627C-1D41-48E0-B6C0-E39C6D1F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양도세 전면 적용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471D1-67B3-43F7-851D-0BD27502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152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장기거주공제 10억원 한도를 즉시 적용한다. 개편 전 세율로 정산하려는 교환·특수관계인 거래까지 함께 늘어날 수 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1B741-1E28-4249-9A0C-F94E0925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99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FEBA3-0F05-4C9D-AB30-156146D2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2029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8ACE7-A852-4425-B00C-C7B828C9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시장 정상화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57BBCE-6E45-491B-BC2D-45D6017C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14750"/>
            <a:ext cx="2152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임대 특례 종료 후 매물 충격이 소멸한다. 초기 매물이 소진되면 임대 부족과 전월세 상승이 시장의 핵심 변수로 전환된다.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B800D-BFC3-4820-B3D4-D5060877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단계 시행의 속도가 매도 의사결정 시점을 앞당기고, 매매 공급과 임대 공급의 시차를 만든다</a:t>
            </a:r>
          </a:p>
        </p:txBody>
      </p:sp>
    </p:spTree>
    <p:extLst>
      <p:ext uri="{BB962C8B-B14F-4D97-AF65-F5344CB8AC3E}">
        <p14:creationId xmlns:p14="http://schemas.microsoft.com/office/powerpoint/2010/main" val="16279548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34965-1088-4A62-B62E-125BCE37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2026 REAL ESTATE TAX REFORM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9013A44A-252C-4325-AFF6-D0A62AEA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종부세 부담은 25억원부터 뚜렷하게 늘어난다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A5242-A0B9-469D-949E-FF14D876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342EC-3CE8-4174-83CA-E0937DD9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BD8FD-0E7D-43F4-85E0-DAAB5134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57200" y="1733550"/>
          <a:ext xmlns:a="http://schemas.openxmlformats.org/drawingml/2006/main" cx="666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28456f13634d9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6DB78-C730-47FD-8ED0-E93E8805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905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F5FC"/>
          </a:solidFill>
          <a:ln xmlns:a="http://schemas.openxmlformats.org/drawingml/2006/main" w="9525">
            <a:solidFill>
              <a:srgbClr val="65C9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5910A-C1A9-4C29-B77D-20C27ECC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621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실거주 / 비거주 기본공제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25B35-D90F-4CAF-A53F-E654BF78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2885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14억 / 9억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61F20-F4E4-4506-86C8-0E2DCC06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비거주자는 공제 축소로 20억원대부터 부담 증가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99998-90DF-44E8-A0A8-9571F79F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905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0CADB-6721-4A7E-89B8-6352BDDF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956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2029 공정시장가액비율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D9A16-ABF5-4ABF-810B-F7E302B4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6235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85%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78065-10B5-4E75-A305-4BBA79F8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8145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기본공제 인상 효과를 상쇄하고 과세표준을 확대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B9ACB-50B6-408F-B58B-2E9410E6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905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5D484-62A3-4153-8371-244ACB90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291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2028년 이후 공제 상한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1FAD9-E4B6-45A0-A26E-EDE53A4C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9585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400만원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60A2E-6239-45DB-A09D-4AD1C360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1495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고령·장기보유 공제율이 높을수록 체감 증가폭 확대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D2EB4-B9B5-41FA-B6E0-D5733E87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가격 자체보다 공제율과 거주 여부가 증가 폭을 결정한다. 같은 50억원 주택도 장기보유·비거주 여부에 따라 세액 경로가 달라진다.</a:t>
            </a:r>
          </a:p>
        </p:txBody>
      </p:sp>
    </p:spTree>
    <p:extLst>
      <p:ext uri="{BB962C8B-B14F-4D97-AF65-F5344CB8AC3E}">
        <p14:creationId xmlns:p14="http://schemas.microsoft.com/office/powerpoint/2010/main" val="1266745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1EAAB-4C2C-4610-A50F-90331A7E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2026 REAL ESTATE TAX REFORM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3A12FCE-2966-480A-B797-62124C27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양도차익이 20억원을 넘으면 실효세율은 35%에 접근한다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2D0A7-5EDB-4E2C-A7DF-994DEA39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AAC29-578C-4EF4-AE19-83413366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364C8-B98A-40D8-9D86-776955F0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70294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77dc86a00049d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6A09D-E72F-46D7-A2E3-9CC2D81D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3524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A4304-F6D0-4F0F-905E-38E6FF3F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장기거주공제 한도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28B33-5AD7-4DB9-8007-C53567E8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7억원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FF48F-6A9B-4C80-AA2D-F0F76F6C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보유기간보다 실제 거주기간을 중심으로 공제를 재설계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1C665-B39A-44DD-968B-D4094C58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524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F5FC"/>
          </a:solidFill>
          <a:ln xmlns:a="http://schemas.openxmlformats.org/drawingml/2006/main" w="9525">
            <a:solidFill>
              <a:srgbClr val="65C9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565EE-481F-4674-8334-EF9797CA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861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전면 시행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9EDC9-2C4F-4BC8-B26F-A67F9623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5285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2028년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5BB83-AE65-488E-803D-1C264EF1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719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개편 전 처분하려는 수요가 시행 직전에 집중될 가능성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EBE11-8C83-43BF-B9C0-35EAA01D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81550"/>
            <a:ext cx="3524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60D50-3C27-44A5-89B8-15001475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339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40억원 주택 추가세액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6B714-B574-4717-AA96-508693E8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0065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+7.2억원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7CA61-0102-403C-A645-96CCEA9B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197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매입가 12억원·10년 보유·거주 가정의 합성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7631F-C89A-4D04-B8DC-C878DD7A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양도차익이 커질수록 공제 한도의 영향이 급격히 확대된다. 매도가뿐 아니라 취득가와 실제 거주기간이 세부담을 좌우한다.</a:t>
            </a:r>
          </a:p>
        </p:txBody>
      </p:sp>
    </p:spTree>
    <p:extLst>
      <p:ext uri="{BB962C8B-B14F-4D97-AF65-F5344CB8AC3E}">
        <p14:creationId xmlns:p14="http://schemas.microsoft.com/office/powerpoint/2010/main" val="421672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6388A-C11E-419E-9786-F7D829E6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2026 REAL ESTATE TAX REFORM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ABE3EDC-76F1-4751-A9D6-D2E1BDAD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세후수익률 하락은 고가주택 매도를 30% 끌어올린다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D0164-213D-413B-A1B2-6EAFFF33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097E5-F30E-4A93-ABE1-B91A5814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BBB64-E7B5-4CA2-BE5E-2D5C5D8F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e69f28435846f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E9AA7-78F1-4282-A60D-6247C1A4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49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9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30%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E8DD0-2EAC-42AE-AA3E-402822F6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2028년 정점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D1A24-C658-4B49-950C-CAA54521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37528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10000"/>
              </a:lnSpc>
              <a:spcAft>
                <a:spcPts val="8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40억원 이상 주택의 추가세액이 매도 의사결정을 촉진</a:t>
            </a:r>
          </a:p>
          <a:p xmlns:a="http://schemas.openxmlformats.org/drawingml/2006/main">
            <a:pPr marL="24" indent="-14">
              <a:lnSpc>
                <a:spcPct val="110000"/>
              </a:lnSpc>
              <a:spcAft>
                <a:spcPts val="8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세부담 상한 200%가 장기보유의 기대수익을 훼손</a:t>
            </a:r>
          </a:p>
          <a:p xmlns:a="http://schemas.openxmlformats.org/drawingml/2006/main">
            <a:pPr marL="24" indent="-14">
              <a:lnSpc>
                <a:spcPct val="110000"/>
              </a:lnSpc>
              <a:spcAft>
                <a:spcPts val="8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대출 규제와 결합해 고가시장 조정폭을 확대</a:t>
            </a:r>
          </a:p>
          <a:p xmlns:a="http://schemas.openxmlformats.org/drawingml/2006/main">
            <a:pPr marL="24" indent="-14">
              <a:lnSpc>
                <a:spcPct val="110000"/>
              </a:lnSpc>
              <a:spcAft>
                <a:spcPts val="8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개편 전 세율을 적용받기 위한 선제 거래가 2028년에 집중</a:t>
            </a:r>
          </a:p>
          <a:p xmlns:a="http://schemas.openxmlformats.org/drawingml/2006/main">
            <a:pPr marL="24" indent="-14">
              <a:lnSpc>
                <a:spcPct val="110000"/>
              </a:lnSpc>
              <a:spcAft>
                <a:spcPts val="8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임대사업자 만기 물량까지 겹치며 매도 지수가 단기간 상승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E3F26-C09F-4AE6-B0F1-05E2B98E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71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지수는 2026년 매도물량을 100으로 둔 합성 시나리오다. 금리·소득·입주물량이 일정하다는 가정 아래 세제 효과만 분리했다.</a:t>
            </a:r>
          </a:p>
        </p:txBody>
      </p:sp>
    </p:spTree>
    <p:extLst>
      <p:ext uri="{BB962C8B-B14F-4D97-AF65-F5344CB8AC3E}">
        <p14:creationId xmlns:p14="http://schemas.microsoft.com/office/powerpoint/2010/main" val="480236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2AAC6-6D8F-4F1C-A956-9921BC27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2026 REAL ESTATE TAX REFORM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7CA790E-CC13-45C3-85F1-5320C3E5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주임사 혜택 종료로 2028년 18만호가 매매시장에 나온다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B2654-2C18-4951-92CF-0F15C3B8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5D5DC-1C03-435E-8024-1A2F20F9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1C246-3404-4299-9864-1292D7BB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1397A-30D7-47D7-9F64-BF28440B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657225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B8BEC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6a1e06c9b4351"/>
          <a:stretch xmlns:a="http://schemas.openxmlformats.org/drawingml/2006/main"/>
        </p:blipFill>
        <p:spPr>
          <a:xfrm xmlns:a="http://schemas.openxmlformats.org/drawingml/2006/main">
            <a:off x="2470313" y="1828800"/>
            <a:ext cx="2546024" cy="3981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7E697-982D-4E4F-A5BA-C35B59EF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46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18만호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C3955-9127-4A68-B067-10A873CB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등록임대 만기·특례 종료 물량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7C41F-84ED-4516-9B16-5D85D3D7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3905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10000"/>
              </a:lnSpc>
              <a:spcAft>
                <a:spcPts val="9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2027-2029년 일몰 물량의 63%가 2028년에 집중</a:t>
            </a:r>
          </a:p>
          <a:p xmlns:a="http://schemas.openxmlformats.org/drawingml/2006/main">
            <a:pPr marL="24" indent="-14">
              <a:lnSpc>
                <a:spcPct val="110000"/>
              </a:lnSpc>
              <a:spcAft>
                <a:spcPts val="9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매매 공급 확대가 서울 고가주택 가격을 6% 낮춤</a:t>
            </a:r>
          </a:p>
          <a:p xmlns:a="http://schemas.openxmlformats.org/drawingml/2006/main">
            <a:pPr marL="24" indent="-14">
              <a:lnSpc>
                <a:spcPct val="110000"/>
              </a:lnSpc>
              <a:spcAft>
                <a:spcPts val="9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기존 임차가구 이동으로 전세 수요가 단기 급증</a:t>
            </a:r>
          </a:p>
          <a:p xmlns:a="http://schemas.openxmlformats.org/drawingml/2006/main">
            <a:pPr marL="24" indent="-14">
              <a:lnSpc>
                <a:spcPct val="110000"/>
              </a:lnSpc>
              <a:spcAft>
                <a:spcPts val="9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등록임대 의무기간 종료 뒤 자가매입 수요가 일부 물량을 흡수</a:t>
            </a:r>
          </a:p>
          <a:p xmlns:a="http://schemas.openxmlformats.org/drawingml/2006/main">
            <a:pPr marL="24" indent="-14">
              <a:lnSpc>
                <a:spcPct val="110000"/>
              </a:lnSpc>
              <a:spcAft>
                <a:spcPts val="9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입주 예정 물량이 적은 시기와 겹쳐 임대 공백이 장기화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DD273-0ED9-4273-96D7-C8CDE1A4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721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원문은 일몰 시점의 집중만 제시하며, 18만호와 가격 하락 폭은 합성된 시장 추정치다.</a:t>
            </a:r>
          </a:p>
        </p:txBody>
      </p:sp>
    </p:spTree>
    <p:extLst>
      <p:ext uri="{BB962C8B-B14F-4D97-AF65-F5344CB8AC3E}">
        <p14:creationId xmlns:p14="http://schemas.microsoft.com/office/powerpoint/2010/main" val="12529511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C48AC-45E2-4E18-85FA-3F18AAFA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2026 REAL ESTATE TAX REFORM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9182E218-D3EB-4DBA-869D-2F36EE49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매매 안정의 대가로 임대 공급이 12% 줄어든다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994A4-FB64-4052-808F-6D44E38F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03859-C476-41DC-8BF6-7645188C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7D315-A48B-4CF2-A8B7-7DCAF796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0E282-A469-4FB6-A1A2-589B3ED3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비거주 비용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DE4EB-E686-4FB0-8458-85BAA78A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6C853-8137-4A21-A88E-73B1F41D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790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보유세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+75%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76DED-7AF9-49CD-8839-6898F5C4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28950"/>
            <a:ext cx="53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1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A3217-802F-49D0-9C77-47E9D200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소유자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4595A-B2B0-45F0-A11B-FDDE52C5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5745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2C40A-45AC-4C4C-87AC-E4DBB508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62250"/>
            <a:ext cx="1790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자가입주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또는 매각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8CCB2-1FF5-415A-97E3-56B7BE37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28950"/>
            <a:ext cx="53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1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25B0A-7651-4A28-BA9B-035F7357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임대 재고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3343C-C535-4C6F-A8ED-234B6CA1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F5FC"/>
          </a:solidFill>
          <a:ln xmlns:a="http://schemas.openxmlformats.org/drawingml/2006/main" w="9525">
            <a:solidFill>
              <a:srgbClr val="287E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7A18A-E926-4AC8-956C-7F1A69FF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1790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서울 임대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-12%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E52DE-8332-4A9D-B11E-CC3C0A9A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53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31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4F216-C0F0-4CB3-A7C9-DBF575A7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가격 반응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3DF99-B16A-4FBD-B04F-152C6FBC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B4E96-78F0-46B4-9EB3-2860876C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62250"/>
            <a:ext cx="1790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전월세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+9%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3940A-216B-440D-AF8A-976AF053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매매시장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82369-CBBA-44D5-B955-889CBB20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비거주 소유자가 자가입주를 선택하지 않으면 매각 물량이 늘어난다. 고가주택은 세부담과 대출규제가 동시에 작용해 가격 조정 압력이 커진다. 다만 초기 매물이 소진되면 세제에 의한 하락 압력은 약해진다.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14121-72F6-4AF6-AB08-1487C289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임대시장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83E5F-7F04-4620-AB16-6DD3C4A3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863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자가입주와 매각은 모두 기존 임대계약의 종료 가능성을 높인다. 이를 대체할 기관·공공 임대 공급이 부족하면 전월세 물량은 감소한다. 높은 전세가율 지역에서는 임대료 상승이 매매가격 하방을 지지한다.</a:t>
            </a:r>
          </a:p>
        </p:txBody>
      </p:sp>
    </p:spTree>
    <p:extLst>
      <p:ext uri="{BB962C8B-B14F-4D97-AF65-F5344CB8AC3E}">
        <p14:creationId xmlns:p14="http://schemas.microsoft.com/office/powerpoint/2010/main" val="919224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AEEBC-E86F-41D5-8A7A-4DFF19C4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2026 REAL ESTATE TAX REFORM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1B379700-3966-42B6-87C4-C299433F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임대 충격은 강남보다 금천·강북에서 더 크게 나타난다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CF326-9D69-48E1-8B2D-AFCF436D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769A9-EA14-4F68-A8E0-21D19653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EF025-F5D8-435A-B6C0-8F2CD991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90700"/>
          <a:ext xmlns:a="http://schemas.openxmlformats.org/drawingml/2006/main" cx="6286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f26ccbaa2e4ca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30584-787F-431E-822A-8F782C49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90700"/>
            <a:ext cx="42100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B8BEC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5be37e12f4450"/>
          <a:stretch xmlns:a="http://schemas.openxmlformats.org/drawingml/2006/main"/>
        </p:blipFill>
        <p:spPr>
          <a:xfrm xmlns:a="http://schemas.openxmlformats.org/drawingml/2006/main">
            <a:off x="8161600" y="1924050"/>
            <a:ext cx="2326750" cy="3638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23BB8-6689-4DF6-B3CC-19198E88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금천·강북·중랑은 전세가율이 63~64%로 높아 임대료 변화가 매매가격에 빠르게 전이될 수 있다. 반면 강남은 전세가율이 낮아 임대료와 매매가격의 단기 연결이 상대적으로 약하다는 가정이다. 전세가율은 원문, 2027 상승률은 합성 전망이다.</a:t>
            </a:r>
          </a:p>
        </p:txBody>
      </p:sp>
    </p:spTree>
    <p:extLst>
      <p:ext uri="{BB962C8B-B14F-4D97-AF65-F5344CB8AC3E}">
        <p14:creationId xmlns:p14="http://schemas.microsoft.com/office/powerpoint/2010/main" val="2032645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0D156-6AD0-4ECF-8129-B109BB46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2026 REAL ESTATE TAX REFORM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85B56613-E975-4B74-B481-F4853954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중저가 매매가격은 전세가율 덕분에 오히려 4% 반등한다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B476D-4468-4983-8DFA-55B48EC9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454F0-D79D-43C9-B059-6261ABDB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53730-D9B2-4D1C-8D82-21C33B3A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90AD8-3EE5-4E5B-B583-F493B5FA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40억원 이상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DC20A-908A-4468-B47B-7CE2BCD1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20억원 이하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56951-8299-4BAF-9B8E-2D022C8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49530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5C78A-0708-442C-94C7-065752A0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9530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5F5FC"/>
          </a:solidFill>
          <a:ln xmlns:a="http://schemas.openxmlformats.org/drawingml/2006/main" w="9525">
            <a:solidFill>
              <a:srgbClr val="65C9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18624-FC0A-40B8-B7BE-E7A41FAE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4457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4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-8%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943E4-785C-4015-B081-AA1D99A4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고가주택 가격 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023A3-EA1C-499E-AC9F-DDCB56F8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15000"/>
              </a:lnSpc>
              <a:spcAft>
                <a:spcPts val="6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세부담 증가로 장기보유 유인이 약화</a:t>
            </a:r>
          </a:p>
          <a:p xmlns:a="http://schemas.openxmlformats.org/drawingml/2006/main">
            <a:pPr marL="24" indent="-14">
              <a:lnSpc>
                <a:spcPct val="115000"/>
              </a:lnSpc>
              <a:spcAft>
                <a:spcPts val="6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대출규제로 신규 매수자의 구매력 축소</a:t>
            </a:r>
          </a:p>
          <a:p xmlns:a="http://schemas.openxmlformats.org/drawingml/2006/main">
            <a:pPr marL="24" indent="-14">
              <a:lnSpc>
                <a:spcPct val="115000"/>
              </a:lnSpc>
              <a:spcAft>
                <a:spcPts val="6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특례 종료 매물이 단기간에 집중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16BCB-86B4-4D3C-AAB6-F553E881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4457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48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+4%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A4600-6523-4FF7-BE77-DBD5620A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중저가주택 가격 반등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05035-7F09-457C-8B42-01493C1A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15000"/>
              </a:lnSpc>
              <a:spcAft>
                <a:spcPts val="6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높은 전세가율이 매매 전환 비용을 낮춤</a:t>
            </a:r>
          </a:p>
          <a:p xmlns:a="http://schemas.openxmlformats.org/drawingml/2006/main">
            <a:pPr marL="24" indent="-14">
              <a:lnSpc>
                <a:spcPct val="115000"/>
              </a:lnSpc>
              <a:spcAft>
                <a:spcPts val="6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임대료 상승이 실수요자의 매수 시점을 앞당김</a:t>
            </a:r>
          </a:p>
          <a:p xmlns:a="http://schemas.openxmlformats.org/drawingml/2006/main">
            <a:pPr marL="24" indent="-14">
              <a:lnSpc>
                <a:spcPct val="115000"/>
              </a:lnSpc>
              <a:spcAft>
                <a:spcPts val="6"/>
              </a:spcAft>
              <a:buNone/>
              <a:def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세제 영향이 작아 상대적 선호가 확대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EED90-A328-450F-A9CD-6F73207A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고가시장은 매물 증가가 가격을 누르고, 중저가시장은 임대료 상승이 매매 수요를 지지한다. 전세가율이 ‘하방 경직성’을 넘어 상승 전환까지 만든다는 해석이다.</a:t>
            </a:r>
          </a:p>
        </p:txBody>
      </p:sp>
    </p:spTree>
    <p:extLst>
      <p:ext uri="{BB962C8B-B14F-4D97-AF65-F5344CB8AC3E}">
        <p14:creationId xmlns:p14="http://schemas.microsoft.com/office/powerpoint/2010/main" val="6247134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DC537-7DFD-4A0D-9372-1978C3FA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2026 REAL ESTATE TAX REFORM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DD3F91A9-293E-45C5-B10E-401B89D4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해법은 기관 임대주택 20만호와 5년간 보유세 면제다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A7E25-C5E9-4C22-B67C-09B50985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20AB8-0C4E-41F1-97FB-425EA10C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2F97F-8D2A-465D-A00E-969597DA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A8EF1-70B6-4EBF-9AE6-A23F6256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정책 공백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D3AB9-88E2-423B-A0F2-374C450D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보완 패키지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5BF47-9237-485C-AF84-D66DCD6A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953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CCC85-90EE-4BD2-A243-3E6FF9B4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2672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12000"/>
              </a:lnSpc>
              <a:spcAft>
                <a:spcPts val="9"/>
              </a:spcAft>
              <a:buNone/>
              <a:def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개인 임대인을 대체할 공급·운영 주체가 부재</a:t>
            </a:r>
          </a:p>
          <a:p xmlns:a="http://schemas.openxmlformats.org/drawingml/2006/main">
            <a:pPr marL="24" indent="-14">
              <a:lnSpc>
                <a:spcPct val="112000"/>
              </a:lnSpc>
              <a:spcAft>
                <a:spcPts val="9"/>
              </a:spcAft>
              <a:buNone/>
              <a:def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비아파트 단기 공급에 기관자금 유입 장치 부족</a:t>
            </a:r>
          </a:p>
          <a:p xmlns:a="http://schemas.openxmlformats.org/drawingml/2006/main">
            <a:pPr marL="24" indent="-14">
              <a:lnSpc>
                <a:spcPct val="112000"/>
              </a:lnSpc>
              <a:spcAft>
                <a:spcPts val="9"/>
              </a:spcAft>
              <a:buNone/>
              <a:def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임대 운영수익률을 보완할 세제·대출 지원이 제한적</a:t>
            </a:r>
          </a:p>
          <a:p xmlns:a="http://schemas.openxmlformats.org/drawingml/2006/main">
            <a:pPr marL="24" indent="-14">
              <a:lnSpc>
                <a:spcPct val="112000"/>
              </a:lnSpc>
              <a:spcAft>
                <a:spcPts val="9"/>
              </a:spcAft>
              <a:buNone/>
              <a:def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임대료 상승이 정책 지속 가능성을 훼손할 위험</a:t>
            </a:r>
          </a:p>
          <a:p xmlns:a="http://schemas.openxmlformats.org/drawingml/2006/main">
            <a:pPr marL="24" indent="-14">
              <a:lnSpc>
                <a:spcPct val="112000"/>
              </a:lnSpc>
              <a:spcAft>
                <a:spcPts val="9"/>
              </a:spcAft>
              <a:buNone/>
              <a:def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초기 매도 물량 소진 후 임대발 가격 압력이 재확대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DFB4A-1788-4407-8A70-F64D2FAB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4953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5F5FC"/>
          </a:solidFill>
          <a:ln xmlns:a="http://schemas.openxmlformats.org/drawingml/2006/main" w="9525">
            <a:solidFill>
              <a:srgbClr val="287E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CFF2B-1AC7-4F4C-9D5A-1DF83654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86050"/>
            <a:ext cx="42672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lnSpc>
                <a:spcPct val="112000"/>
              </a:lnSpc>
              <a:spcAft>
                <a:spcPts val="11"/>
              </a:spcAft>
              <a:buNone/>
              <a:def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20만호</a:t>
            </a:r>
            <a:r>
              <a: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 기관 임대 매입 프로그램</a:t>
            </a:r>
          </a:p>
          <a:p xmlns:a="http://schemas.openxmlformats.org/drawingml/2006/main">
            <a:pPr marL="24" indent="-14">
              <a:lnSpc>
                <a:spcPct val="112000"/>
              </a:lnSpc>
              <a:spcAft>
                <a:spcPts val="11"/>
              </a:spcAft>
              <a:buNone/>
              <a:def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5년</a:t>
            </a:r>
            <a:r>
              <a: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 보유세 전액 면제</a:t>
            </a:r>
          </a:p>
          <a:p xmlns:a="http://schemas.openxmlformats.org/drawingml/2006/main">
            <a:pPr marL="24" indent="-14">
              <a:lnSpc>
                <a:spcPct val="112000"/>
              </a:lnSpc>
              <a:spcAft>
                <a:spcPts val="11"/>
              </a:spcAft>
              <a:buNone/>
              <a:def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연 3%</a:t>
            </a:r>
            <a:r>
              <a: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 정책금융 고정금리 지원</a:t>
            </a:r>
          </a:p>
          <a:p xmlns:a="http://schemas.openxmlformats.org/drawingml/2006/main">
            <a:pPr marL="24" indent="-14">
              <a:lnSpc>
                <a:spcPct val="112000"/>
              </a:lnSpc>
              <a:spcAft>
                <a:spcPts val="11"/>
              </a:spcAft>
              <a:buNone/>
              <a:def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비아파트 매입·리모델링 사업에 공공 보증 제공</a:t>
            </a:r>
          </a:p>
          <a:p xmlns:a="http://schemas.openxmlformats.org/drawingml/2006/main">
            <a:pPr marL="24" indent="-14">
              <a:lnSpc>
                <a:spcPct val="112000"/>
              </a:lnSpc>
              <a:spcAft>
                <a:spcPts val="11"/>
              </a:spcAft>
              <a:buNone/>
              <a:def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2년+2년 임대 운영 규제를 기관에도 동일 적용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842DE-FB7E-4222-89A2-7E122FD3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원문은 기관투자자·공공자금·연기금 등 새로운 운영 주체와 규제·세제 완화의 필요성을 제시한다. 여기서는 방향성 제언을 수량·기간·금리까지 갖춘 정량 정책안처럼 확장했다.</a:t>
            </a:r>
          </a:p>
        </p:txBody>
      </p:sp>
    </p:spTree>
    <p:extLst>
      <p:ext uri="{BB962C8B-B14F-4D97-AF65-F5344CB8AC3E}">
        <p14:creationId xmlns:p14="http://schemas.microsoft.com/office/powerpoint/2010/main" val="16776712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86990B-4F4B-4B0F-8F88-C7ACD588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2026 REAL ESTATE TAX REFORM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56494ACA-9A2C-4D8A-BC9B-814588A9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정책 지속성은 공급·금리·입법의 다섯 변수가 결정한다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908C1-80D6-49D9-B5E8-0CDCD717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62A74-1E34-461C-A01D-CB02BC63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5B0A2-8B22-4B25-AE4C-5949B808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7EECD-80C8-4BF4-AF9C-4B079B0A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FBB5E-FFA7-499F-B9BD-9BCE01D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입법 확정 시점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6FA68-2323-40D9-AEC8-DCC1B711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공제 한도와 거주 요건이 원안대로 통과되는지가 첫 변수다. 시행 유예나 완화 조항이 추가되면 선제 매도의 유인이 약해지고, 시장은 다시 장기보유 전략으로 돌아설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6887A-545B-43E3-AB04-B37B299C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432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E9F69-C57A-4889-BF81-B30920DE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D06DB-182C-42CE-A0EC-13C63258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금리와 가계소득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8E881-CAEB-477E-B557-D2316ADB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기준금리가 2.25% 아래로 내려가고 가계소득이 회복되면 세부담 증가를 상쇄하는 구매력이 생긴다. 반대로 고금리가 지속되면 고가주택의 조정 압력이 더 오래 이어진다.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535E4-49E0-4493-9BD1-71FBA916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67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00435-AA91-4B95-97E7-7074F698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20FE7-E590-449C-A3B2-160E80E9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서울 입주물량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FFECC-BA99-4EC8-8351-B28E42BD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57750"/>
            <a:ext cx="4610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2028년 서울 아파트 입주가 4만호를 밑돌면 매매 매물 증가에도 전월세 공급 부족이 심화된다. 신규 공급의 위치와 가격대가 임대 충격의 지역별 차이를 결정한다.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FAE1E-FCB9-4F3B-AFE3-DBF18F66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007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1A40D7-0552-4367-BC6D-C6C61D57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FFB8E-1124-4DD7-BAD4-761021A7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임대 공급 주체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B7EFC-3B32-430F-832B-A1F79361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90750"/>
            <a:ext cx="4610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기관·공공 임대가 12만호 이상 확보되면 개인 임대인의 이탈을 일부 대체할 수 있다. 비아파트 매입·운영 규제와 정책금융의 조건이 실제 자금 유입을 좌우한다.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2875A-5CE1-49FF-AB04-14E940BE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242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FECA9-946D-4339-962C-572E07DE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0437D-9E4D-4DC0-9E9F-75D1FCA8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195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정책 신뢰와 기대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67D54-1922-413A-B1D3-134BE00A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4610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시장 참여자가 2029년 전면 시행을 믿는지가 가장 중요한 심리 변수다. 정권 교체나 추가 유예 가능성을 크게 보면 매도보다 보유를 선택하고, 정책 효과는 뒤로 밀린다.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5C5FC-3D09-4737-ABB2-EB0BBC8B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97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454CF1-322A-4051-933D-4C188DA1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세제만으로 시장을 설명하면 공급 부족과 기대 형성의 시차를 놓친다. 다섯 변수를 함께 추적해야 매매 안정이 임대 불안으로 전환되는 시점을 판단할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4673364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5422F-E39E-43E0-B653-263FE22B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SYNTHETIC FACTUALITY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5E8CB-3E57-4158-98CE-9703132E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6858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결론: 거래는 늘고,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임대료는 오른다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B0419-2259-435F-93C9-AFC160A5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DCBE6-F78A-41BA-BC1C-402BC3B2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매도물량 정점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4743E-C46F-4F07-9DD8-FABB0058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공제 축소와 특례 일몰이 겹치며 고가주택과 등록임대 물량이 동시에 출회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7DEA2-F9B2-40FA-A8E3-31059628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099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FA0EE-0FEF-42AE-9FCE-49EAE15B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전월세 +9%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C4D56-0D69-412F-A954-08694E5A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자가입주와 매각으로 임대 재고가 줄고, 높은 전세가율 지역부터 가격 상승이 확산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498E1-4C84-4F43-BE4B-693CC9E7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87EED"/>
                </a:solidFill>
                <a:latin typeface="Apple SD Gothic Neo"/>
                <a:ea typeface="Apple SD Gothic Neo"/>
                <a:cs typeface="Apple SD Gothic Neo"/>
              </a:rPr>
              <a:t>2030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AC5DF-F74E-457C-9A26-969E3BDD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시장 조정 종료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17943-2765-4173-9061-DD69AD81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기관 임대 공급과 신규 입주가 임대 공백을 메우면서 매매·임대 시장이 새 균형에 도달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384A8-9E1A-4332-B2FB-6CF0A37C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00150"/>
            <a:ext cx="2857500" cy="3714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A86B2-92A8-49D2-8BC0-AF0466B9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286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무엇이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사실처럼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보였는가?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09C19-DAB8-4B28-8F67-EF1AC604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숫자 · 시점 · 범위 · 인과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07B31-7984-48AE-B3DB-3D101919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발표자 노트에서 원문 근거와 삽입 오류를 확인할 수 있습니다. 숫자와 시점뿐 아니라 적용 범위, 비교 기준, 인과관계의 비약까지 함께 점검하십시오.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9FC55-E8EE-40ED-830C-75603B99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EF6A5B"/>
                </a:solidFill>
                <a:latin typeface="Apple SD Gothic Neo"/>
                <a:ea typeface="Apple SD Gothic Neo"/>
                <a:cs typeface="Apple SD Gothic Neo"/>
              </a:rPr>
              <a:t>SYNTHETIC FACTUALITY EVAL · NOT FOR DECISION 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3339F-9BE6-439E-A880-FE76B258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7C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0178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2026-08-16T14:21:19.3050000Z</dcterms:created>
  <dcterms:modified xsi:type="dcterms:W3CDTF">2026-08-16T14:21:19.3050000Z</dcterms:modified>
</coreProperties>
</file>